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346" r:id="rId2"/>
    <p:sldId id="353" r:id="rId3"/>
    <p:sldId id="354" r:id="rId4"/>
    <p:sldId id="356" r:id="rId5"/>
    <p:sldId id="347" r:id="rId6"/>
    <p:sldId id="357" r:id="rId7"/>
    <p:sldId id="348" r:id="rId8"/>
    <p:sldId id="358" r:id="rId9"/>
    <p:sldId id="359" r:id="rId10"/>
    <p:sldId id="349" r:id="rId11"/>
    <p:sldId id="350" r:id="rId12"/>
    <p:sldId id="355" r:id="rId13"/>
    <p:sldId id="263" r:id="rId14"/>
    <p:sldId id="360" r:id="rId15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74F80-D398-4D51-AF58-9EFCE8C9A125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B6B05-1A55-4E8E-B2B3-B41DC85D2A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711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G BIOMEDICA PPPT-0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" y="0"/>
            <a:ext cx="9135879" cy="51435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288158"/>
            <a:ext cx="7772400" cy="635629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046741"/>
            <a:ext cx="6400800" cy="781193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dirty="0"/>
              <a:t>Haga clic para modificar el estilo de subtítulo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873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120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163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19868"/>
            <a:ext cx="4038600" cy="32932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19868"/>
            <a:ext cx="4038600" cy="32932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175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237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7262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889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7646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40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312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35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G BIOMEDICA PPPT-05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" y="0"/>
            <a:ext cx="9135879" cy="5143500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DA88C307-FA79-424F-9DCB-12E8299DCD2C}" type="datetimeFigureOut">
              <a:rPr lang="es-ES" smtClean="0"/>
              <a:pPr/>
              <a:t>18/03/2026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BBF7D37-5A5D-AC4E-8B76-1127B031D66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2570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hl7.org/fhir/?utm_referrer=https%3A%2F%2Fwww.hl7.org%2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4D9CC-0D02-4D30-8D6B-3C377ED4F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845706"/>
            <a:ext cx="7772400" cy="635629"/>
          </a:xfrm>
        </p:spPr>
        <p:txBody>
          <a:bodyPr/>
          <a:lstStyle/>
          <a:p>
            <a:r>
              <a:rPr lang="es-CO" dirty="0"/>
              <a:t>IFMER: Proyecto </a:t>
            </a:r>
            <a:r>
              <a:rPr lang="es-CO" b="1" dirty="0"/>
              <a:t>FMECA</a:t>
            </a: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413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6C83B-8EB0-4A3D-B9E7-69F96C4BD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 err="1"/>
              <a:t>Failure</a:t>
            </a:r>
            <a:r>
              <a:rPr lang="es-CO" dirty="0"/>
              <a:t> </a:t>
            </a:r>
            <a:r>
              <a:rPr lang="es-CO" dirty="0" err="1"/>
              <a:t>Modes</a:t>
            </a:r>
            <a:r>
              <a:rPr lang="es-CO" dirty="0"/>
              <a:t> and </a:t>
            </a:r>
            <a:r>
              <a:rPr lang="es-CO" dirty="0" err="1"/>
              <a:t>Effects</a:t>
            </a:r>
            <a:r>
              <a:rPr lang="es-CO" dirty="0"/>
              <a:t> </a:t>
            </a:r>
            <a:r>
              <a:rPr lang="es-CO" dirty="0" err="1"/>
              <a:t>Critical</a:t>
            </a:r>
            <a:r>
              <a:rPr lang="es-CO" dirty="0"/>
              <a:t> </a:t>
            </a:r>
            <a:r>
              <a:rPr lang="es-CO" dirty="0" err="1"/>
              <a:t>Analysis</a:t>
            </a:r>
            <a:r>
              <a:rPr lang="es-CO" dirty="0"/>
              <a:t> (</a:t>
            </a:r>
            <a:r>
              <a:rPr lang="es-CO" b="1" dirty="0"/>
              <a:t>FMECA</a:t>
            </a:r>
            <a:r>
              <a:rPr lang="es-CO" dirty="0"/>
              <a:t>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FACFA4-DE4D-44E5-9825-BC9DBC8ED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489" y="4001701"/>
            <a:ext cx="336393" cy="47820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ED830DD-0EAA-4912-8815-A616D9D624EC}"/>
              </a:ext>
            </a:extLst>
          </p:cNvPr>
          <p:cNvSpPr/>
          <p:nvPr/>
        </p:nvSpPr>
        <p:spPr>
          <a:xfrm>
            <a:off x="766916" y="1444798"/>
            <a:ext cx="52135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Es un estándar adaptado como técnica de confiabilidad para el análisis de riesgos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E426D63-4AEF-49F1-B6F3-0D3FC0BF856E}"/>
              </a:ext>
            </a:extLst>
          </p:cNvPr>
          <p:cNvSpPr/>
          <p:nvPr/>
        </p:nvSpPr>
        <p:spPr>
          <a:xfrm>
            <a:off x="766916" y="2062014"/>
            <a:ext cx="50439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CO" dirty="0"/>
          </a:p>
          <a:p>
            <a:r>
              <a:rPr lang="es-CO" dirty="0"/>
              <a:t>En el análisis de riesgos hay consideraciones muy importantes; los peligros y daños no permiten fallas.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255D7FA-355C-49FF-8FA6-B332D9883BB3}"/>
              </a:ext>
            </a:extLst>
          </p:cNvPr>
          <p:cNvSpPr/>
          <p:nvPr/>
        </p:nvSpPr>
        <p:spPr>
          <a:xfrm>
            <a:off x="1496961" y="4129548"/>
            <a:ext cx="6731488" cy="35035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000" dirty="0"/>
              <a:t>FMECA es una herramienta de administración de riegos. Una matriz FMECA no remplaza completamente un sistema de administración de riesgos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EAF60F2-E950-4B64-98E9-2DA9FEBEB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709" y="1068134"/>
            <a:ext cx="2971574" cy="296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29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1E8B36B-013E-484B-8CC6-C673109C2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317361">
            <a:off x="5467827" y="1087644"/>
            <a:ext cx="2909706" cy="224608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61FCBD5-4E0A-4BFF-87B6-5C379A06C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Metodología Estándar MFECA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4CFDA1-F3A8-4074-AE5A-3BA8207F3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166207"/>
            <a:ext cx="8229600" cy="3394472"/>
          </a:xfrm>
        </p:spPr>
        <p:txBody>
          <a:bodyPr>
            <a:normAutofit fontScale="85000" lnSpcReduction="20000"/>
          </a:bodyPr>
          <a:lstStyle/>
          <a:p>
            <a:r>
              <a:rPr lang="es-CO" dirty="0"/>
              <a:t>Función </a:t>
            </a:r>
          </a:p>
          <a:p>
            <a:r>
              <a:rPr lang="es-CO" dirty="0"/>
              <a:t>Peligro </a:t>
            </a:r>
          </a:p>
          <a:p>
            <a:r>
              <a:rPr lang="es-CO" dirty="0"/>
              <a:t>Daño</a:t>
            </a:r>
          </a:p>
          <a:p>
            <a:r>
              <a:rPr lang="es-CO" dirty="0"/>
              <a:t>Modo (normal, falla simple, múltiples fallas)</a:t>
            </a:r>
          </a:p>
          <a:p>
            <a:r>
              <a:rPr lang="es-CO" dirty="0"/>
              <a:t>Severidad </a:t>
            </a:r>
          </a:p>
          <a:p>
            <a:r>
              <a:rPr lang="es-CO" dirty="0"/>
              <a:t>Ocurrencia </a:t>
            </a:r>
          </a:p>
          <a:p>
            <a:r>
              <a:rPr lang="es-CO" dirty="0"/>
              <a:t>Detección </a:t>
            </a:r>
          </a:p>
          <a:p>
            <a:r>
              <a:rPr lang="es-CO" dirty="0"/>
              <a:t>Número prioridad riesgo (plan de administración del riesgo)</a:t>
            </a:r>
          </a:p>
          <a:p>
            <a:r>
              <a:rPr lang="es-CO" dirty="0"/>
              <a:t>Mitigación </a:t>
            </a:r>
          </a:p>
          <a:p>
            <a:r>
              <a:rPr lang="es-CO" dirty="0"/>
              <a:t>Responsable</a:t>
            </a:r>
          </a:p>
          <a:p>
            <a:r>
              <a:rPr lang="es-CO" dirty="0"/>
              <a:t>Verificación</a:t>
            </a:r>
          </a:p>
        </p:txBody>
      </p:sp>
    </p:spTree>
    <p:extLst>
      <p:ext uri="{BB962C8B-B14F-4D97-AF65-F5344CB8AC3E}">
        <p14:creationId xmlns:p14="http://schemas.microsoft.com/office/powerpoint/2010/main" val="2347530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F4B20-1DDC-4F8F-9FE3-EF2066DFB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Contenido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09C219-D1E5-4E2A-AF83-A1CC23AB4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altLang="es-CO" dirty="0">
              <a:latin typeface="Arial" panose="020B0604020202020204" pitchFamily="34" charset="0"/>
            </a:endParaRPr>
          </a:p>
          <a:p>
            <a:r>
              <a:rPr lang="es-ES" altLang="es-CO" dirty="0">
                <a:latin typeface="Arial" panose="020B0604020202020204" pitchFamily="34" charset="0"/>
              </a:rPr>
              <a:t>Metodología de análisis de riesgos por medio de la matriz </a:t>
            </a:r>
            <a:r>
              <a:rPr lang="es-ES" altLang="es-CO" u="sng" dirty="0">
                <a:latin typeface="Arial" panose="020B0604020202020204" pitchFamily="34" charset="0"/>
              </a:rPr>
              <a:t>FMECA</a:t>
            </a:r>
          </a:p>
          <a:p>
            <a:endParaRPr lang="es-ES" altLang="es-CO" u="sng" dirty="0">
              <a:latin typeface="Arial" panose="020B0604020202020204" pitchFamily="34" charset="0"/>
            </a:endParaRPr>
          </a:p>
          <a:p>
            <a:endParaRPr lang="es-ES" u="sng" dirty="0">
              <a:latin typeface="Arial" panose="020B0604020202020204" pitchFamily="34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06894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E6F42-C9F3-4793-89DC-345053F24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Pasos Claves 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0CB29AE-8965-4E74-A224-D61EF8BD858B}"/>
              </a:ext>
            </a:extLst>
          </p:cNvPr>
          <p:cNvSpPr/>
          <p:nvPr/>
        </p:nvSpPr>
        <p:spPr>
          <a:xfrm>
            <a:off x="457200" y="1399053"/>
            <a:ext cx="1048758" cy="54647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chemeClr val="tx1"/>
                </a:solidFill>
              </a:rPr>
              <a:t>Seleccionar un caso de trabajo 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47B0659-2CAC-4899-BF5A-05ADEBE62871}"/>
              </a:ext>
            </a:extLst>
          </p:cNvPr>
          <p:cNvSpPr/>
          <p:nvPr/>
        </p:nvSpPr>
        <p:spPr>
          <a:xfrm>
            <a:off x="1264241" y="2403321"/>
            <a:ext cx="1350900" cy="56825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chemeClr val="tx1"/>
                </a:solidFill>
              </a:rPr>
              <a:t>Crear un mapa de procesos o pasos 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BE338A2-86FF-4C9F-8619-9D0DAB569861}"/>
              </a:ext>
            </a:extLst>
          </p:cNvPr>
          <p:cNvSpPr/>
          <p:nvPr/>
        </p:nvSpPr>
        <p:spPr>
          <a:xfrm>
            <a:off x="2480689" y="3421039"/>
            <a:ext cx="1350900" cy="56825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chemeClr val="tx1"/>
                </a:solidFill>
              </a:rPr>
              <a:t>Completar el formato FMECA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EF7B129-78C2-4C0D-BB93-522631EDF2CD}"/>
              </a:ext>
            </a:extLst>
          </p:cNvPr>
          <p:cNvSpPr/>
          <p:nvPr/>
        </p:nvSpPr>
        <p:spPr>
          <a:xfrm>
            <a:off x="3972898" y="4065614"/>
            <a:ext cx="1424563" cy="56825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chemeClr val="tx1"/>
                </a:solidFill>
              </a:rPr>
              <a:t>Analizar los efectos, causas y estimar la O, S, D.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0561BBE-27BB-4B4D-BD9E-A5FE9CC9D58E}"/>
              </a:ext>
            </a:extLst>
          </p:cNvPr>
          <p:cNvSpPr/>
          <p:nvPr/>
        </p:nvSpPr>
        <p:spPr>
          <a:xfrm>
            <a:off x="5557897" y="3421039"/>
            <a:ext cx="1350900" cy="56825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chemeClr val="tx1"/>
                </a:solidFill>
              </a:rPr>
              <a:t>Control del proceso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385258E-D79C-4DEC-9039-0D880267CB60}"/>
              </a:ext>
            </a:extLst>
          </p:cNvPr>
          <p:cNvSpPr/>
          <p:nvPr/>
        </p:nvSpPr>
        <p:spPr>
          <a:xfrm>
            <a:off x="6995139" y="2471147"/>
            <a:ext cx="1491982" cy="56825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chemeClr val="tx1"/>
                </a:solidFill>
              </a:rPr>
              <a:t>Recomendaciones de mejora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9E1270C-8DD1-409B-B514-1C0BA18F7928}"/>
              </a:ext>
            </a:extLst>
          </p:cNvPr>
          <p:cNvSpPr/>
          <p:nvPr/>
        </p:nvSpPr>
        <p:spPr>
          <a:xfrm>
            <a:off x="7741130" y="1377273"/>
            <a:ext cx="1350900" cy="56825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chemeClr val="tx1"/>
                </a:solidFill>
              </a:rPr>
              <a:t>entrega de evidencia</a:t>
            </a:r>
          </a:p>
        </p:txBody>
      </p:sp>
      <p:sp>
        <p:nvSpPr>
          <p:cNvPr id="26" name="Flecha: curvada hacia la derecha 25">
            <a:extLst>
              <a:ext uri="{FF2B5EF4-FFF2-40B4-BE49-F238E27FC236}">
                <a16:creationId xmlns:a16="http://schemas.microsoft.com/office/drawing/2014/main" id="{F72CE70E-04B8-4821-AE3F-998C50C86E31}"/>
              </a:ext>
            </a:extLst>
          </p:cNvPr>
          <p:cNvSpPr/>
          <p:nvPr/>
        </p:nvSpPr>
        <p:spPr>
          <a:xfrm rot="20039637">
            <a:off x="871424" y="2015787"/>
            <a:ext cx="220311" cy="42876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200">
              <a:solidFill>
                <a:schemeClr val="tx1"/>
              </a:solidFill>
            </a:endParaRPr>
          </a:p>
        </p:txBody>
      </p:sp>
      <p:sp>
        <p:nvSpPr>
          <p:cNvPr id="27" name="Flecha: curvada hacia la derecha 26">
            <a:extLst>
              <a:ext uri="{FF2B5EF4-FFF2-40B4-BE49-F238E27FC236}">
                <a16:creationId xmlns:a16="http://schemas.microsoft.com/office/drawing/2014/main" id="{39EF07EC-0C92-4E88-83B2-1B3384967117}"/>
              </a:ext>
            </a:extLst>
          </p:cNvPr>
          <p:cNvSpPr/>
          <p:nvPr/>
        </p:nvSpPr>
        <p:spPr>
          <a:xfrm rot="20039637">
            <a:off x="2025073" y="3084640"/>
            <a:ext cx="220311" cy="42876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200">
              <a:solidFill>
                <a:schemeClr val="tx1"/>
              </a:solidFill>
            </a:endParaRPr>
          </a:p>
        </p:txBody>
      </p:sp>
      <p:sp>
        <p:nvSpPr>
          <p:cNvPr id="28" name="Flecha: curvada hacia la derecha 27">
            <a:extLst>
              <a:ext uri="{FF2B5EF4-FFF2-40B4-BE49-F238E27FC236}">
                <a16:creationId xmlns:a16="http://schemas.microsoft.com/office/drawing/2014/main" id="{00FF3D46-5C5A-42B5-B02A-8B47ED82400A}"/>
              </a:ext>
            </a:extLst>
          </p:cNvPr>
          <p:cNvSpPr/>
          <p:nvPr/>
        </p:nvSpPr>
        <p:spPr>
          <a:xfrm rot="19250666">
            <a:off x="3266770" y="4056834"/>
            <a:ext cx="220311" cy="42876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200">
              <a:solidFill>
                <a:schemeClr val="tx1"/>
              </a:solidFill>
            </a:endParaRPr>
          </a:p>
        </p:txBody>
      </p:sp>
      <p:sp>
        <p:nvSpPr>
          <p:cNvPr id="29" name="Flecha: curvada hacia la derecha 28">
            <a:extLst>
              <a:ext uri="{FF2B5EF4-FFF2-40B4-BE49-F238E27FC236}">
                <a16:creationId xmlns:a16="http://schemas.microsoft.com/office/drawing/2014/main" id="{CF4C610F-0B1D-4CBD-A9BC-FF9416299662}"/>
              </a:ext>
            </a:extLst>
          </p:cNvPr>
          <p:cNvSpPr/>
          <p:nvPr/>
        </p:nvSpPr>
        <p:spPr>
          <a:xfrm rot="13692714">
            <a:off x="8139980" y="1964527"/>
            <a:ext cx="174693" cy="54073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200">
              <a:solidFill>
                <a:schemeClr val="tx1"/>
              </a:solidFill>
            </a:endParaRPr>
          </a:p>
        </p:txBody>
      </p:sp>
      <p:sp>
        <p:nvSpPr>
          <p:cNvPr id="30" name="Flecha: curvada hacia la derecha 29">
            <a:extLst>
              <a:ext uri="{FF2B5EF4-FFF2-40B4-BE49-F238E27FC236}">
                <a16:creationId xmlns:a16="http://schemas.microsoft.com/office/drawing/2014/main" id="{799430FB-62BF-4331-8BB4-50A24C331635}"/>
              </a:ext>
            </a:extLst>
          </p:cNvPr>
          <p:cNvSpPr/>
          <p:nvPr/>
        </p:nvSpPr>
        <p:spPr>
          <a:xfrm rot="14211949">
            <a:off x="7248421" y="3150672"/>
            <a:ext cx="174693" cy="54073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200">
              <a:solidFill>
                <a:schemeClr val="tx1"/>
              </a:solidFill>
            </a:endParaRPr>
          </a:p>
        </p:txBody>
      </p:sp>
      <p:sp>
        <p:nvSpPr>
          <p:cNvPr id="31" name="Flecha: curvada hacia la derecha 30">
            <a:extLst>
              <a:ext uri="{FF2B5EF4-FFF2-40B4-BE49-F238E27FC236}">
                <a16:creationId xmlns:a16="http://schemas.microsoft.com/office/drawing/2014/main" id="{F8442FC7-9D76-4614-95EF-CC3938038572}"/>
              </a:ext>
            </a:extLst>
          </p:cNvPr>
          <p:cNvSpPr/>
          <p:nvPr/>
        </p:nvSpPr>
        <p:spPr>
          <a:xfrm rot="14654961">
            <a:off x="5669942" y="4123832"/>
            <a:ext cx="174693" cy="54073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326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E198E-9142-4DCA-BBC3-2EAFF63F1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ISO 14971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F89AFF-D61F-4A88-B224-E63D81A3AE15}"/>
              </a:ext>
            </a:extLst>
          </p:cNvPr>
          <p:cNvSpPr txBox="1"/>
          <p:nvPr/>
        </p:nvSpPr>
        <p:spPr>
          <a:xfrm>
            <a:off x="3486034" y="4544153"/>
            <a:ext cx="22653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800" dirty="0"/>
              <a:t>https://www.qmswrapper.com/risk-management</a:t>
            </a:r>
          </a:p>
        </p:txBody>
      </p:sp>
      <p:pic>
        <p:nvPicPr>
          <p:cNvPr id="8" name="Imagen 7" descr="Escala de tiempo&#10;&#10;Descripción generada automáticamente">
            <a:extLst>
              <a:ext uri="{FF2B5EF4-FFF2-40B4-BE49-F238E27FC236}">
                <a16:creationId xmlns:a16="http://schemas.microsoft.com/office/drawing/2014/main" id="{47330BF2-804F-F7A2-FA28-E7E32FBE1B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319"/>
          <a:stretch/>
        </p:blipFill>
        <p:spPr>
          <a:xfrm>
            <a:off x="608697" y="1223593"/>
            <a:ext cx="7926606" cy="296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7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C1F3A-2937-4A83-B305-61488FDE4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CO" dirty="0"/>
            </a:br>
            <a:r>
              <a:rPr lang="es-CO" dirty="0"/>
              <a:t>Representación del Riesgo </a:t>
            </a:r>
            <a:br>
              <a:rPr lang="es-CO" dirty="0"/>
            </a:br>
            <a:endParaRPr lang="es-C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0456CA7-D876-7D07-021D-5B7ACB752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8846127" cy="3394472"/>
          </a:xfrm>
        </p:spPr>
        <p:txBody>
          <a:bodyPr/>
          <a:lstStyle/>
          <a:p>
            <a:r>
              <a:rPr lang="es-CO" dirty="0"/>
              <a:t>Nivel de Severidad de Riesgo       * Nivel de ocurrencia del riego</a:t>
            </a:r>
            <a:endParaRPr lang="es-419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88D4435-3D3F-037A-8D8D-2C58E7D6A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665097"/>
              </p:ext>
            </p:extLst>
          </p:nvPr>
        </p:nvGraphicFramePr>
        <p:xfrm>
          <a:off x="175721" y="1826144"/>
          <a:ext cx="4372956" cy="2061787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995001">
                  <a:extLst>
                    <a:ext uri="{9D8B030D-6E8A-4147-A177-3AD203B41FA5}">
                      <a16:colId xmlns:a16="http://schemas.microsoft.com/office/drawing/2014/main" val="1256665014"/>
                    </a:ext>
                  </a:extLst>
                </a:gridCol>
                <a:gridCol w="3377955">
                  <a:extLst>
                    <a:ext uri="{9D8B030D-6E8A-4147-A177-3AD203B41FA5}">
                      <a16:colId xmlns:a16="http://schemas.microsoft.com/office/drawing/2014/main" val="2582372111"/>
                    </a:ext>
                  </a:extLst>
                </a:gridCol>
              </a:tblGrid>
              <a:tr h="18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50" dirty="0">
                          <a:effectLst/>
                        </a:rPr>
                        <a:t>SEVERIDAD</a:t>
                      </a:r>
                      <a:endParaRPr lang="es-419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50" dirty="0">
                          <a:effectLst/>
                        </a:rPr>
                        <a:t>DESCRIPCIÓN</a:t>
                      </a:r>
                      <a:endParaRPr lang="es-419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1400147"/>
                  </a:ext>
                </a:extLst>
              </a:tr>
              <a:tr h="364268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050">
                          <a:effectLst/>
                        </a:rPr>
                        <a:t>1-BAJA</a:t>
                      </a:r>
                      <a:endParaRPr lang="es-419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050">
                          <a:effectLst/>
                        </a:rPr>
                        <a:t>Se produce una lesión o enfermedad leve que NO genera más días de hospitalización.</a:t>
                      </a:r>
                      <a:endParaRPr lang="es-419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4089870"/>
                  </a:ext>
                </a:extLst>
              </a:tr>
              <a:tr h="399051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050">
                          <a:effectLst/>
                        </a:rPr>
                        <a:t>2-MODERADO</a:t>
                      </a:r>
                      <a:endParaRPr lang="es-419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050">
                          <a:effectLst/>
                        </a:rPr>
                        <a:t>Resulta en una lesión o deterioro temporal que no requiere intervención médica profesional.</a:t>
                      </a:r>
                      <a:endParaRPr lang="es-419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2709380"/>
                  </a:ext>
                </a:extLst>
              </a:tr>
              <a:tr h="546403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050">
                          <a:effectLst/>
                        </a:rPr>
                        <a:t>3-MEDIO</a:t>
                      </a:r>
                      <a:endParaRPr lang="es-419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050">
                          <a:effectLst/>
                        </a:rPr>
                        <a:t>Se genera una lesión o enfermedad, que genera prolongación de los días de hospitalización del paciente o requiere intervenciones adicionales.</a:t>
                      </a:r>
                      <a:endParaRPr lang="es-419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9050659"/>
                  </a:ext>
                </a:extLst>
              </a:tr>
              <a:tr h="182135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050">
                          <a:effectLst/>
                        </a:rPr>
                        <a:t>4-ALTO</a:t>
                      </a:r>
                      <a:endParaRPr lang="es-419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s-ES" sz="1050">
                          <a:effectLst/>
                        </a:rPr>
                        <a:t>Resulta en deterioro permanente o en peligro la vida</a:t>
                      </a:r>
                      <a:r>
                        <a:rPr lang="es-CO" sz="1050">
                          <a:effectLst/>
                        </a:rPr>
                        <a:t>.</a:t>
                      </a:r>
                      <a:endParaRPr lang="es-419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3938345"/>
                  </a:ext>
                </a:extLst>
              </a:tr>
              <a:tr h="387795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050">
                          <a:effectLst/>
                        </a:rPr>
                        <a:t>5-MUY ALTO</a:t>
                      </a:r>
                      <a:endParaRPr lang="es-419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050" dirty="0">
                          <a:effectLst/>
                        </a:rPr>
                        <a:t>Pudo llevar a la muerte o al deterioro serio de la salud del paciente.</a:t>
                      </a:r>
                      <a:endParaRPr lang="es-419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3458609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8B8EC5FC-1670-B8AD-FAE2-F5C925A80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282983"/>
              </p:ext>
            </p:extLst>
          </p:nvPr>
        </p:nvGraphicFramePr>
        <p:xfrm>
          <a:off x="4807526" y="1826144"/>
          <a:ext cx="4236951" cy="2061787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068756">
                  <a:extLst>
                    <a:ext uri="{9D8B030D-6E8A-4147-A177-3AD203B41FA5}">
                      <a16:colId xmlns:a16="http://schemas.microsoft.com/office/drawing/2014/main" val="619126026"/>
                    </a:ext>
                  </a:extLst>
                </a:gridCol>
                <a:gridCol w="3168195">
                  <a:extLst>
                    <a:ext uri="{9D8B030D-6E8A-4147-A177-3AD203B41FA5}">
                      <a16:colId xmlns:a16="http://schemas.microsoft.com/office/drawing/2014/main" val="4022858708"/>
                    </a:ext>
                  </a:extLst>
                </a:gridCol>
              </a:tblGrid>
              <a:tr h="1872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dirty="0">
                          <a:effectLst/>
                        </a:rPr>
                        <a:t>OCURRENCIA </a:t>
                      </a:r>
                      <a:endParaRPr lang="es-419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>
                          <a:effectLst/>
                        </a:rPr>
                        <a:t>DESCRIPCIÓN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7856079"/>
                  </a:ext>
                </a:extLst>
              </a:tr>
              <a:tr h="352736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100" dirty="0">
                          <a:effectLst/>
                        </a:rPr>
                        <a:t>1-BAJA</a:t>
                      </a:r>
                      <a:endParaRPr lang="es-419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100">
                          <a:effectLst/>
                        </a:rPr>
                        <a:t>El evento ocurre nunca o casi nunca (0-1 a la semana)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9270658"/>
                  </a:ext>
                </a:extLst>
              </a:tr>
              <a:tr h="362100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100">
                          <a:effectLst/>
                        </a:rPr>
                        <a:t>2-MODERADA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100">
                          <a:effectLst/>
                        </a:rPr>
                        <a:t> El evento ocurre algunas veces (2-3 a la semana)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3843187"/>
                  </a:ext>
                </a:extLst>
              </a:tr>
              <a:tr h="374587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100">
                          <a:effectLst/>
                        </a:rPr>
                        <a:t>3-MEDIA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100">
                          <a:effectLst/>
                        </a:rPr>
                        <a:t>El evento ocurre siempre o casi siempre (3 a 4 a la semana)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4455120"/>
                  </a:ext>
                </a:extLst>
              </a:tr>
              <a:tr h="374587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100">
                          <a:effectLst/>
                        </a:rPr>
                        <a:t>4-ALTA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100">
                          <a:effectLst/>
                        </a:rPr>
                        <a:t>El evento ocurre siempre o casi siempre (4 a 5 a la semana)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6646377"/>
                  </a:ext>
                </a:extLst>
              </a:tr>
              <a:tr h="410484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100">
                          <a:effectLst/>
                        </a:rPr>
                        <a:t>5-MUY ALTA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100" dirty="0">
                          <a:effectLst/>
                        </a:rPr>
                        <a:t>El evento ocurre siempre o casi siempre (5 a 6 a la semana)</a:t>
                      </a:r>
                      <a:endParaRPr lang="es-419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4284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179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0F9B7-4B8F-63EE-1700-7CF49011C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5DDFB-45E5-BA91-6035-20C48A37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CO" dirty="0"/>
            </a:br>
            <a:r>
              <a:rPr lang="es-CO" dirty="0"/>
              <a:t>Representación del Riesgo </a:t>
            </a:r>
            <a:br>
              <a:rPr lang="es-CO" dirty="0"/>
            </a:br>
            <a:endParaRPr lang="es-C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E9686F9-CBE9-B07B-D9FE-13B643C41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8846127" cy="3394472"/>
          </a:xfrm>
        </p:spPr>
        <p:txBody>
          <a:bodyPr>
            <a:normAutofit/>
          </a:bodyPr>
          <a:lstStyle/>
          <a:p>
            <a:r>
              <a:rPr lang="es-CO" sz="1800" dirty="0"/>
              <a:t>Nivel de detectabilidad del riesgo.              * Niveles de clasificación de riesgo</a:t>
            </a:r>
            <a:endParaRPr lang="es-419" sz="18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FE51659-D8EF-A614-58EC-C5E095E6F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654219"/>
              </p:ext>
            </p:extLst>
          </p:nvPr>
        </p:nvGraphicFramePr>
        <p:xfrm>
          <a:off x="457199" y="1649294"/>
          <a:ext cx="3789219" cy="2496186"/>
        </p:xfrm>
        <a:graphic>
          <a:graphicData uri="http://schemas.openxmlformats.org/drawingml/2006/table">
            <a:tbl>
              <a:tblPr firstRow="1" firstCol="1" bandRow="1">
                <a:tableStyleId>{912C8C85-51F0-491E-9774-3900AFEF0FD7}</a:tableStyleId>
              </a:tblPr>
              <a:tblGrid>
                <a:gridCol w="1276247">
                  <a:extLst>
                    <a:ext uri="{9D8B030D-6E8A-4147-A177-3AD203B41FA5}">
                      <a16:colId xmlns:a16="http://schemas.microsoft.com/office/drawing/2014/main" val="3255721042"/>
                    </a:ext>
                  </a:extLst>
                </a:gridCol>
                <a:gridCol w="2512972">
                  <a:extLst>
                    <a:ext uri="{9D8B030D-6E8A-4147-A177-3AD203B41FA5}">
                      <a16:colId xmlns:a16="http://schemas.microsoft.com/office/drawing/2014/main" val="3744912166"/>
                    </a:ext>
                  </a:extLst>
                </a:gridCol>
              </a:tblGrid>
              <a:tr h="307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 dirty="0">
                          <a:effectLst/>
                        </a:rPr>
                        <a:t>DETECTABILIDAD </a:t>
                      </a:r>
                      <a:endParaRPr lang="es-419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100">
                          <a:effectLst/>
                        </a:rPr>
                        <a:t>DESCRIPCIÓN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6572626"/>
                  </a:ext>
                </a:extLst>
              </a:tr>
              <a:tr h="211986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100" dirty="0">
                          <a:effectLst/>
                        </a:rPr>
                        <a:t>1-MUY ALTA</a:t>
                      </a:r>
                      <a:endParaRPr lang="es-419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100">
                          <a:effectLst/>
                        </a:rPr>
                        <a:t>La falla será siempre detectada (95 - 100 %).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7660723"/>
                  </a:ext>
                </a:extLst>
              </a:tr>
              <a:tr h="423972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100">
                          <a:effectLst/>
                        </a:rPr>
                        <a:t>2-ALTA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100">
                          <a:effectLst/>
                        </a:rPr>
                        <a:t>La falla será frecuentemente detectada antes de que afecte al paciente (75 - 94 %).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0935691"/>
                  </a:ext>
                </a:extLst>
              </a:tr>
              <a:tr h="423972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100">
                          <a:effectLst/>
                        </a:rPr>
                        <a:t>3-MEDIO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100">
                          <a:effectLst/>
                        </a:rPr>
                        <a:t>La falla no será detectada frecuentemente antes de que afecte al paciente (40 - 74 %).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0607205"/>
                  </a:ext>
                </a:extLst>
              </a:tr>
              <a:tr h="423972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100">
                          <a:effectLst/>
                        </a:rPr>
                        <a:t>4-MODERADA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100">
                          <a:effectLst/>
                        </a:rPr>
                        <a:t>La falla raramente será detectada antes de afectar al paciente (6 - 36 %).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065070"/>
                  </a:ext>
                </a:extLst>
              </a:tr>
              <a:tr h="423972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981075" algn="l"/>
                        </a:tabLst>
                      </a:pPr>
                      <a:r>
                        <a:rPr lang="es-CO" sz="1100">
                          <a:effectLst/>
                        </a:rPr>
                        <a:t>5-BAJA</a:t>
                      </a:r>
                      <a:endParaRPr lang="es-419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O" sz="1100" dirty="0">
                          <a:effectLst/>
                        </a:rPr>
                        <a:t>La detección no será posible en ningún punto del proceso (0 - 5 %).</a:t>
                      </a:r>
                      <a:endParaRPr lang="es-419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8481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7CB1AD5F-FA6A-7057-BC64-CCD51BC33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10159"/>
              </p:ext>
            </p:extLst>
          </p:nvPr>
        </p:nvGraphicFramePr>
        <p:xfrm>
          <a:off x="4703616" y="1787838"/>
          <a:ext cx="4111337" cy="2070650"/>
        </p:xfrm>
        <a:graphic>
          <a:graphicData uri="http://schemas.openxmlformats.org/drawingml/2006/table">
            <a:tbl>
              <a:tblPr firstRow="1" firstCol="1" bandRow="1"/>
              <a:tblGrid>
                <a:gridCol w="736070">
                  <a:extLst>
                    <a:ext uri="{9D8B030D-6E8A-4147-A177-3AD203B41FA5}">
                      <a16:colId xmlns:a16="http://schemas.microsoft.com/office/drawing/2014/main" val="1675055808"/>
                    </a:ext>
                  </a:extLst>
                </a:gridCol>
                <a:gridCol w="905114">
                  <a:extLst>
                    <a:ext uri="{9D8B030D-6E8A-4147-A177-3AD203B41FA5}">
                      <a16:colId xmlns:a16="http://schemas.microsoft.com/office/drawing/2014/main" val="421506621"/>
                    </a:ext>
                  </a:extLst>
                </a:gridCol>
                <a:gridCol w="2470153">
                  <a:extLst>
                    <a:ext uri="{9D8B030D-6E8A-4147-A177-3AD203B41FA5}">
                      <a16:colId xmlns:a16="http://schemas.microsoft.com/office/drawing/2014/main" val="2915184743"/>
                    </a:ext>
                  </a:extLst>
                </a:gridCol>
              </a:tblGrid>
              <a:tr h="189671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CO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Niveles de clasificación de riesgo</a:t>
                      </a:r>
                      <a:endParaRPr lang="es-419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215305"/>
                  </a:ext>
                </a:extLst>
              </a:tr>
              <a:tr h="3712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CO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Clasificación</a:t>
                      </a:r>
                      <a:endParaRPr lang="es-419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CO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Categoría</a:t>
                      </a:r>
                      <a:endParaRPr lang="es-419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CO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Criterio</a:t>
                      </a:r>
                      <a:endParaRPr lang="es-419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04271"/>
                  </a:ext>
                </a:extLst>
              </a:tr>
              <a:tr h="5639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31 - 64</a:t>
                      </a:r>
                      <a:endParaRPr lang="es-419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Significativo</a:t>
                      </a:r>
                      <a:endParaRPr lang="es-419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Trae como resultado la muerte o pérdida de función o estructura en el paciente u operario.</a:t>
                      </a:r>
                      <a:endParaRPr lang="es-419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585381"/>
                  </a:ext>
                </a:extLst>
              </a:tr>
              <a:tr h="5639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11-30</a:t>
                      </a:r>
                      <a:endParaRPr lang="es-419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Moderado</a:t>
                      </a:r>
                      <a:endParaRPr lang="es-419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Trae como resultado lesión reversible o pequeña en el paciente u operario</a:t>
                      </a:r>
                      <a:endParaRPr lang="es-419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964910"/>
                  </a:ext>
                </a:extLst>
              </a:tr>
              <a:tr h="3818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2-10</a:t>
                      </a:r>
                      <a:endParaRPr lang="es-419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s-CO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Insignificante</a:t>
                      </a:r>
                      <a:endParaRPr lang="es-419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es-CO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 causará lesión, o lesionará ligeramente al paciente u operario.</a:t>
                      </a:r>
                      <a:endParaRPr lang="es-419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821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54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E60FB-773F-7D28-5152-1C3C50EF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DC15D-4D24-2253-956E-BC15FE63B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CO" dirty="0"/>
            </a:br>
            <a:r>
              <a:rPr lang="es-CO" dirty="0"/>
              <a:t>Representación del Riesgo </a:t>
            </a:r>
            <a:br>
              <a:rPr lang="es-CO" dirty="0"/>
            </a:br>
            <a:r>
              <a:rPr lang="es-CO" dirty="0"/>
              <a:t>Mapa de calor para clasificación de riesgos</a:t>
            </a:r>
            <a:br>
              <a:rPr lang="es-CO" dirty="0"/>
            </a:b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BA8DD93-6E96-706C-52E6-6DA84EF2A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436" y="1498051"/>
            <a:ext cx="6975648" cy="20812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9831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205DE-9F2A-453D-902E-31098609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/>
          <a:lstStyle/>
          <a:p>
            <a:r>
              <a:rPr lang="es-CO" dirty="0"/>
              <a:t>Análisis Previo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62F6A9-2E56-456B-9370-265996AD8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59" y="731946"/>
            <a:ext cx="8074681" cy="397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92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A5C75-1620-47DF-A11B-B1DCD17F0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Reducción del Riesgo </a:t>
            </a:r>
          </a:p>
        </p:txBody>
      </p:sp>
      <p:pic>
        <p:nvPicPr>
          <p:cNvPr id="24" name="Marcador de contenido 23">
            <a:extLst>
              <a:ext uri="{FF2B5EF4-FFF2-40B4-BE49-F238E27FC236}">
                <a16:creationId xmlns:a16="http://schemas.microsoft.com/office/drawing/2014/main" id="{524F943E-B74C-4186-9452-EFDD9F7CB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376" y="1117023"/>
            <a:ext cx="7851248" cy="339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44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AE883-82BB-4741-8A45-986A1B08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Un ejemplo….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B44F37C-E8E7-47D9-AD89-2B6144A09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568" y="1657632"/>
            <a:ext cx="8229600" cy="132873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BD40377-DA53-4A2B-880B-A675509ED151}"/>
              </a:ext>
            </a:extLst>
          </p:cNvPr>
          <p:cNvSpPr/>
          <p:nvPr/>
        </p:nvSpPr>
        <p:spPr>
          <a:xfrm>
            <a:off x="951270" y="3495369"/>
            <a:ext cx="7624917" cy="10250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CO" sz="1400" dirty="0"/>
              <a:t>Cuando el RPN es superior a 100 es un claro indicador de que deben implementarse acciones de prevención o corrección para evitar la ocurrencia de las fallas, de forma prioritaria. Sin embargo, el objetivo general es el de tratar todas las fallas; en la literatura muchos expertos coinciden en que un RPN superior a 30 requiere de un despliegue enfocado en el tratamiento del modo de falla.</a:t>
            </a:r>
          </a:p>
        </p:txBody>
      </p:sp>
    </p:spTree>
    <p:extLst>
      <p:ext uri="{BB962C8B-B14F-4D97-AF65-F5344CB8AC3E}">
        <p14:creationId xmlns:p14="http://schemas.microsoft.com/office/powerpoint/2010/main" val="4158077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1532425" y="3725394"/>
            <a:ext cx="5516991" cy="559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 fontScale="90000" lnSpcReduction="20000"/>
          </a:bodyPr>
          <a:lstStyle/>
          <a:p>
            <a:pPr lvl="0" algn="just">
              <a:buClr>
                <a:schemeClr val="dk1"/>
              </a:buClr>
              <a:buSzPct val="100000"/>
            </a:pPr>
            <a:r>
              <a:rPr lang="es-ES" sz="1350" dirty="0"/>
              <a:t>FHIR 2014: Como un estándar de datos de atención médica con una interfaz de programación de aplicaciones (API) para representar e intercambiar registros de salud electrónicos.</a:t>
            </a:r>
            <a:endParaRPr dirty="0">
              <a:solidFill>
                <a:srgbClr val="172B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1337310" y="4720590"/>
            <a:ext cx="233743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675" i="1">
                <a:solidFill>
                  <a:srgbClr val="F2E6CC"/>
                </a:solidFill>
                <a:latin typeface="Arial"/>
                <a:ea typeface="Arial"/>
                <a:cs typeface="Arial"/>
                <a:sym typeface="Arial"/>
              </a:rPr>
              <a:t>Facultad  Ingeniería</a:t>
            </a:r>
            <a:endParaRPr sz="675" i="1">
              <a:solidFill>
                <a:srgbClr val="F2E6CC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sz="675" i="1">
                <a:solidFill>
                  <a:srgbClr val="F2E6CC"/>
                </a:solidFill>
                <a:latin typeface="Arial"/>
                <a:ea typeface="Arial"/>
                <a:cs typeface="Arial"/>
                <a:sym typeface="Arial"/>
              </a:rPr>
              <a:t>Sede Bogotá</a:t>
            </a:r>
            <a:endParaRPr sz="675" i="1">
              <a:solidFill>
                <a:srgbClr val="F2E6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5DBFA2-7939-4115-B322-BF2FEFFD1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00800" y="4723746"/>
            <a:ext cx="1600200" cy="273844"/>
          </a:xfrm>
        </p:spPr>
        <p:txBody>
          <a:bodyPr/>
          <a:lstStyle/>
          <a:p>
            <a:fld id="{00000000-1234-1234-1234-123412341234}" type="slidenum">
              <a:rPr lang="en-US" smtClean="0">
                <a:solidFill>
                  <a:schemeClr val="bg1">
                    <a:lumMod val="95000"/>
                  </a:schemeClr>
                </a:solidFill>
              </a:rPr>
              <a:pPr/>
              <a:t>13</a:t>
            </a:fld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Imagen 8" descr="Imagen que contiene reloj&#10;&#10;El contenido generado por IA puede ser incorrecto.">
            <a:extLst>
              <a:ext uri="{FF2B5EF4-FFF2-40B4-BE49-F238E27FC236}">
                <a16:creationId xmlns:a16="http://schemas.microsoft.com/office/drawing/2014/main" id="{8AE15E36-D07D-3674-C390-C35EDDB08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438" y="3382366"/>
            <a:ext cx="1096328" cy="1096328"/>
          </a:xfrm>
          <a:prstGeom prst="rect">
            <a:avLst/>
          </a:prstGeom>
        </p:spPr>
      </p:pic>
      <p:sp>
        <p:nvSpPr>
          <p:cNvPr id="11" name="AutoShape 2">
            <a:extLst>
              <a:ext uri="{FF2B5EF4-FFF2-40B4-BE49-F238E27FC236}">
                <a16:creationId xmlns:a16="http://schemas.microsoft.com/office/drawing/2014/main" id="{3E39E62A-E1FF-62A7-2ECF-ACE08A5C4A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24574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s-CO" sz="1350"/>
          </a:p>
        </p:txBody>
      </p: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C022F8C5-1153-4841-3F2D-F7DE34697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949" y="616417"/>
            <a:ext cx="5577502" cy="2915513"/>
          </a:xfrm>
          <a:prstGeom prst="rect">
            <a:avLst/>
          </a:prstGeom>
        </p:spPr>
      </p:pic>
      <p:sp>
        <p:nvSpPr>
          <p:cNvPr id="14" name="Google Shape;112;p4">
            <a:extLst>
              <a:ext uri="{FF2B5EF4-FFF2-40B4-BE49-F238E27FC236}">
                <a16:creationId xmlns:a16="http://schemas.microsoft.com/office/drawing/2014/main" id="{3A9E8683-7FB5-39A7-54B4-5C064DF84E7F}"/>
              </a:ext>
            </a:extLst>
          </p:cNvPr>
          <p:cNvSpPr txBox="1"/>
          <p:nvPr/>
        </p:nvSpPr>
        <p:spPr>
          <a:xfrm>
            <a:off x="1443442" y="359774"/>
            <a:ext cx="4957358" cy="296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 fontScale="90000" lnSpcReduction="10000"/>
          </a:bodyPr>
          <a:lstStyle/>
          <a:p>
            <a:pPr>
              <a:buClr>
                <a:srgbClr val="172B7E"/>
              </a:buClr>
              <a:buSzPct val="100000"/>
            </a:pPr>
            <a:r>
              <a:rPr lang="es-CO" dirty="0">
                <a:solidFill>
                  <a:srgbClr val="172B7E"/>
                </a:solidFill>
              </a:rPr>
              <a:t>Consumo de API Participación Industrial</a:t>
            </a:r>
            <a:endParaRPr lang="es-CO" dirty="0">
              <a:solidFill>
                <a:srgbClr val="172B7E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172B7E"/>
              </a:buClr>
              <a:buSzPct val="100000"/>
            </a:pPr>
            <a:endParaRPr lang="es-CO" dirty="0">
              <a:solidFill>
                <a:srgbClr val="172B7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000ED-D9E4-9D2F-342F-A6B65856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5" y="0"/>
            <a:ext cx="8229600" cy="857250"/>
          </a:xfrm>
        </p:spPr>
        <p:txBody>
          <a:bodyPr/>
          <a:lstStyle/>
          <a:p>
            <a:r>
              <a:rPr lang="es-ES" dirty="0"/>
              <a:t>	Recurso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969B1C-FF81-D903-E451-51D6E1585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5" y="791078"/>
            <a:ext cx="8229600" cy="3394472"/>
          </a:xfrm>
        </p:spPr>
        <p:txBody>
          <a:bodyPr/>
          <a:lstStyle/>
          <a:p>
            <a:r>
              <a:rPr lang="es-419" sz="1000" dirty="0">
                <a:hlinkClick r:id="rId2"/>
              </a:rPr>
              <a:t>https://hl7.org/fhir/?utm_referrer=https%3A%2F%2Fwww.hl7.org%2F</a:t>
            </a:r>
            <a:endParaRPr lang="es-419" sz="1000" dirty="0"/>
          </a:p>
          <a:p>
            <a:endParaRPr lang="es-419" sz="1000" dirty="0"/>
          </a:p>
          <a:p>
            <a:endParaRPr lang="es-419" sz="1000" dirty="0"/>
          </a:p>
          <a:p>
            <a:endParaRPr lang="es-419" dirty="0"/>
          </a:p>
        </p:txBody>
      </p:sp>
      <p:pic>
        <p:nvPicPr>
          <p:cNvPr id="3074" name="Picture 2" descr="Introduction to FHIR® REST API">
            <a:extLst>
              <a:ext uri="{FF2B5EF4-FFF2-40B4-BE49-F238E27FC236}">
                <a16:creationId xmlns:a16="http://schemas.microsoft.com/office/drawing/2014/main" id="{6C44FF19-665E-6005-D802-AA17A3E15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40" y="1285875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3587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</TotalTime>
  <Words>654</Words>
  <Application>Microsoft Office PowerPoint</Application>
  <PresentationFormat>Presentación en pantalla (16:9)</PresentationFormat>
  <Paragraphs>98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Tema de Office</vt:lpstr>
      <vt:lpstr>IFMER: Proyecto FMECA </vt:lpstr>
      <vt:lpstr>Failure Modes and Effects Critical Analysis (FMECA)</vt:lpstr>
      <vt:lpstr>Metodología Estándar MFECA</vt:lpstr>
      <vt:lpstr>Contenido </vt:lpstr>
      <vt:lpstr>Pasos Claves </vt:lpstr>
      <vt:lpstr>ISO 14971</vt:lpstr>
      <vt:lpstr> Representación del Riesgo  </vt:lpstr>
      <vt:lpstr> Representación del Riesgo  </vt:lpstr>
      <vt:lpstr> Representación del Riesgo  Mapa de calor para clasificación de riesgos </vt:lpstr>
      <vt:lpstr>Análisis Previo </vt:lpstr>
      <vt:lpstr>Reducción del Riesgo </vt:lpstr>
      <vt:lpstr>Un ejemplo….</vt:lpstr>
      <vt:lpstr>Presentación de PowerPoint</vt:lpstr>
      <vt:lpstr> Recurso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CAMILO</dc:creator>
  <cp:lastModifiedBy>Jefferson Steven Sarmiento Rojas</cp:lastModifiedBy>
  <cp:revision>118</cp:revision>
  <dcterms:created xsi:type="dcterms:W3CDTF">2015-09-09T19:32:10Z</dcterms:created>
  <dcterms:modified xsi:type="dcterms:W3CDTF">2026-03-18T19:12:24Z</dcterms:modified>
</cp:coreProperties>
</file>