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4EC5AA-628C-4BB3-8B09-99FA60E6A477}" type="doc">
      <dgm:prSet loTypeId="urn:microsoft.com/office/officeart/2005/8/layout/venn2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F2C4A22F-15CC-4062-AAB5-210DDFD96FA2}">
      <dgm:prSet phldrT="[Texto]" custT="1"/>
      <dgm:spPr/>
      <dgm:t>
        <a:bodyPr/>
        <a:lstStyle/>
        <a:p>
          <a:r>
            <a:rPr lang="es-CO" sz="1100" b="1" dirty="0" err="1">
              <a:solidFill>
                <a:sysClr val="windowText" lastClr="000000"/>
              </a:solidFill>
            </a:rPr>
            <a:t>Application</a:t>
          </a:r>
          <a:r>
            <a:rPr lang="es-CO" sz="1100" b="1" dirty="0">
              <a:solidFill>
                <a:sysClr val="windowText" lastClr="000000"/>
              </a:solidFill>
            </a:rPr>
            <a:t> (Excel) </a:t>
          </a:r>
          <a:r>
            <a:rPr lang="es-CO" sz="1100" b="1">
              <a:solidFill>
                <a:sysClr val="windowText" lastClr="000000"/>
              </a:solidFill>
            </a:rPr>
            <a:t>vb</a:t>
          </a:r>
        </a:p>
      </dgm:t>
    </dgm:pt>
    <dgm:pt modelId="{A356B00F-EA1F-4052-95CB-C7E73FA4F481}" type="parTrans" cxnId="{9DD68E5A-5691-4CF1-826A-EE5C1AB99633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CCC6CAF8-9746-4132-B2D7-375C7E927AF6}" type="sibTrans" cxnId="{9DD68E5A-5691-4CF1-826A-EE5C1AB99633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ABCD83C6-255E-462F-91F5-D79ABA291191}">
      <dgm:prSet phldrT="[Texto]" custT="1"/>
      <dgm:spPr/>
      <dgm:t>
        <a:bodyPr/>
        <a:lstStyle/>
        <a:p>
          <a:r>
            <a:rPr lang="es-CO" sz="1100" b="1">
              <a:solidFill>
                <a:sysClr val="windowText" lastClr="000000"/>
              </a:solidFill>
            </a:rPr>
            <a:t>Workbooks</a:t>
          </a:r>
        </a:p>
        <a:p>
          <a:r>
            <a:rPr lang="es-CO" sz="1100" b="1">
              <a:solidFill>
                <a:sysClr val="windowText" lastClr="000000"/>
              </a:solidFill>
            </a:rPr>
            <a:t>(libro)</a:t>
          </a:r>
        </a:p>
      </dgm:t>
    </dgm:pt>
    <dgm:pt modelId="{B5E4D3F3-4153-411C-8FBF-95F1C86913BB}" type="parTrans" cxnId="{2B8D1312-4C18-4F24-BD29-83619BC1F522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E82B90F8-5DD4-4149-81A2-60E01BF575A5}" type="sibTrans" cxnId="{2B8D1312-4C18-4F24-BD29-83619BC1F522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7B8DFE18-389A-4A89-A617-5CF3847D5FE4}">
      <dgm:prSet phldrT="[Texto]" custT="1"/>
      <dgm:spPr/>
      <dgm:t>
        <a:bodyPr/>
        <a:lstStyle/>
        <a:p>
          <a:r>
            <a:rPr lang="es-CO" sz="1100" b="1">
              <a:solidFill>
                <a:sysClr val="windowText" lastClr="000000"/>
              </a:solidFill>
            </a:rPr>
            <a:t>Worksheets</a:t>
          </a:r>
        </a:p>
        <a:p>
          <a:r>
            <a:rPr lang="es-CO" sz="1100" b="1">
              <a:solidFill>
                <a:sysClr val="windowText" lastClr="000000"/>
              </a:solidFill>
            </a:rPr>
            <a:t>(hoja)</a:t>
          </a:r>
        </a:p>
      </dgm:t>
    </dgm:pt>
    <dgm:pt modelId="{2A87546E-1120-4AD4-BE5B-F0BBB6C20AA4}" type="parTrans" cxnId="{0A45ABAA-2859-45B7-AC00-8E12708DE8E9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6EF2AC6A-2B93-40A6-986D-3EBA94A52CFF}" type="sibTrans" cxnId="{0A45ABAA-2859-45B7-AC00-8E12708DE8E9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EFA0BD69-9A7B-4BAC-AFF4-72E6D344F1B1}">
      <dgm:prSet phldrT="[Texto]" custT="1"/>
      <dgm:spPr/>
      <dgm:t>
        <a:bodyPr/>
        <a:lstStyle/>
        <a:p>
          <a:r>
            <a:rPr lang="es-CO" sz="1100" b="1">
              <a:solidFill>
                <a:sysClr val="windowText" lastClr="000000"/>
              </a:solidFill>
            </a:rPr>
            <a:t>Range</a:t>
          </a:r>
        </a:p>
        <a:p>
          <a:r>
            <a:rPr lang="es-CO" sz="1100" b="1">
              <a:solidFill>
                <a:sysClr val="windowText" lastClr="000000"/>
              </a:solidFill>
            </a:rPr>
            <a:t>(celda)</a:t>
          </a:r>
        </a:p>
      </dgm:t>
    </dgm:pt>
    <dgm:pt modelId="{F6AB8C01-369D-42B9-9CA4-A6D768BCE393}" type="parTrans" cxnId="{D7F7E97F-68ED-4AE1-84EB-FFC799708F48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78ED03CA-1E4F-499C-8AF8-4709BF01EBBA}" type="sibTrans" cxnId="{D7F7E97F-68ED-4AE1-84EB-FFC799708F48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AEE533B4-5BB3-4E8F-A555-8E49E2F0BA11}" type="pres">
      <dgm:prSet presAssocID="{964EC5AA-628C-4BB3-8B09-99FA60E6A477}" presName="Name0" presStyleCnt="0">
        <dgm:presLayoutVars>
          <dgm:chMax val="7"/>
          <dgm:resizeHandles val="exact"/>
        </dgm:presLayoutVars>
      </dgm:prSet>
      <dgm:spPr/>
    </dgm:pt>
    <dgm:pt modelId="{2634008E-3989-463E-A43F-5FFAD7BB56EB}" type="pres">
      <dgm:prSet presAssocID="{964EC5AA-628C-4BB3-8B09-99FA60E6A477}" presName="comp1" presStyleCnt="0"/>
      <dgm:spPr/>
    </dgm:pt>
    <dgm:pt modelId="{1B7DC36D-E780-4B8B-BA1A-C356DB9AA864}" type="pres">
      <dgm:prSet presAssocID="{964EC5AA-628C-4BB3-8B09-99FA60E6A477}" presName="circle1" presStyleLbl="node1" presStyleIdx="0" presStyleCnt="4" custLinFactNeighborX="796"/>
      <dgm:spPr/>
    </dgm:pt>
    <dgm:pt modelId="{062A4669-8994-4978-B521-1D39E1CA9915}" type="pres">
      <dgm:prSet presAssocID="{964EC5AA-628C-4BB3-8B09-99FA60E6A477}" presName="c1text" presStyleLbl="node1" presStyleIdx="0" presStyleCnt="4">
        <dgm:presLayoutVars>
          <dgm:bulletEnabled val="1"/>
        </dgm:presLayoutVars>
      </dgm:prSet>
      <dgm:spPr/>
    </dgm:pt>
    <dgm:pt modelId="{B3BF6D1D-B87D-4318-B149-70DDADAFE0DC}" type="pres">
      <dgm:prSet presAssocID="{964EC5AA-628C-4BB3-8B09-99FA60E6A477}" presName="comp2" presStyleCnt="0"/>
      <dgm:spPr/>
    </dgm:pt>
    <dgm:pt modelId="{19C85DC8-1471-45BB-8C5A-4DC563C7221C}" type="pres">
      <dgm:prSet presAssocID="{964EC5AA-628C-4BB3-8B09-99FA60E6A477}" presName="circle2" presStyleLbl="node1" presStyleIdx="1" presStyleCnt="4"/>
      <dgm:spPr/>
    </dgm:pt>
    <dgm:pt modelId="{49BEB450-22F4-4867-8DC1-8229E6124944}" type="pres">
      <dgm:prSet presAssocID="{964EC5AA-628C-4BB3-8B09-99FA60E6A477}" presName="c2text" presStyleLbl="node1" presStyleIdx="1" presStyleCnt="4">
        <dgm:presLayoutVars>
          <dgm:bulletEnabled val="1"/>
        </dgm:presLayoutVars>
      </dgm:prSet>
      <dgm:spPr/>
    </dgm:pt>
    <dgm:pt modelId="{288E331A-A9DB-463D-BB65-86EADC600386}" type="pres">
      <dgm:prSet presAssocID="{964EC5AA-628C-4BB3-8B09-99FA60E6A477}" presName="comp3" presStyleCnt="0"/>
      <dgm:spPr/>
    </dgm:pt>
    <dgm:pt modelId="{C0D51B4C-4DCB-47CB-A49E-5A10C4FA590D}" type="pres">
      <dgm:prSet presAssocID="{964EC5AA-628C-4BB3-8B09-99FA60E6A477}" presName="circle3" presStyleLbl="node1" presStyleIdx="2" presStyleCnt="4"/>
      <dgm:spPr/>
    </dgm:pt>
    <dgm:pt modelId="{88720D2E-4157-46E5-B49E-2F9CB310C0E9}" type="pres">
      <dgm:prSet presAssocID="{964EC5AA-628C-4BB3-8B09-99FA60E6A477}" presName="c3text" presStyleLbl="node1" presStyleIdx="2" presStyleCnt="4">
        <dgm:presLayoutVars>
          <dgm:bulletEnabled val="1"/>
        </dgm:presLayoutVars>
      </dgm:prSet>
      <dgm:spPr/>
    </dgm:pt>
    <dgm:pt modelId="{F98EE750-3E90-4029-9D6D-5471CC6DF681}" type="pres">
      <dgm:prSet presAssocID="{964EC5AA-628C-4BB3-8B09-99FA60E6A477}" presName="comp4" presStyleCnt="0"/>
      <dgm:spPr/>
    </dgm:pt>
    <dgm:pt modelId="{6676F77A-10CF-41F5-AABD-D28CA3FDB9A3}" type="pres">
      <dgm:prSet presAssocID="{964EC5AA-628C-4BB3-8B09-99FA60E6A477}" presName="circle4" presStyleLbl="node1" presStyleIdx="3" presStyleCnt="4"/>
      <dgm:spPr/>
    </dgm:pt>
    <dgm:pt modelId="{EAD0D2F1-AFA9-4ACA-82B3-3859E2A961D8}" type="pres">
      <dgm:prSet presAssocID="{964EC5AA-628C-4BB3-8B09-99FA60E6A477}" presName="c4text" presStyleLbl="node1" presStyleIdx="3" presStyleCnt="4">
        <dgm:presLayoutVars>
          <dgm:bulletEnabled val="1"/>
        </dgm:presLayoutVars>
      </dgm:prSet>
      <dgm:spPr/>
    </dgm:pt>
  </dgm:ptLst>
  <dgm:cxnLst>
    <dgm:cxn modelId="{FADE5901-8F6E-45EC-8B28-F5FB2A423529}" type="presOf" srcId="{ABCD83C6-255E-462F-91F5-D79ABA291191}" destId="{19C85DC8-1471-45BB-8C5A-4DC563C7221C}" srcOrd="0" destOrd="0" presId="urn:microsoft.com/office/officeart/2005/8/layout/venn2"/>
    <dgm:cxn modelId="{042FED0C-4091-49D8-A5A0-5A71B7AB0E6F}" type="presOf" srcId="{EFA0BD69-9A7B-4BAC-AFF4-72E6D344F1B1}" destId="{EAD0D2F1-AFA9-4ACA-82B3-3859E2A961D8}" srcOrd="1" destOrd="0" presId="urn:microsoft.com/office/officeart/2005/8/layout/venn2"/>
    <dgm:cxn modelId="{2B8D1312-4C18-4F24-BD29-83619BC1F522}" srcId="{964EC5AA-628C-4BB3-8B09-99FA60E6A477}" destId="{ABCD83C6-255E-462F-91F5-D79ABA291191}" srcOrd="1" destOrd="0" parTransId="{B5E4D3F3-4153-411C-8FBF-95F1C86913BB}" sibTransId="{E82B90F8-5DD4-4149-81A2-60E01BF575A5}"/>
    <dgm:cxn modelId="{3A8ABD23-1458-433A-8593-BCB2B6220159}" type="presOf" srcId="{F2C4A22F-15CC-4062-AAB5-210DDFD96FA2}" destId="{1B7DC36D-E780-4B8B-BA1A-C356DB9AA864}" srcOrd="0" destOrd="0" presId="urn:microsoft.com/office/officeart/2005/8/layout/venn2"/>
    <dgm:cxn modelId="{84CED539-9C2A-40F8-8686-85C624FA0D6E}" type="presOf" srcId="{964EC5AA-628C-4BB3-8B09-99FA60E6A477}" destId="{AEE533B4-5BB3-4E8F-A555-8E49E2F0BA11}" srcOrd="0" destOrd="0" presId="urn:microsoft.com/office/officeart/2005/8/layout/venn2"/>
    <dgm:cxn modelId="{9DD68E5A-5691-4CF1-826A-EE5C1AB99633}" srcId="{964EC5AA-628C-4BB3-8B09-99FA60E6A477}" destId="{F2C4A22F-15CC-4062-AAB5-210DDFD96FA2}" srcOrd="0" destOrd="0" parTransId="{A356B00F-EA1F-4052-95CB-C7E73FA4F481}" sibTransId="{CCC6CAF8-9746-4132-B2D7-375C7E927AF6}"/>
    <dgm:cxn modelId="{D7F7E97F-68ED-4AE1-84EB-FFC799708F48}" srcId="{964EC5AA-628C-4BB3-8B09-99FA60E6A477}" destId="{EFA0BD69-9A7B-4BAC-AFF4-72E6D344F1B1}" srcOrd="3" destOrd="0" parTransId="{F6AB8C01-369D-42B9-9CA4-A6D768BCE393}" sibTransId="{78ED03CA-1E4F-499C-8AF8-4709BF01EBBA}"/>
    <dgm:cxn modelId="{924CEF92-C704-498F-A597-3C774DB7A372}" type="presOf" srcId="{7B8DFE18-389A-4A89-A617-5CF3847D5FE4}" destId="{C0D51B4C-4DCB-47CB-A49E-5A10C4FA590D}" srcOrd="0" destOrd="0" presId="urn:microsoft.com/office/officeart/2005/8/layout/venn2"/>
    <dgm:cxn modelId="{B69308AA-8018-47F7-A721-FDDB93F6B819}" type="presOf" srcId="{EFA0BD69-9A7B-4BAC-AFF4-72E6D344F1B1}" destId="{6676F77A-10CF-41F5-AABD-D28CA3FDB9A3}" srcOrd="0" destOrd="0" presId="urn:microsoft.com/office/officeart/2005/8/layout/venn2"/>
    <dgm:cxn modelId="{0A45ABAA-2859-45B7-AC00-8E12708DE8E9}" srcId="{964EC5AA-628C-4BB3-8B09-99FA60E6A477}" destId="{7B8DFE18-389A-4A89-A617-5CF3847D5FE4}" srcOrd="2" destOrd="0" parTransId="{2A87546E-1120-4AD4-BE5B-F0BBB6C20AA4}" sibTransId="{6EF2AC6A-2B93-40A6-986D-3EBA94A52CFF}"/>
    <dgm:cxn modelId="{FFD5A4B7-8E38-467F-AFDA-3875ACF424D8}" type="presOf" srcId="{7B8DFE18-389A-4A89-A617-5CF3847D5FE4}" destId="{88720D2E-4157-46E5-B49E-2F9CB310C0E9}" srcOrd="1" destOrd="0" presId="urn:microsoft.com/office/officeart/2005/8/layout/venn2"/>
    <dgm:cxn modelId="{10E5D0C9-EA62-4E8E-B934-ED85F8354E40}" type="presOf" srcId="{ABCD83C6-255E-462F-91F5-D79ABA291191}" destId="{49BEB450-22F4-4867-8DC1-8229E6124944}" srcOrd="1" destOrd="0" presId="urn:microsoft.com/office/officeart/2005/8/layout/venn2"/>
    <dgm:cxn modelId="{1AB8E0EE-DCF7-4A4F-886B-F16FE4B50E3A}" type="presOf" srcId="{F2C4A22F-15CC-4062-AAB5-210DDFD96FA2}" destId="{062A4669-8994-4978-B521-1D39E1CA9915}" srcOrd="1" destOrd="0" presId="urn:microsoft.com/office/officeart/2005/8/layout/venn2"/>
    <dgm:cxn modelId="{74B63E33-98FB-4355-AA6F-F5D0D6B021B1}" type="presParOf" srcId="{AEE533B4-5BB3-4E8F-A555-8E49E2F0BA11}" destId="{2634008E-3989-463E-A43F-5FFAD7BB56EB}" srcOrd="0" destOrd="0" presId="urn:microsoft.com/office/officeart/2005/8/layout/venn2"/>
    <dgm:cxn modelId="{33D86C23-EA00-4103-9316-7553C45C4F9C}" type="presParOf" srcId="{2634008E-3989-463E-A43F-5FFAD7BB56EB}" destId="{1B7DC36D-E780-4B8B-BA1A-C356DB9AA864}" srcOrd="0" destOrd="0" presId="urn:microsoft.com/office/officeart/2005/8/layout/venn2"/>
    <dgm:cxn modelId="{8191735C-EC69-4DD9-8A2D-7AC5E4426216}" type="presParOf" srcId="{2634008E-3989-463E-A43F-5FFAD7BB56EB}" destId="{062A4669-8994-4978-B521-1D39E1CA9915}" srcOrd="1" destOrd="0" presId="urn:microsoft.com/office/officeart/2005/8/layout/venn2"/>
    <dgm:cxn modelId="{838AE12B-9EE8-4BB3-9A0C-1713AD83C051}" type="presParOf" srcId="{AEE533B4-5BB3-4E8F-A555-8E49E2F0BA11}" destId="{B3BF6D1D-B87D-4318-B149-70DDADAFE0DC}" srcOrd="1" destOrd="0" presId="urn:microsoft.com/office/officeart/2005/8/layout/venn2"/>
    <dgm:cxn modelId="{568DA60C-0CC1-43A2-A9BE-8F7C55FD5BEA}" type="presParOf" srcId="{B3BF6D1D-B87D-4318-B149-70DDADAFE0DC}" destId="{19C85DC8-1471-45BB-8C5A-4DC563C7221C}" srcOrd="0" destOrd="0" presId="urn:microsoft.com/office/officeart/2005/8/layout/venn2"/>
    <dgm:cxn modelId="{1B833A24-2918-4A47-AFC5-D4BE098A97E9}" type="presParOf" srcId="{B3BF6D1D-B87D-4318-B149-70DDADAFE0DC}" destId="{49BEB450-22F4-4867-8DC1-8229E6124944}" srcOrd="1" destOrd="0" presId="urn:microsoft.com/office/officeart/2005/8/layout/venn2"/>
    <dgm:cxn modelId="{DCD6F255-B8C7-4353-B531-3664913FB892}" type="presParOf" srcId="{AEE533B4-5BB3-4E8F-A555-8E49E2F0BA11}" destId="{288E331A-A9DB-463D-BB65-86EADC600386}" srcOrd="2" destOrd="0" presId="urn:microsoft.com/office/officeart/2005/8/layout/venn2"/>
    <dgm:cxn modelId="{F0A61984-F81F-48D2-9CB0-44BE590A532E}" type="presParOf" srcId="{288E331A-A9DB-463D-BB65-86EADC600386}" destId="{C0D51B4C-4DCB-47CB-A49E-5A10C4FA590D}" srcOrd="0" destOrd="0" presId="urn:microsoft.com/office/officeart/2005/8/layout/venn2"/>
    <dgm:cxn modelId="{A1AAADC4-751A-449C-AC67-7D757A02493F}" type="presParOf" srcId="{288E331A-A9DB-463D-BB65-86EADC600386}" destId="{88720D2E-4157-46E5-B49E-2F9CB310C0E9}" srcOrd="1" destOrd="0" presId="urn:microsoft.com/office/officeart/2005/8/layout/venn2"/>
    <dgm:cxn modelId="{1AF0C975-D6E5-43A9-BBA7-B3EFFFB6AB54}" type="presParOf" srcId="{AEE533B4-5BB3-4E8F-A555-8E49E2F0BA11}" destId="{F98EE750-3E90-4029-9D6D-5471CC6DF681}" srcOrd="3" destOrd="0" presId="urn:microsoft.com/office/officeart/2005/8/layout/venn2"/>
    <dgm:cxn modelId="{1513959A-B538-442C-86C7-818606CD2F2F}" type="presParOf" srcId="{F98EE750-3E90-4029-9D6D-5471CC6DF681}" destId="{6676F77A-10CF-41F5-AABD-D28CA3FDB9A3}" srcOrd="0" destOrd="0" presId="urn:microsoft.com/office/officeart/2005/8/layout/venn2"/>
    <dgm:cxn modelId="{460012F0-4D0E-48FC-ADFF-6C8991A7DC59}" type="presParOf" srcId="{F98EE750-3E90-4029-9D6D-5471CC6DF681}" destId="{EAD0D2F1-AFA9-4ACA-82B3-3859E2A961D8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7DC36D-E780-4B8B-BA1A-C356DB9AA864}">
      <dsp:nvSpPr>
        <dsp:cNvPr id="0" name=""/>
        <dsp:cNvSpPr/>
      </dsp:nvSpPr>
      <dsp:spPr>
        <a:xfrm>
          <a:off x="1199358" y="0"/>
          <a:ext cx="3545043" cy="354504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 err="1">
              <a:solidFill>
                <a:sysClr val="windowText" lastClr="000000"/>
              </a:solidFill>
            </a:rPr>
            <a:t>Application</a:t>
          </a:r>
          <a:r>
            <a:rPr lang="es-CO" sz="1100" b="1" kern="1200" dirty="0">
              <a:solidFill>
                <a:sysClr val="windowText" lastClr="000000"/>
              </a:solidFill>
            </a:rPr>
            <a:t> (Excel) </a:t>
          </a:r>
          <a:r>
            <a:rPr lang="es-CO" sz="1100" b="1" kern="1200">
              <a:solidFill>
                <a:sysClr val="windowText" lastClr="000000"/>
              </a:solidFill>
            </a:rPr>
            <a:t>vb</a:t>
          </a:r>
        </a:p>
      </dsp:txBody>
      <dsp:txXfrm>
        <a:off x="2476282" y="177252"/>
        <a:ext cx="991194" cy="531756"/>
      </dsp:txXfrm>
    </dsp:sp>
    <dsp:sp modelId="{19C85DC8-1471-45BB-8C5A-4DC563C7221C}">
      <dsp:nvSpPr>
        <dsp:cNvPr id="0" name=""/>
        <dsp:cNvSpPr/>
      </dsp:nvSpPr>
      <dsp:spPr>
        <a:xfrm>
          <a:off x="1525643" y="709008"/>
          <a:ext cx="2836034" cy="2836034"/>
        </a:xfrm>
        <a:prstGeom prst="ellipse">
          <a:avLst/>
        </a:prstGeom>
        <a:solidFill>
          <a:schemeClr val="accent4">
            <a:hueOff val="3768246"/>
            <a:satOff val="-10132"/>
            <a:lumOff val="-60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Workbooks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(libro)</a:t>
          </a:r>
        </a:p>
      </dsp:txBody>
      <dsp:txXfrm>
        <a:off x="2448063" y="879170"/>
        <a:ext cx="991194" cy="510486"/>
      </dsp:txXfrm>
    </dsp:sp>
    <dsp:sp modelId="{C0D51B4C-4DCB-47CB-A49E-5A10C4FA590D}">
      <dsp:nvSpPr>
        <dsp:cNvPr id="0" name=""/>
        <dsp:cNvSpPr/>
      </dsp:nvSpPr>
      <dsp:spPr>
        <a:xfrm>
          <a:off x="1880148" y="1418017"/>
          <a:ext cx="2127025" cy="2127025"/>
        </a:xfrm>
        <a:prstGeom prst="ellipse">
          <a:avLst/>
        </a:prstGeom>
        <a:solidFill>
          <a:schemeClr val="accent4">
            <a:hueOff val="7536492"/>
            <a:satOff val="-20265"/>
            <a:lumOff val="-120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Worksheets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(hoja)</a:t>
          </a:r>
        </a:p>
      </dsp:txBody>
      <dsp:txXfrm>
        <a:off x="2448063" y="1577544"/>
        <a:ext cx="991194" cy="478580"/>
      </dsp:txXfrm>
    </dsp:sp>
    <dsp:sp modelId="{6676F77A-10CF-41F5-AABD-D28CA3FDB9A3}">
      <dsp:nvSpPr>
        <dsp:cNvPr id="0" name=""/>
        <dsp:cNvSpPr/>
      </dsp:nvSpPr>
      <dsp:spPr>
        <a:xfrm>
          <a:off x="2234652" y="2127025"/>
          <a:ext cx="1418017" cy="1418017"/>
        </a:xfrm>
        <a:prstGeom prst="ellipse">
          <a:avLst/>
        </a:prstGeom>
        <a:solidFill>
          <a:schemeClr val="accent4">
            <a:hueOff val="11304738"/>
            <a:satOff val="-30397"/>
            <a:lumOff val="-180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Range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(celda)</a:t>
          </a:r>
        </a:p>
      </dsp:txBody>
      <dsp:txXfrm>
        <a:off x="2442316" y="2481530"/>
        <a:ext cx="1002689" cy="709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nomed.org/snomed-ct-practical-guides/snomed-ct-data-analytics-guide/9-database-queries/9.1-terminology-queries/9.1.2-snomed-ct-api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IHTSDO/SNOMED-in-5-minutes/tree/master?tab=readme-ov-fil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ispro.gov.co/WebPublico/Consultas/ConsultarDetalleReferenciaBasica.aspx?Code=CIE10" TargetMode="External"/><Relationship Id="rId2" Type="http://schemas.openxmlformats.org/officeDocument/2006/relationships/hyperlink" Target="https://clinicaltables.nlm.nih.gov/api/icd10cm/v3/search?sf=code,name&amp;terms=tuberc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Introducción a la programación en Visual Basic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Conceptos básicos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48B5A-92A2-4E21-9F4F-3B841307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effectLst/>
                <a:latin typeface="Times New Roman" panose="02020603050405020304" pitchFamily="18" charset="0"/>
              </a:rPr>
              <a:t>Microsoft Office Excel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4EDAAF-CD36-D203-E2A7-17912CBD6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116150"/>
            <a:ext cx="7038900" cy="2911200"/>
          </a:xfrm>
        </p:spPr>
        <p:txBody>
          <a:bodyPr>
            <a:noAutofit/>
          </a:bodyPr>
          <a:lstStyle/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Permite trabajar como aplicación de escritorio. Lo que se pretende es automatizar varias tareas y fusionarlas en una sola.</a:t>
            </a:r>
          </a:p>
          <a:p>
            <a:pPr algn="just"/>
            <a:endParaRPr lang="es-MX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En este segundo corte de estudio se abarcara y trabajará con aplicaciones de escritorio en VBA donde aprenderás a automatizar y realizar tareas complejas, aumentando la eficiencia y eficacia del trabajo.</a:t>
            </a:r>
          </a:p>
          <a:p>
            <a:pPr algn="just"/>
            <a:endParaRPr lang="es-MX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Términos que se utilizan cuando se crean Macros:</a:t>
            </a:r>
          </a:p>
          <a:p>
            <a:pPr marL="146050" indent="0" algn="just">
              <a:buNone/>
            </a:pP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	·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VBA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MX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Visual Basic para Aplicaciones, el lenguaje de código de macros.</a:t>
            </a:r>
            <a:br>
              <a:rPr lang="es-MX" sz="16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	·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Módulo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MX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Contenedor para almacenar macros, asociado a un libro.</a:t>
            </a:r>
            <a:endParaRPr lang="es-CO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84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A8F51-AE85-0356-7A45-0B739E29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latin typeface="Times New Roman" panose="02020603050405020304" pitchFamily="18" charset="0"/>
              </a:rPr>
              <a:t>Programa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latin typeface="Times New Roman" panose="02020603050405020304" pitchFamily="18" charset="0"/>
              </a:rPr>
              <a:t>PSeInt</a:t>
            </a:r>
            <a:br>
              <a:rPr lang="es-CO" dirty="0">
                <a:latin typeface="Times New Roman" panose="02020603050405020304" pitchFamily="18" charset="0"/>
              </a:rPr>
            </a:br>
            <a:endParaRPr lang="es-CO" dirty="0">
              <a:latin typeface="Times New Roman" panose="02020603050405020304" pitchFamily="18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D72AFA-C58B-9426-3D16-7943A2277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PSeInt es una herramienta que sirve como apoyo en sus primeros pasos en programación. Esta herramienta permite de manera simple e intuitiva desarrollar </a:t>
            </a:r>
            <a:r>
              <a:rPr lang="es-CO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pseudolenguaje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español (complementado el proceso con un </a:t>
            </a:r>
            <a:r>
              <a:rPr lang="es-CO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editor de diagramas de flujo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que sin duda alguna le permite entender los conceptos fundamentales de la algoritmia computacional. </a:t>
            </a:r>
          </a:p>
          <a:p>
            <a:pPr algn="just"/>
            <a:endParaRPr lang="es-CO" dirty="0"/>
          </a:p>
        </p:txBody>
      </p:sp>
      <p:pic>
        <p:nvPicPr>
          <p:cNvPr id="5" name="Imagen 4" descr="Un dibujo de una señal de alto&#10;&#10;Descripción generada automáticamente con confianza baja">
            <a:extLst>
              <a:ext uri="{FF2B5EF4-FFF2-40B4-BE49-F238E27FC236}">
                <a16:creationId xmlns:a16="http://schemas.microsoft.com/office/drawing/2014/main" id="{FA9BE032-1330-9B24-C3E5-78AB19170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133" y="3434270"/>
            <a:ext cx="1342327" cy="13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31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ECE65-6762-CA19-5916-A69586735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200" b="1" dirty="0">
                <a:latin typeface="Times New Roman" panose="02020603050405020304" pitchFamily="18" charset="0"/>
              </a:rPr>
              <a:t>Conceptos</a:t>
            </a:r>
            <a:r>
              <a:rPr lang="es-CO" b="1" dirty="0"/>
              <a:t> </a:t>
            </a:r>
            <a:r>
              <a:rPr lang="es-CO" sz="2200" b="1" dirty="0">
                <a:latin typeface="Times New Roman" panose="02020603050405020304" pitchFamily="18" charset="0"/>
              </a:rPr>
              <a:t>Iniciales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B969CB-375A-27A1-5802-CA311EF9F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Datos y variables</a:t>
            </a: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Tipos de datos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Asignación de variables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Operadores (matemáticos + * - )(lógicos and </a:t>
            </a:r>
            <a:r>
              <a:rPr lang="es-E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Xor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Entrada y salida de datos 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Condiciones Simples, anidadas, compuestos, múltiples</a:t>
            </a:r>
            <a:r>
              <a:rPr lang="es-E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 estructuras condicionales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Ciclos (mientras, repetir.. </a:t>
            </a:r>
            <a:r>
              <a:rPr lang="es-E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es-E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-&gt; estructuras repetitivas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4097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B6922-CBCD-FE88-694D-443CAD0A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200" b="1" dirty="0">
                <a:latin typeface="Times New Roman" panose="02020603050405020304" pitchFamily="18" charset="0"/>
              </a:rPr>
              <a:t>Programación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latin typeface="Times New Roman" panose="02020603050405020304" pitchFamily="18" charset="0"/>
              </a:rPr>
              <a:t>Visual Basic</a:t>
            </a:r>
            <a:b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4C3B80-5D03-8094-A802-A2282B061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 el uso de visual Basic se puede generar nuevos algoritmos para analizar y manipular datos, crear herramientas con el objetivo de optimizar procesos o implementar aplicaciones a la medida de las necesidades.</a:t>
            </a:r>
          </a:p>
          <a:p>
            <a:pPr marL="146050" indent="0" algn="just">
              <a:buNone/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Las aplicaciones creadas con Visual Basic están basadas en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objetos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 y son manejadas por </a:t>
            </a:r>
            <a:r>
              <a:rPr lang="es-CO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Eventos</a:t>
            </a: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684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80327-A506-1C3F-8EB2-A2B46B29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200" b="1" dirty="0">
                <a:latin typeface="Times New Roman" panose="02020603050405020304" pitchFamily="18" charset="0"/>
              </a:rPr>
              <a:t>Características de VBA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529E2B-5C4E-C4B7-0564-54C199A7A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Una parte esencial de la programación manejada por eventos es el implementar líneas de código que responda a los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posibles eventos 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que pueden ocurrir en el desarrollo de una aplicación en particular. Una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plicación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isual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asic facilita la implementación del modelo de programación manejada por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eventos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s-CO" dirty="0"/>
          </a:p>
        </p:txBody>
      </p:sp>
      <p:pic>
        <p:nvPicPr>
          <p:cNvPr id="5" name="Imagen 4" descr="Imagen que contiene dibujo, reloj&#10;&#10;Descripción generada automáticamente">
            <a:extLst>
              <a:ext uri="{FF2B5EF4-FFF2-40B4-BE49-F238E27FC236}">
                <a16:creationId xmlns:a16="http://schemas.microsoft.com/office/drawing/2014/main" id="{4C5D351D-2B49-CCEF-716D-5A6F05E6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44" y="3228005"/>
            <a:ext cx="3981450" cy="151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2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40196-7EBF-02B6-0D70-82D0BA91C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50" y="223796"/>
            <a:ext cx="7038900" cy="914100"/>
          </a:xfrm>
        </p:spPr>
        <p:txBody>
          <a:bodyPr/>
          <a:lstStyle/>
          <a:p>
            <a:r>
              <a:rPr lang="es-ES" sz="2200" b="1" dirty="0">
                <a:latin typeface="Times New Roman" panose="02020603050405020304" pitchFamily="18" charset="0"/>
              </a:rPr>
              <a:t>Aplicaciones con Visual Basic Excel</a:t>
            </a:r>
            <a:endParaRPr lang="es-CO" sz="2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DEAACE6-9683-9B9B-3970-42283945DA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7892836"/>
              </p:ext>
            </p:extLst>
          </p:nvPr>
        </p:nvGraphicFramePr>
        <p:xfrm>
          <a:off x="3832411" y="1137896"/>
          <a:ext cx="5887322" cy="354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A6D1F852-F914-51FB-2E3B-416B685C1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6504" y="143234"/>
            <a:ext cx="1765836" cy="93327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9A4169C-927E-8BAA-2A5D-9778FB598064}"/>
              </a:ext>
            </a:extLst>
          </p:cNvPr>
          <p:cNvSpPr txBox="1"/>
          <p:nvPr/>
        </p:nvSpPr>
        <p:spPr>
          <a:xfrm>
            <a:off x="12740" y="1302531"/>
            <a:ext cx="485948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Un lenguaje de programación integrado que permite automatizar tareas y ampliar las capacidades estándar de Office.</a:t>
            </a:r>
          </a:p>
          <a:p>
            <a:r>
              <a:rPr lang="es-ES" dirty="0">
                <a:solidFill>
                  <a:schemeClr val="bg1"/>
                </a:solidFill>
              </a:rPr>
              <a:t>Funciones Principales: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Automatización: Creación de macros para realizar tareas repetitivas con un solo clic.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Personalización: Diseño de funciones propias y formularios de usuario (</a:t>
            </a:r>
            <a:r>
              <a:rPr lang="es-ES" dirty="0" err="1">
                <a:solidFill>
                  <a:schemeClr val="bg1"/>
                </a:solidFill>
              </a:rPr>
              <a:t>UserForms</a:t>
            </a:r>
            <a:r>
              <a:rPr lang="es-ES" dirty="0">
                <a:solidFill>
                  <a:schemeClr val="bg1"/>
                </a:solidFill>
              </a:rPr>
              <a:t>) para una entrada de datos controlada.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Integración: Conexión y control de otras aplicaciones como Word, Outlook o PowerPoint.</a:t>
            </a:r>
          </a:p>
          <a:p>
            <a:r>
              <a:rPr lang="es-ES" dirty="0">
                <a:solidFill>
                  <a:schemeClr val="bg1"/>
                </a:solidFill>
              </a:rPr>
              <a:t>Aplicaciones Comunes: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Generación automática de informes y </a:t>
            </a:r>
            <a:r>
              <a:rPr lang="es-ES" dirty="0" err="1">
                <a:solidFill>
                  <a:schemeClr val="bg1"/>
                </a:solidFill>
              </a:rPr>
              <a:t>dashboards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Sistemas de gestión (inventarios, nóminas, facturación).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Limpieza y consolidación masiva de datos.</a:t>
            </a:r>
            <a:endParaRPr lang="es-41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595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60C42-0B74-CD70-0873-279D396C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200" b="1" dirty="0">
                <a:latin typeface="Times New Roman" panose="02020603050405020304" pitchFamily="18" charset="0"/>
              </a:rPr>
              <a:t>Métodos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C7EAD6-B3B4-1681-2385-B76EAB69F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Los métodos son un conjunto de procedimientos que permiten que un objeto ejecute una acción o tarea sobre sí mismo. Por ejemplo, para un formulario tenemos el método </a:t>
            </a:r>
            <a:r>
              <a:rPr lang="es-MX" sz="1800" b="1" dirty="0" err="1">
                <a:latin typeface="Calibri" panose="020F0502020204030204" pitchFamily="34" charset="0"/>
                <a:cs typeface="Times New Roman" panose="02020603050405020304" pitchFamily="18" charset="0"/>
              </a:rPr>
              <a:t>Hide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 que hará que el formulario se oculte; o el método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Show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 que hará que el formulario se vuelva a mostrar. 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3561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CC9AC-4352-8F88-364B-9B282B97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200" b="1" dirty="0">
                <a:latin typeface="Times New Roman" panose="02020603050405020304" pitchFamily="18" charset="0"/>
              </a:rPr>
              <a:t>Eventos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18E21D-9FDA-ED1F-0202-5332241A7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Un  evento es una acción que es reconocida por el objeto. Un evento ocurre (se dispara) como resultado de la interacción del usuario con el objeto. </a:t>
            </a:r>
          </a:p>
          <a:p>
            <a:pPr algn="just"/>
            <a:endParaRPr lang="es-MX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Programación controlada por eventos se lleva a cabo cuando usted escribe código que se ejecuta en respuesta a eventos invocados por el usuario. “El usuario acciona y el código responde”.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0450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FF3EE-6F28-0A96-4B77-9E869152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b="1" dirty="0"/>
              <a:t>Interoperabilidad y Estándares Clásicos: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14572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F2E16-8A03-1A62-2377-857CEEC9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D5934-F1E4-8F5B-193C-F05B91AD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effectLst/>
                <a:latin typeface="Times New Roman" panose="02020603050405020304" pitchFamily="18" charset="0"/>
              </a:rPr>
              <a:t>El problema de los "silos“ Sistemas Locales de Salud</a:t>
            </a:r>
            <a:endParaRPr lang="es-CO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634447C6-EBA7-832D-1905-E19786C798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C68349-FBF9-14B9-09BF-C97F35B9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624723"/>
            <a:ext cx="4259384" cy="2323301"/>
          </a:xfrm>
          <a:prstGeom prst="rect">
            <a:avLst/>
          </a:prstGeom>
        </p:spPr>
      </p:pic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238EC782-ABAA-9F4D-EBC7-9ED76EE615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07" r="2087"/>
          <a:stretch>
            <a:fillRect/>
          </a:stretch>
        </p:blipFill>
        <p:spPr>
          <a:xfrm>
            <a:off x="235881" y="1818066"/>
            <a:ext cx="4488519" cy="213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9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B55F-4E3F-110B-43A0-9460F97F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8F11E-F4CD-DEB6-AB6A-BFBF49A9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06" y="312020"/>
            <a:ext cx="4055232" cy="914100"/>
          </a:xfrm>
        </p:spPr>
        <p:txBody>
          <a:bodyPr>
            <a:normAutofit fontScale="90000"/>
          </a:bodyPr>
          <a:lstStyle/>
          <a:p>
            <a:pPr algn="ctr"/>
            <a:r>
              <a:rPr lang="es-419" dirty="0"/>
              <a:t> Estándares normativas </a:t>
            </a:r>
            <a:br>
              <a:rPr lang="es-419" dirty="0"/>
            </a:br>
            <a:r>
              <a:rPr lang="es-419" dirty="0"/>
              <a:t>Técnicas</a:t>
            </a:r>
            <a:br>
              <a:rPr lang="es-419" dirty="0"/>
            </a:br>
            <a:r>
              <a:rPr lang="es-419" dirty="0"/>
              <a:t>HL7 v2, v3  y API </a:t>
            </a:r>
            <a:endParaRPr lang="es-CO" dirty="0"/>
          </a:p>
        </p:txBody>
      </p:sp>
      <p:pic>
        <p:nvPicPr>
          <p:cNvPr id="2050" name="Picture 2" descr="FHIR vs HL7: A Detailed Guide with Practical Examples">
            <a:extLst>
              <a:ext uri="{FF2B5EF4-FFF2-40B4-BE49-F238E27FC236}">
                <a16:creationId xmlns:a16="http://schemas.microsoft.com/office/drawing/2014/main" id="{D8B70547-906A-B0E4-F2E9-1D26FADF0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002" y="2664374"/>
            <a:ext cx="3886871" cy="247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EE250CC-39E5-77F1-D8BF-A04064ED1546}"/>
              </a:ext>
            </a:extLst>
          </p:cNvPr>
          <p:cNvSpPr txBox="1"/>
          <p:nvPr/>
        </p:nvSpPr>
        <p:spPr>
          <a:xfrm>
            <a:off x="458241" y="1763959"/>
            <a:ext cx="278606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HL7 v2 y v3 son estándares de interoperabilidad para el intercambio de datos sanitarios. </a:t>
            </a:r>
            <a:r>
              <a:rPr lang="es-ES" b="1" i="0" dirty="0">
                <a:solidFill>
                  <a:schemeClr val="bg1"/>
                </a:solidFill>
                <a:effectLst/>
                <a:latin typeface="Google Sans"/>
              </a:rPr>
              <a:t>HL7 v2</a:t>
            </a:r>
            <a:r>
              <a:rPr lang="es-ES" b="0" i="0" dirty="0">
                <a:solidFill>
                  <a:schemeClr val="bg1"/>
                </a:solidFill>
                <a:effectLst/>
                <a:latin typeface="Google Sans"/>
              </a:rPr>
              <a:t> es el más utilizado, basa sus mensajes en texto plano, flexible pero con variaciones entre implementaciones. </a:t>
            </a:r>
            <a:r>
              <a:rPr lang="es-ES" b="1" i="0" dirty="0">
                <a:solidFill>
                  <a:schemeClr val="bg1"/>
                </a:solidFill>
                <a:effectLst/>
                <a:latin typeface="Google Sans"/>
              </a:rPr>
              <a:t>HL7 v3</a:t>
            </a:r>
            <a:r>
              <a:rPr lang="es-ES" b="0" i="0" dirty="0">
                <a:solidFill>
                  <a:schemeClr val="bg1"/>
                </a:solidFill>
                <a:effectLst/>
                <a:latin typeface="Google Sans"/>
              </a:rPr>
              <a:t> es más robusto y estructurado (usando XML), basado en un Modelo de Información de Referencia (RIM),</a:t>
            </a:r>
            <a:endParaRPr lang="es-419" dirty="0">
              <a:solidFill>
                <a:schemeClr val="bg1"/>
              </a:solidFill>
            </a:endParaRPr>
          </a:p>
        </p:txBody>
      </p:sp>
      <p:pic>
        <p:nvPicPr>
          <p:cNvPr id="8" name="Imagen 7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CF87101A-0417-362A-B66E-5823C44E0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002" y="92624"/>
            <a:ext cx="3886871" cy="259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34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AC1C-76C3-25E6-DFDB-42FAD0EE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50" y="710418"/>
            <a:ext cx="7038900" cy="914100"/>
          </a:xfrm>
        </p:spPr>
        <p:txBody>
          <a:bodyPr>
            <a:noAutofit/>
          </a:bodyPr>
          <a:lstStyle/>
          <a:p>
            <a:r>
              <a:rPr lang="es-419" sz="1600" dirty="0"/>
              <a:t>SNOMED</a:t>
            </a:r>
            <a:br>
              <a:rPr lang="es-419" sz="1600" dirty="0"/>
            </a:br>
            <a:r>
              <a:rPr lang="en-US" sz="1600" dirty="0"/>
              <a:t>Systematized Nomenclature of Medicine - Clinical Terms</a:t>
            </a:r>
            <a:endParaRPr lang="es-419" sz="1600" dirty="0"/>
          </a:p>
        </p:txBody>
      </p:sp>
      <p:pic>
        <p:nvPicPr>
          <p:cNvPr id="1026" name="Picture 2" descr="Descripción general de alto nivel de qué es SNOMED CT – KW Foundation">
            <a:extLst>
              <a:ext uri="{FF2B5EF4-FFF2-40B4-BE49-F238E27FC236}">
                <a16:creationId xmlns:a16="http://schemas.microsoft.com/office/drawing/2014/main" id="{E4F9C6A5-A4FC-93EF-C120-0AEAED391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837" y="331254"/>
            <a:ext cx="4006142" cy="117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4879FD7-751B-82B0-7AC2-F0E37DF4FC52}"/>
              </a:ext>
            </a:extLst>
          </p:cNvPr>
          <p:cNvSpPr txBox="1"/>
          <p:nvPr/>
        </p:nvSpPr>
        <p:spPr>
          <a:xfrm>
            <a:off x="621041" y="3779732"/>
            <a:ext cx="71998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hlinkClick r:id="rId3"/>
              </a:rPr>
              <a:t>https://docs.snomed.org/snomed-ct-practical-guides/snomed-ct-data-analytics-guide/9-database-queries/9.1-terminology-queries/9.1.2-snomed-ct-apis</a:t>
            </a:r>
            <a:endParaRPr lang="es-419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419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hlinkClick r:id="rId4"/>
              </a:rPr>
              <a:t>https://github.com/IHTSDO/SNOMED-in-5-minutes/tree/master?tab=readme-ov-file</a:t>
            </a:r>
            <a:endParaRPr lang="es-419" dirty="0"/>
          </a:p>
          <a:p>
            <a:endParaRPr lang="es-419" dirty="0"/>
          </a:p>
          <a:p>
            <a:endParaRPr lang="es-419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745154FE-6E69-031A-F778-195D65926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4786" y="1506754"/>
            <a:ext cx="503137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Traductor Universal: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Estandariza términos médicos para que diferentes sistemas de salud "hablen" el mismo idioma (Interoperabilidad).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Precisión Clínica: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Usa códigos únicos para conceptos, síntomas y procedimientos, evitando confusiones por sinónimos.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 Inteligente: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Conecta datos de forma lógica (ej. vincula "Neumonía" con "Enfermedad Pulmonar") para organizar mejor la información.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Global y Flexible: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Funciona en cualquier idioma y se integra en cualquier 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software, rompiendo los silos de datos.</a:t>
            </a:r>
          </a:p>
        </p:txBody>
      </p:sp>
    </p:spTree>
    <p:extLst>
      <p:ext uri="{BB962C8B-B14F-4D97-AF65-F5344CB8AC3E}">
        <p14:creationId xmlns:p14="http://schemas.microsoft.com/office/powerpoint/2010/main" val="2941816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B3771-4B39-6724-32D4-64D18FAF0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628700"/>
            <a:ext cx="7038900" cy="914100"/>
          </a:xfrm>
        </p:spPr>
        <p:txBody>
          <a:bodyPr>
            <a:normAutofit fontScale="90000"/>
          </a:bodyPr>
          <a:lstStyle/>
          <a:p>
            <a:r>
              <a:rPr lang="es-419" dirty="0"/>
              <a:t>CIE-10(Clasificación Internacional de Enfermedades) OMS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C93AF0-B136-6986-371E-65B7E62FC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1921" y="3771899"/>
            <a:ext cx="7038900" cy="914100"/>
          </a:xfrm>
        </p:spPr>
        <p:txBody>
          <a:bodyPr>
            <a:normAutofit fontScale="85000" lnSpcReduction="10000"/>
          </a:bodyPr>
          <a:lstStyle/>
          <a:p>
            <a:endParaRPr lang="es-419" dirty="0">
              <a:hlinkClick r:id="rId2"/>
            </a:endParaRPr>
          </a:p>
          <a:p>
            <a:r>
              <a:rPr lang="es-419" dirty="0">
                <a:hlinkClick r:id="rId2"/>
              </a:rPr>
              <a:t>https://clinicaltables.nlm.nih.gov/api/icd10cm/v3/search?sf=code,name&amp;terms=tuberc</a:t>
            </a:r>
            <a:r>
              <a:rPr lang="es-419" dirty="0"/>
              <a:t>    </a:t>
            </a:r>
            <a:r>
              <a:rPr lang="es-419" dirty="0" err="1"/>
              <a:t>asthma</a:t>
            </a:r>
            <a:endParaRPr lang="es-419" dirty="0"/>
          </a:p>
          <a:p>
            <a:r>
              <a:rPr lang="es-419" dirty="0">
                <a:hlinkClick r:id="rId3"/>
              </a:rPr>
              <a:t>https://web.sispro.gov.co/WebPublico/Consultas/ConsultarDetalleReferenciaBasica.aspx?Code=CIE10</a:t>
            </a:r>
            <a:endParaRPr lang="es-419" dirty="0"/>
          </a:p>
          <a:p>
            <a:endParaRPr lang="es-419" dirty="0"/>
          </a:p>
          <a:p>
            <a:endParaRPr lang="es-419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4DA1008-F4B8-D1B9-A007-30E002561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847" y="1542800"/>
            <a:ext cx="445213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Clasificación por categorías: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Agrupa patologías y motivos de consulta en códigos alfanuméricos específicos.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Enfoque estadístico: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Su función principal es recopilar datos sobre mortalidad y morbilidad para salud pública.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Estructura rígida: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Se basa en una lista jerárquica predefinida que facilita la auditoría y facturación médica.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Finalidad administrativa: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Permite generar reportes epidemiológicos y gestionar el reembolso de servicios de salud.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Estándar de reporte: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Es el lenguaje oficial para informar diagnósticos finales a organismos reguladores y aseguradoras.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9E8AB90-4D31-84D6-96E2-195364B544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FAE09E-D992-C9FD-2958-873CBB9EF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568" y="1644461"/>
            <a:ext cx="3395474" cy="18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95532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914</Words>
  <Application>Microsoft Office PowerPoint</Application>
  <PresentationFormat>Presentación en pantalla (16:9)</PresentationFormat>
  <Paragraphs>69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Montserrat</vt:lpstr>
      <vt:lpstr>Lato</vt:lpstr>
      <vt:lpstr>Google Sans</vt:lpstr>
      <vt:lpstr>Times New Roman</vt:lpstr>
      <vt:lpstr>Arial</vt:lpstr>
      <vt:lpstr>Calibri</vt:lpstr>
      <vt:lpstr>Focus</vt:lpstr>
      <vt:lpstr>Introducción a la programación en Visual Basic</vt:lpstr>
      <vt:lpstr>Microsoft Office Excel</vt:lpstr>
      <vt:lpstr>Programa PSeInt </vt:lpstr>
      <vt:lpstr>Conceptos Iniciales</vt:lpstr>
      <vt:lpstr>Programación Visual Basic </vt:lpstr>
      <vt:lpstr>Características de VBA</vt:lpstr>
      <vt:lpstr>Aplicaciones con Visual Basic Excel</vt:lpstr>
      <vt:lpstr>Métodos</vt:lpstr>
      <vt:lpstr>Eventos</vt:lpstr>
      <vt:lpstr>Interoperabilidad y Estándares Clásicos:</vt:lpstr>
      <vt:lpstr>El problema de los "silos“ Sistemas Locales de Salud</vt:lpstr>
      <vt:lpstr> Estándares normativas  Técnicas HL7 v2, v3  y API </vt:lpstr>
      <vt:lpstr>SNOMED Systematized Nomenclature of Medicine - Clinical Terms</vt:lpstr>
      <vt:lpstr>CIE-10(Clasificación Internacional de Enfermedades) OMS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 en Visual Basic</dc:title>
  <dc:creator>pedro antonio aya parra</dc:creator>
  <cp:lastModifiedBy>Jefferson Steven Sarmiento Rojas</cp:lastModifiedBy>
  <cp:revision>12</cp:revision>
  <dcterms:modified xsi:type="dcterms:W3CDTF">2026-03-04T15:07:23Z</dcterms:modified>
</cp:coreProperties>
</file>