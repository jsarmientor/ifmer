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3" r:id="rId3"/>
    <p:sldId id="274" r:id="rId4"/>
    <p:sldId id="276" r:id="rId5"/>
    <p:sldId id="280" r:id="rId6"/>
    <p:sldId id="269" r:id="rId7"/>
    <p:sldId id="275" r:id="rId8"/>
    <p:sldId id="258" r:id="rId9"/>
    <p:sldId id="259" r:id="rId10"/>
    <p:sldId id="260" r:id="rId11"/>
    <p:sldId id="266" r:id="rId12"/>
    <p:sldId id="261" r:id="rId13"/>
    <p:sldId id="267" r:id="rId14"/>
    <p:sldId id="268" r:id="rId15"/>
    <p:sldId id="262" r:id="rId16"/>
    <p:sldId id="263" r:id="rId17"/>
    <p:sldId id="270" r:id="rId18"/>
    <p:sldId id="265" r:id="rId19"/>
    <p:sldId id="281" r:id="rId2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PT Sans Narrow" panose="020B050602020302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C844C-35C8-4EFF-8B80-F462D3F8E12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ES"/>
        </a:p>
      </dgm:t>
    </dgm:pt>
    <dgm:pt modelId="{4163250C-A9D6-47D5-99F7-DB74E5385A3D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Base de datos </a:t>
          </a:r>
        </a:p>
      </dgm:t>
    </dgm:pt>
    <dgm:pt modelId="{68A7B97C-472B-4BB7-9221-24AECA8924CE}" type="parTrans" cxnId="{C7442855-127C-497A-BD9B-94A78B1A3F9E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217B7EB0-A448-43C1-A369-B4579D9F6D1D}" type="sibTrans" cxnId="{C7442855-127C-497A-BD9B-94A78B1A3F9E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2E55EEB3-8397-4ABF-8E1C-EB29FE977A1D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Conjunto de datos interrelacionados</a:t>
          </a:r>
        </a:p>
      </dgm:t>
    </dgm:pt>
    <dgm:pt modelId="{9F48B437-3E96-4B7C-8FA5-76E0FEA70271}" type="parTrans" cxnId="{DC6F94F8-80E6-494E-BB60-CB45E24814A0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67DDC3D3-1FDE-413B-8EC6-2B5538E69383}" type="sibTrans" cxnId="{DC6F94F8-80E6-494E-BB60-CB45E24814A0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1F3544E7-4605-40BC-95D4-0635F0A7146E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Sin Redundancia </a:t>
          </a:r>
        </a:p>
      </dgm:t>
    </dgm:pt>
    <dgm:pt modelId="{58B722F9-4D96-4FB4-A337-242F2A2044A9}" type="parTrans" cxnId="{F44C4CAF-410B-4517-908A-2D5207120A6B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6FCAEA52-E71F-4B6E-B86C-53CC53BBC261}" type="sibTrans" cxnId="{F44C4CAF-410B-4517-908A-2D5207120A6B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15CC0B12-16A4-4C24-BF3F-CDF862229943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Modificables</a:t>
          </a:r>
        </a:p>
      </dgm:t>
    </dgm:pt>
    <dgm:pt modelId="{372A8DFE-D50F-4096-8207-0C2FBD7B74ED}" type="parTrans" cxnId="{770D1A26-8635-431A-B113-F99DE189CCFF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A3018964-ECE4-4696-816C-ABE1279CF896}" type="sibTrans" cxnId="{770D1A26-8635-431A-B113-F99DE189CCFF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F5293126-E0F4-442D-85A8-6EE6FD7BA9F3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Independencia</a:t>
          </a:r>
        </a:p>
      </dgm:t>
    </dgm:pt>
    <dgm:pt modelId="{C66383F8-EB5B-4FFD-99C3-FF2F3086C80A}" type="parTrans" cxnId="{098BEF90-957D-4D95-8A98-5801B9E8DA67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520447A4-C4FB-487A-A18F-7AA0A83F5D64}" type="sibTrans" cxnId="{098BEF90-957D-4D95-8A98-5801B9E8DA67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1A05F488-2597-4367-9248-C94FA338CDF8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Software </a:t>
          </a:r>
        </a:p>
      </dgm:t>
    </dgm:pt>
    <dgm:pt modelId="{C65D91AB-7C16-4027-9C5B-7FAA68A05610}" type="parTrans" cxnId="{D378CA80-4F2C-461D-8775-EC06AC785C2A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9E322FA6-CFF5-4429-B6AD-B95590410E9E}" type="sibTrans" cxnId="{D378CA80-4F2C-461D-8775-EC06AC785C2A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26AA69E5-DC9E-479F-81DE-74F3E7DA8407}">
      <dgm:prSet phldrT="[Texto]"/>
      <dgm:spPr/>
      <dgm:t>
        <a:bodyPr/>
        <a:lstStyle/>
        <a:p>
          <a:r>
            <a:rPr lang="es-ES" dirty="0">
              <a:solidFill>
                <a:schemeClr val="bg2">
                  <a:lumMod val="50000"/>
                </a:schemeClr>
              </a:solidFill>
            </a:rPr>
            <a:t>Aplicación</a:t>
          </a:r>
        </a:p>
      </dgm:t>
    </dgm:pt>
    <dgm:pt modelId="{B4A09CA6-F7AE-4108-9583-3E7A65DAFC8E}" type="parTrans" cxnId="{16183985-03DA-4533-AB9C-B9F0491CD4A5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D831C2D5-CC2B-4EC5-B2E2-CC81DB3C4FFC}" type="sibTrans" cxnId="{16183985-03DA-4533-AB9C-B9F0491CD4A5}">
      <dgm:prSet/>
      <dgm:spPr/>
      <dgm:t>
        <a:bodyPr/>
        <a:lstStyle/>
        <a:p>
          <a:endParaRPr lang="es-ES">
            <a:solidFill>
              <a:schemeClr val="bg2">
                <a:lumMod val="50000"/>
              </a:schemeClr>
            </a:solidFill>
          </a:endParaRPr>
        </a:p>
      </dgm:t>
    </dgm:pt>
    <dgm:pt modelId="{710BBD83-69A9-495F-BD43-E98AFFD94B27}" type="pres">
      <dgm:prSet presAssocID="{7E5C844C-35C8-4EFF-8B80-F462D3F8E12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11396AD-C425-487E-B71F-73F5A87BDBBC}" type="pres">
      <dgm:prSet presAssocID="{4163250C-A9D6-47D5-99F7-DB74E5385A3D}" presName="root1" presStyleCnt="0"/>
      <dgm:spPr/>
    </dgm:pt>
    <dgm:pt modelId="{AD0B86CD-71C7-4CB5-B177-8B9F3C843812}" type="pres">
      <dgm:prSet presAssocID="{4163250C-A9D6-47D5-99F7-DB74E5385A3D}" presName="LevelOneTextNode" presStyleLbl="node0" presStyleIdx="0" presStyleCnt="1">
        <dgm:presLayoutVars>
          <dgm:chPref val="3"/>
        </dgm:presLayoutVars>
      </dgm:prSet>
      <dgm:spPr/>
    </dgm:pt>
    <dgm:pt modelId="{63A0FAB5-ACDA-40F7-8EC5-7860EE6B968D}" type="pres">
      <dgm:prSet presAssocID="{4163250C-A9D6-47D5-99F7-DB74E5385A3D}" presName="level2hierChild" presStyleCnt="0"/>
      <dgm:spPr/>
    </dgm:pt>
    <dgm:pt modelId="{19254008-7278-4275-9BF2-ADD7EBEECA6E}" type="pres">
      <dgm:prSet presAssocID="{9F48B437-3E96-4B7C-8FA5-76E0FEA70271}" presName="conn2-1" presStyleLbl="parChTrans1D2" presStyleIdx="0" presStyleCnt="2"/>
      <dgm:spPr/>
    </dgm:pt>
    <dgm:pt modelId="{E9161E60-EFA6-4645-9A74-5A922EBE3158}" type="pres">
      <dgm:prSet presAssocID="{9F48B437-3E96-4B7C-8FA5-76E0FEA70271}" presName="connTx" presStyleLbl="parChTrans1D2" presStyleIdx="0" presStyleCnt="2"/>
      <dgm:spPr/>
    </dgm:pt>
    <dgm:pt modelId="{C0C6599A-EE56-4EAD-B288-5B028769BB82}" type="pres">
      <dgm:prSet presAssocID="{2E55EEB3-8397-4ABF-8E1C-EB29FE977A1D}" presName="root2" presStyleCnt="0"/>
      <dgm:spPr/>
    </dgm:pt>
    <dgm:pt modelId="{DD112103-244D-4B31-B87C-06CDBD44FA58}" type="pres">
      <dgm:prSet presAssocID="{2E55EEB3-8397-4ABF-8E1C-EB29FE977A1D}" presName="LevelTwoTextNode" presStyleLbl="node2" presStyleIdx="0" presStyleCnt="2">
        <dgm:presLayoutVars>
          <dgm:chPref val="3"/>
        </dgm:presLayoutVars>
      </dgm:prSet>
      <dgm:spPr/>
    </dgm:pt>
    <dgm:pt modelId="{F26EDBEA-75A4-48B4-AF29-20D95F7ECA83}" type="pres">
      <dgm:prSet presAssocID="{2E55EEB3-8397-4ABF-8E1C-EB29FE977A1D}" presName="level3hierChild" presStyleCnt="0"/>
      <dgm:spPr/>
    </dgm:pt>
    <dgm:pt modelId="{D0DECC41-C589-418F-95F8-B40262509FE0}" type="pres">
      <dgm:prSet presAssocID="{58B722F9-4D96-4FB4-A337-242F2A2044A9}" presName="conn2-1" presStyleLbl="parChTrans1D3" presStyleIdx="0" presStyleCnt="4"/>
      <dgm:spPr/>
    </dgm:pt>
    <dgm:pt modelId="{38987143-D841-455E-AD10-99AE20BF7CBD}" type="pres">
      <dgm:prSet presAssocID="{58B722F9-4D96-4FB4-A337-242F2A2044A9}" presName="connTx" presStyleLbl="parChTrans1D3" presStyleIdx="0" presStyleCnt="4"/>
      <dgm:spPr/>
    </dgm:pt>
    <dgm:pt modelId="{04825792-4905-43A2-B721-7A6B74E8805D}" type="pres">
      <dgm:prSet presAssocID="{1F3544E7-4605-40BC-95D4-0635F0A7146E}" presName="root2" presStyleCnt="0"/>
      <dgm:spPr/>
    </dgm:pt>
    <dgm:pt modelId="{A9AAE3CC-0BF0-41D5-B87C-A6868CE840F1}" type="pres">
      <dgm:prSet presAssocID="{1F3544E7-4605-40BC-95D4-0635F0A7146E}" presName="LevelTwoTextNode" presStyleLbl="node3" presStyleIdx="0" presStyleCnt="4">
        <dgm:presLayoutVars>
          <dgm:chPref val="3"/>
        </dgm:presLayoutVars>
      </dgm:prSet>
      <dgm:spPr/>
    </dgm:pt>
    <dgm:pt modelId="{8E47741F-8B76-4133-AA80-4200F2F73968}" type="pres">
      <dgm:prSet presAssocID="{1F3544E7-4605-40BC-95D4-0635F0A7146E}" presName="level3hierChild" presStyleCnt="0"/>
      <dgm:spPr/>
    </dgm:pt>
    <dgm:pt modelId="{F84731D7-B52F-4D4B-B522-70B25896C20B}" type="pres">
      <dgm:prSet presAssocID="{372A8DFE-D50F-4096-8207-0C2FBD7B74ED}" presName="conn2-1" presStyleLbl="parChTrans1D3" presStyleIdx="1" presStyleCnt="4"/>
      <dgm:spPr/>
    </dgm:pt>
    <dgm:pt modelId="{89F53465-28E2-4C4D-9BC6-ED3DC8D245EE}" type="pres">
      <dgm:prSet presAssocID="{372A8DFE-D50F-4096-8207-0C2FBD7B74ED}" presName="connTx" presStyleLbl="parChTrans1D3" presStyleIdx="1" presStyleCnt="4"/>
      <dgm:spPr/>
    </dgm:pt>
    <dgm:pt modelId="{30BDD1E9-977B-4577-8165-ED10B3CD82E6}" type="pres">
      <dgm:prSet presAssocID="{15CC0B12-16A4-4C24-BF3F-CDF862229943}" presName="root2" presStyleCnt="0"/>
      <dgm:spPr/>
    </dgm:pt>
    <dgm:pt modelId="{1C29CADC-E768-470E-9C41-B816086D91EE}" type="pres">
      <dgm:prSet presAssocID="{15CC0B12-16A4-4C24-BF3F-CDF862229943}" presName="LevelTwoTextNode" presStyleLbl="node3" presStyleIdx="1" presStyleCnt="4">
        <dgm:presLayoutVars>
          <dgm:chPref val="3"/>
        </dgm:presLayoutVars>
      </dgm:prSet>
      <dgm:spPr/>
    </dgm:pt>
    <dgm:pt modelId="{81833DDC-6763-4EDE-AFAF-038D2F3ED582}" type="pres">
      <dgm:prSet presAssocID="{15CC0B12-16A4-4C24-BF3F-CDF862229943}" presName="level3hierChild" presStyleCnt="0"/>
      <dgm:spPr/>
    </dgm:pt>
    <dgm:pt modelId="{206D4259-8B84-4CCA-A623-D8AF1ABE4F38}" type="pres">
      <dgm:prSet presAssocID="{C66383F8-EB5B-4FFD-99C3-FF2F3086C80A}" presName="conn2-1" presStyleLbl="parChTrans1D2" presStyleIdx="1" presStyleCnt="2"/>
      <dgm:spPr/>
    </dgm:pt>
    <dgm:pt modelId="{3C766CBF-2D9F-47CB-9AA6-7152AAF25019}" type="pres">
      <dgm:prSet presAssocID="{C66383F8-EB5B-4FFD-99C3-FF2F3086C80A}" presName="connTx" presStyleLbl="parChTrans1D2" presStyleIdx="1" presStyleCnt="2"/>
      <dgm:spPr/>
    </dgm:pt>
    <dgm:pt modelId="{25BC52E0-AAD5-46A4-97D3-95109B5FD310}" type="pres">
      <dgm:prSet presAssocID="{F5293126-E0F4-442D-85A8-6EE6FD7BA9F3}" presName="root2" presStyleCnt="0"/>
      <dgm:spPr/>
    </dgm:pt>
    <dgm:pt modelId="{2F2B7096-7F35-48C9-BF75-EF3BE84790E4}" type="pres">
      <dgm:prSet presAssocID="{F5293126-E0F4-442D-85A8-6EE6FD7BA9F3}" presName="LevelTwoTextNode" presStyleLbl="node2" presStyleIdx="1" presStyleCnt="2">
        <dgm:presLayoutVars>
          <dgm:chPref val="3"/>
        </dgm:presLayoutVars>
      </dgm:prSet>
      <dgm:spPr/>
    </dgm:pt>
    <dgm:pt modelId="{7FD233EA-7CFD-4BCF-8EC0-AAC70D5AD8D1}" type="pres">
      <dgm:prSet presAssocID="{F5293126-E0F4-442D-85A8-6EE6FD7BA9F3}" presName="level3hierChild" presStyleCnt="0"/>
      <dgm:spPr/>
    </dgm:pt>
    <dgm:pt modelId="{3D51FC7E-DECF-4E16-A466-5DB6C6887B89}" type="pres">
      <dgm:prSet presAssocID="{C65D91AB-7C16-4027-9C5B-7FAA68A05610}" presName="conn2-1" presStyleLbl="parChTrans1D3" presStyleIdx="2" presStyleCnt="4"/>
      <dgm:spPr/>
    </dgm:pt>
    <dgm:pt modelId="{A738AF76-1B68-452E-A882-90E00240E8B6}" type="pres">
      <dgm:prSet presAssocID="{C65D91AB-7C16-4027-9C5B-7FAA68A05610}" presName="connTx" presStyleLbl="parChTrans1D3" presStyleIdx="2" presStyleCnt="4"/>
      <dgm:spPr/>
    </dgm:pt>
    <dgm:pt modelId="{DDF85661-EFE2-4049-B963-1704E081D597}" type="pres">
      <dgm:prSet presAssocID="{1A05F488-2597-4367-9248-C94FA338CDF8}" presName="root2" presStyleCnt="0"/>
      <dgm:spPr/>
    </dgm:pt>
    <dgm:pt modelId="{D1B9C68D-C3B2-41CF-9CDC-3C19D78798DF}" type="pres">
      <dgm:prSet presAssocID="{1A05F488-2597-4367-9248-C94FA338CDF8}" presName="LevelTwoTextNode" presStyleLbl="node3" presStyleIdx="2" presStyleCnt="4">
        <dgm:presLayoutVars>
          <dgm:chPref val="3"/>
        </dgm:presLayoutVars>
      </dgm:prSet>
      <dgm:spPr/>
    </dgm:pt>
    <dgm:pt modelId="{77DAED29-A296-4306-A00B-F4F8318FF1EB}" type="pres">
      <dgm:prSet presAssocID="{1A05F488-2597-4367-9248-C94FA338CDF8}" presName="level3hierChild" presStyleCnt="0"/>
      <dgm:spPr/>
    </dgm:pt>
    <dgm:pt modelId="{FA948BA8-3203-42E5-9378-E69DD368E84E}" type="pres">
      <dgm:prSet presAssocID="{B4A09CA6-F7AE-4108-9583-3E7A65DAFC8E}" presName="conn2-1" presStyleLbl="parChTrans1D3" presStyleIdx="3" presStyleCnt="4"/>
      <dgm:spPr/>
    </dgm:pt>
    <dgm:pt modelId="{F92C32BC-AFD6-41E4-B482-247A8B38176E}" type="pres">
      <dgm:prSet presAssocID="{B4A09CA6-F7AE-4108-9583-3E7A65DAFC8E}" presName="connTx" presStyleLbl="parChTrans1D3" presStyleIdx="3" presStyleCnt="4"/>
      <dgm:spPr/>
    </dgm:pt>
    <dgm:pt modelId="{362C0D68-0919-4BE4-800C-EFB5CB5D12F4}" type="pres">
      <dgm:prSet presAssocID="{26AA69E5-DC9E-479F-81DE-74F3E7DA8407}" presName="root2" presStyleCnt="0"/>
      <dgm:spPr/>
    </dgm:pt>
    <dgm:pt modelId="{4E82EE00-8ED4-443E-8711-C1EB0D519380}" type="pres">
      <dgm:prSet presAssocID="{26AA69E5-DC9E-479F-81DE-74F3E7DA8407}" presName="LevelTwoTextNode" presStyleLbl="node3" presStyleIdx="3" presStyleCnt="4">
        <dgm:presLayoutVars>
          <dgm:chPref val="3"/>
        </dgm:presLayoutVars>
      </dgm:prSet>
      <dgm:spPr/>
    </dgm:pt>
    <dgm:pt modelId="{9B4D2EED-89D8-4458-8134-0329F2A95D61}" type="pres">
      <dgm:prSet presAssocID="{26AA69E5-DC9E-479F-81DE-74F3E7DA8407}" presName="level3hierChild" presStyleCnt="0"/>
      <dgm:spPr/>
    </dgm:pt>
  </dgm:ptLst>
  <dgm:cxnLst>
    <dgm:cxn modelId="{A298D612-4EAA-4BD2-844B-6840CB57333E}" type="presOf" srcId="{15CC0B12-16A4-4C24-BF3F-CDF862229943}" destId="{1C29CADC-E768-470E-9C41-B816086D91EE}" srcOrd="0" destOrd="0" presId="urn:microsoft.com/office/officeart/2005/8/layout/hierarchy2"/>
    <dgm:cxn modelId="{34CA811F-B232-4FB7-B178-0478D8C231EB}" type="presOf" srcId="{26AA69E5-DC9E-479F-81DE-74F3E7DA8407}" destId="{4E82EE00-8ED4-443E-8711-C1EB0D519380}" srcOrd="0" destOrd="0" presId="urn:microsoft.com/office/officeart/2005/8/layout/hierarchy2"/>
    <dgm:cxn modelId="{FDB2AC23-0504-4AA0-BE12-BD8BEA3D417A}" type="presOf" srcId="{372A8DFE-D50F-4096-8207-0C2FBD7B74ED}" destId="{89F53465-28E2-4C4D-9BC6-ED3DC8D245EE}" srcOrd="1" destOrd="0" presId="urn:microsoft.com/office/officeart/2005/8/layout/hierarchy2"/>
    <dgm:cxn modelId="{770D1A26-8635-431A-B113-F99DE189CCFF}" srcId="{2E55EEB3-8397-4ABF-8E1C-EB29FE977A1D}" destId="{15CC0B12-16A4-4C24-BF3F-CDF862229943}" srcOrd="1" destOrd="0" parTransId="{372A8DFE-D50F-4096-8207-0C2FBD7B74ED}" sibTransId="{A3018964-ECE4-4696-816C-ABE1279CF896}"/>
    <dgm:cxn modelId="{EA70EA27-858D-4837-82D0-0D89E4E2D216}" type="presOf" srcId="{1F3544E7-4605-40BC-95D4-0635F0A7146E}" destId="{A9AAE3CC-0BF0-41D5-B87C-A6868CE840F1}" srcOrd="0" destOrd="0" presId="urn:microsoft.com/office/officeart/2005/8/layout/hierarchy2"/>
    <dgm:cxn modelId="{83686A2A-9F2B-443B-BA5D-A5A09FEBB599}" type="presOf" srcId="{C65D91AB-7C16-4027-9C5B-7FAA68A05610}" destId="{A738AF76-1B68-452E-A882-90E00240E8B6}" srcOrd="1" destOrd="0" presId="urn:microsoft.com/office/officeart/2005/8/layout/hierarchy2"/>
    <dgm:cxn modelId="{87C0F134-9472-4070-82E9-21FD10147BF0}" type="presOf" srcId="{F5293126-E0F4-442D-85A8-6EE6FD7BA9F3}" destId="{2F2B7096-7F35-48C9-BF75-EF3BE84790E4}" srcOrd="0" destOrd="0" presId="urn:microsoft.com/office/officeart/2005/8/layout/hierarchy2"/>
    <dgm:cxn modelId="{F752E637-F260-4013-9561-7C5822197284}" type="presOf" srcId="{9F48B437-3E96-4B7C-8FA5-76E0FEA70271}" destId="{19254008-7278-4275-9BF2-ADD7EBEECA6E}" srcOrd="0" destOrd="0" presId="urn:microsoft.com/office/officeart/2005/8/layout/hierarchy2"/>
    <dgm:cxn modelId="{769EF73C-0CC0-4155-9711-B262C17089BE}" type="presOf" srcId="{1A05F488-2597-4367-9248-C94FA338CDF8}" destId="{D1B9C68D-C3B2-41CF-9CDC-3C19D78798DF}" srcOrd="0" destOrd="0" presId="urn:microsoft.com/office/officeart/2005/8/layout/hierarchy2"/>
    <dgm:cxn modelId="{FB521C43-15A6-40BD-896A-9868A652C979}" type="presOf" srcId="{4163250C-A9D6-47D5-99F7-DB74E5385A3D}" destId="{AD0B86CD-71C7-4CB5-B177-8B9F3C843812}" srcOrd="0" destOrd="0" presId="urn:microsoft.com/office/officeart/2005/8/layout/hierarchy2"/>
    <dgm:cxn modelId="{F8D89043-FE6F-47C5-AB1B-90614173F933}" type="presOf" srcId="{C65D91AB-7C16-4027-9C5B-7FAA68A05610}" destId="{3D51FC7E-DECF-4E16-A466-5DB6C6887B89}" srcOrd="0" destOrd="0" presId="urn:microsoft.com/office/officeart/2005/8/layout/hierarchy2"/>
    <dgm:cxn modelId="{3060006F-062D-4019-97DA-41323A692D06}" type="presOf" srcId="{58B722F9-4D96-4FB4-A337-242F2A2044A9}" destId="{38987143-D841-455E-AD10-99AE20BF7CBD}" srcOrd="1" destOrd="0" presId="urn:microsoft.com/office/officeart/2005/8/layout/hierarchy2"/>
    <dgm:cxn modelId="{C7442855-127C-497A-BD9B-94A78B1A3F9E}" srcId="{7E5C844C-35C8-4EFF-8B80-F462D3F8E12A}" destId="{4163250C-A9D6-47D5-99F7-DB74E5385A3D}" srcOrd="0" destOrd="0" parTransId="{68A7B97C-472B-4BB7-9221-24AECA8924CE}" sibTransId="{217B7EB0-A448-43C1-A369-B4579D9F6D1D}"/>
    <dgm:cxn modelId="{D378CA80-4F2C-461D-8775-EC06AC785C2A}" srcId="{F5293126-E0F4-442D-85A8-6EE6FD7BA9F3}" destId="{1A05F488-2597-4367-9248-C94FA338CDF8}" srcOrd="0" destOrd="0" parTransId="{C65D91AB-7C16-4027-9C5B-7FAA68A05610}" sibTransId="{9E322FA6-CFF5-4429-B6AD-B95590410E9E}"/>
    <dgm:cxn modelId="{16183985-03DA-4533-AB9C-B9F0491CD4A5}" srcId="{F5293126-E0F4-442D-85A8-6EE6FD7BA9F3}" destId="{26AA69E5-DC9E-479F-81DE-74F3E7DA8407}" srcOrd="1" destOrd="0" parTransId="{B4A09CA6-F7AE-4108-9583-3E7A65DAFC8E}" sibTransId="{D831C2D5-CC2B-4EC5-B2E2-CC81DB3C4FFC}"/>
    <dgm:cxn modelId="{C4A76A8D-0083-4DC7-904C-C1BFD49EC570}" type="presOf" srcId="{2E55EEB3-8397-4ABF-8E1C-EB29FE977A1D}" destId="{DD112103-244D-4B31-B87C-06CDBD44FA58}" srcOrd="0" destOrd="0" presId="urn:microsoft.com/office/officeart/2005/8/layout/hierarchy2"/>
    <dgm:cxn modelId="{098BEF90-957D-4D95-8A98-5801B9E8DA67}" srcId="{4163250C-A9D6-47D5-99F7-DB74E5385A3D}" destId="{F5293126-E0F4-442D-85A8-6EE6FD7BA9F3}" srcOrd="1" destOrd="0" parTransId="{C66383F8-EB5B-4FFD-99C3-FF2F3086C80A}" sibTransId="{520447A4-C4FB-487A-A18F-7AA0A83F5D64}"/>
    <dgm:cxn modelId="{49D7BFA6-613F-4CA6-9705-80E242D7B66D}" type="presOf" srcId="{B4A09CA6-F7AE-4108-9583-3E7A65DAFC8E}" destId="{FA948BA8-3203-42E5-9378-E69DD368E84E}" srcOrd="0" destOrd="0" presId="urn:microsoft.com/office/officeart/2005/8/layout/hierarchy2"/>
    <dgm:cxn modelId="{B1E6EAA8-65F9-497C-A1FF-A02B79DB8C8A}" type="presOf" srcId="{C66383F8-EB5B-4FFD-99C3-FF2F3086C80A}" destId="{3C766CBF-2D9F-47CB-9AA6-7152AAF25019}" srcOrd="1" destOrd="0" presId="urn:microsoft.com/office/officeart/2005/8/layout/hierarchy2"/>
    <dgm:cxn modelId="{F44C4CAF-410B-4517-908A-2D5207120A6B}" srcId="{2E55EEB3-8397-4ABF-8E1C-EB29FE977A1D}" destId="{1F3544E7-4605-40BC-95D4-0635F0A7146E}" srcOrd="0" destOrd="0" parTransId="{58B722F9-4D96-4FB4-A337-242F2A2044A9}" sibTransId="{6FCAEA52-E71F-4B6E-B86C-53CC53BBC261}"/>
    <dgm:cxn modelId="{DF799DBA-B1D4-4581-A80F-4FF0432FEDC3}" type="presOf" srcId="{B4A09CA6-F7AE-4108-9583-3E7A65DAFC8E}" destId="{F92C32BC-AFD6-41E4-B482-247A8B38176E}" srcOrd="1" destOrd="0" presId="urn:microsoft.com/office/officeart/2005/8/layout/hierarchy2"/>
    <dgm:cxn modelId="{0B209DCA-D56D-4E83-B37C-855E70263FB1}" type="presOf" srcId="{58B722F9-4D96-4FB4-A337-242F2A2044A9}" destId="{D0DECC41-C589-418F-95F8-B40262509FE0}" srcOrd="0" destOrd="0" presId="urn:microsoft.com/office/officeart/2005/8/layout/hierarchy2"/>
    <dgm:cxn modelId="{D0769DD5-A91E-417D-A43A-48259EB4E1B3}" type="presOf" srcId="{C66383F8-EB5B-4FFD-99C3-FF2F3086C80A}" destId="{206D4259-8B84-4CCA-A623-D8AF1ABE4F38}" srcOrd="0" destOrd="0" presId="urn:microsoft.com/office/officeart/2005/8/layout/hierarchy2"/>
    <dgm:cxn modelId="{5BE191E3-5ED0-4913-9AFD-94CC951EDB34}" type="presOf" srcId="{7E5C844C-35C8-4EFF-8B80-F462D3F8E12A}" destId="{710BBD83-69A9-495F-BD43-E98AFFD94B27}" srcOrd="0" destOrd="0" presId="urn:microsoft.com/office/officeart/2005/8/layout/hierarchy2"/>
    <dgm:cxn modelId="{4CCB84F5-41B0-4C77-A37D-5305E8E9CD1B}" type="presOf" srcId="{9F48B437-3E96-4B7C-8FA5-76E0FEA70271}" destId="{E9161E60-EFA6-4645-9A74-5A922EBE3158}" srcOrd="1" destOrd="0" presId="urn:microsoft.com/office/officeart/2005/8/layout/hierarchy2"/>
    <dgm:cxn modelId="{7D72B6F5-03CF-4FE5-BEF3-5B720AA96E8A}" type="presOf" srcId="{372A8DFE-D50F-4096-8207-0C2FBD7B74ED}" destId="{F84731D7-B52F-4D4B-B522-70B25896C20B}" srcOrd="0" destOrd="0" presId="urn:microsoft.com/office/officeart/2005/8/layout/hierarchy2"/>
    <dgm:cxn modelId="{DC6F94F8-80E6-494E-BB60-CB45E24814A0}" srcId="{4163250C-A9D6-47D5-99F7-DB74E5385A3D}" destId="{2E55EEB3-8397-4ABF-8E1C-EB29FE977A1D}" srcOrd="0" destOrd="0" parTransId="{9F48B437-3E96-4B7C-8FA5-76E0FEA70271}" sibTransId="{67DDC3D3-1FDE-413B-8EC6-2B5538E69383}"/>
    <dgm:cxn modelId="{FFB96DF7-8E45-4487-ACB8-2F34EBF5B17B}" type="presParOf" srcId="{710BBD83-69A9-495F-BD43-E98AFFD94B27}" destId="{C11396AD-C425-487E-B71F-73F5A87BDBBC}" srcOrd="0" destOrd="0" presId="urn:microsoft.com/office/officeart/2005/8/layout/hierarchy2"/>
    <dgm:cxn modelId="{C68866CB-46BC-4F10-8567-347F41645AEA}" type="presParOf" srcId="{C11396AD-C425-487E-B71F-73F5A87BDBBC}" destId="{AD0B86CD-71C7-4CB5-B177-8B9F3C843812}" srcOrd="0" destOrd="0" presId="urn:microsoft.com/office/officeart/2005/8/layout/hierarchy2"/>
    <dgm:cxn modelId="{433C7AFA-76E5-4050-B2EB-23427D4AEF79}" type="presParOf" srcId="{C11396AD-C425-487E-B71F-73F5A87BDBBC}" destId="{63A0FAB5-ACDA-40F7-8EC5-7860EE6B968D}" srcOrd="1" destOrd="0" presId="urn:microsoft.com/office/officeart/2005/8/layout/hierarchy2"/>
    <dgm:cxn modelId="{B3F039E0-3825-46AF-9A79-34223D39D587}" type="presParOf" srcId="{63A0FAB5-ACDA-40F7-8EC5-7860EE6B968D}" destId="{19254008-7278-4275-9BF2-ADD7EBEECA6E}" srcOrd="0" destOrd="0" presId="urn:microsoft.com/office/officeart/2005/8/layout/hierarchy2"/>
    <dgm:cxn modelId="{ADA741E4-6E1F-4A38-93CA-5E2992C8673E}" type="presParOf" srcId="{19254008-7278-4275-9BF2-ADD7EBEECA6E}" destId="{E9161E60-EFA6-4645-9A74-5A922EBE3158}" srcOrd="0" destOrd="0" presId="urn:microsoft.com/office/officeart/2005/8/layout/hierarchy2"/>
    <dgm:cxn modelId="{BA8AC226-6B47-47E0-A519-95E2B0A4FFEF}" type="presParOf" srcId="{63A0FAB5-ACDA-40F7-8EC5-7860EE6B968D}" destId="{C0C6599A-EE56-4EAD-B288-5B028769BB82}" srcOrd="1" destOrd="0" presId="urn:microsoft.com/office/officeart/2005/8/layout/hierarchy2"/>
    <dgm:cxn modelId="{5C8337F0-D885-41B3-B9D1-540832789D53}" type="presParOf" srcId="{C0C6599A-EE56-4EAD-B288-5B028769BB82}" destId="{DD112103-244D-4B31-B87C-06CDBD44FA58}" srcOrd="0" destOrd="0" presId="urn:microsoft.com/office/officeart/2005/8/layout/hierarchy2"/>
    <dgm:cxn modelId="{E1A91CB1-0BB8-4CA6-889F-74A30568C113}" type="presParOf" srcId="{C0C6599A-EE56-4EAD-B288-5B028769BB82}" destId="{F26EDBEA-75A4-48B4-AF29-20D95F7ECA83}" srcOrd="1" destOrd="0" presId="urn:microsoft.com/office/officeart/2005/8/layout/hierarchy2"/>
    <dgm:cxn modelId="{19A25CDE-62B4-4C5A-8F81-330C6B585EE8}" type="presParOf" srcId="{F26EDBEA-75A4-48B4-AF29-20D95F7ECA83}" destId="{D0DECC41-C589-418F-95F8-B40262509FE0}" srcOrd="0" destOrd="0" presId="urn:microsoft.com/office/officeart/2005/8/layout/hierarchy2"/>
    <dgm:cxn modelId="{C6EFFC64-06D7-4053-8F26-98249B43565D}" type="presParOf" srcId="{D0DECC41-C589-418F-95F8-B40262509FE0}" destId="{38987143-D841-455E-AD10-99AE20BF7CBD}" srcOrd="0" destOrd="0" presId="urn:microsoft.com/office/officeart/2005/8/layout/hierarchy2"/>
    <dgm:cxn modelId="{62AD10CC-CBA4-4E2D-8E97-C88304B06497}" type="presParOf" srcId="{F26EDBEA-75A4-48B4-AF29-20D95F7ECA83}" destId="{04825792-4905-43A2-B721-7A6B74E8805D}" srcOrd="1" destOrd="0" presId="urn:microsoft.com/office/officeart/2005/8/layout/hierarchy2"/>
    <dgm:cxn modelId="{C195198A-B24C-48A2-9A0B-0C5E97B4EF56}" type="presParOf" srcId="{04825792-4905-43A2-B721-7A6B74E8805D}" destId="{A9AAE3CC-0BF0-41D5-B87C-A6868CE840F1}" srcOrd="0" destOrd="0" presId="urn:microsoft.com/office/officeart/2005/8/layout/hierarchy2"/>
    <dgm:cxn modelId="{EE327100-1D79-4D78-95FB-70A59C52DDCC}" type="presParOf" srcId="{04825792-4905-43A2-B721-7A6B74E8805D}" destId="{8E47741F-8B76-4133-AA80-4200F2F73968}" srcOrd="1" destOrd="0" presId="urn:microsoft.com/office/officeart/2005/8/layout/hierarchy2"/>
    <dgm:cxn modelId="{7A6F3487-9806-4526-8483-B6CE58AD15CD}" type="presParOf" srcId="{F26EDBEA-75A4-48B4-AF29-20D95F7ECA83}" destId="{F84731D7-B52F-4D4B-B522-70B25896C20B}" srcOrd="2" destOrd="0" presId="urn:microsoft.com/office/officeart/2005/8/layout/hierarchy2"/>
    <dgm:cxn modelId="{1E154E59-C619-45E0-977F-A378B918BF93}" type="presParOf" srcId="{F84731D7-B52F-4D4B-B522-70B25896C20B}" destId="{89F53465-28E2-4C4D-9BC6-ED3DC8D245EE}" srcOrd="0" destOrd="0" presId="urn:microsoft.com/office/officeart/2005/8/layout/hierarchy2"/>
    <dgm:cxn modelId="{6D562A3A-6F54-41B6-9438-68B7B159A42F}" type="presParOf" srcId="{F26EDBEA-75A4-48B4-AF29-20D95F7ECA83}" destId="{30BDD1E9-977B-4577-8165-ED10B3CD82E6}" srcOrd="3" destOrd="0" presId="urn:microsoft.com/office/officeart/2005/8/layout/hierarchy2"/>
    <dgm:cxn modelId="{BBB73CED-447F-4494-A1CF-50E7EB637295}" type="presParOf" srcId="{30BDD1E9-977B-4577-8165-ED10B3CD82E6}" destId="{1C29CADC-E768-470E-9C41-B816086D91EE}" srcOrd="0" destOrd="0" presId="urn:microsoft.com/office/officeart/2005/8/layout/hierarchy2"/>
    <dgm:cxn modelId="{4493B632-8FD9-49B0-A50A-EDBCC739C735}" type="presParOf" srcId="{30BDD1E9-977B-4577-8165-ED10B3CD82E6}" destId="{81833DDC-6763-4EDE-AFAF-038D2F3ED582}" srcOrd="1" destOrd="0" presId="urn:microsoft.com/office/officeart/2005/8/layout/hierarchy2"/>
    <dgm:cxn modelId="{2E19A3DD-5E18-49B8-9466-C3907B7B4FBF}" type="presParOf" srcId="{63A0FAB5-ACDA-40F7-8EC5-7860EE6B968D}" destId="{206D4259-8B84-4CCA-A623-D8AF1ABE4F38}" srcOrd="2" destOrd="0" presId="urn:microsoft.com/office/officeart/2005/8/layout/hierarchy2"/>
    <dgm:cxn modelId="{DA5D2F16-623A-4D3B-B6A1-E4B46EEDD359}" type="presParOf" srcId="{206D4259-8B84-4CCA-A623-D8AF1ABE4F38}" destId="{3C766CBF-2D9F-47CB-9AA6-7152AAF25019}" srcOrd="0" destOrd="0" presId="urn:microsoft.com/office/officeart/2005/8/layout/hierarchy2"/>
    <dgm:cxn modelId="{B6BFD599-5B1D-40B9-9AA9-567A45CC6D68}" type="presParOf" srcId="{63A0FAB5-ACDA-40F7-8EC5-7860EE6B968D}" destId="{25BC52E0-AAD5-46A4-97D3-95109B5FD310}" srcOrd="3" destOrd="0" presId="urn:microsoft.com/office/officeart/2005/8/layout/hierarchy2"/>
    <dgm:cxn modelId="{5441B002-1A7A-4E18-8CFB-51AE05EF8C21}" type="presParOf" srcId="{25BC52E0-AAD5-46A4-97D3-95109B5FD310}" destId="{2F2B7096-7F35-48C9-BF75-EF3BE84790E4}" srcOrd="0" destOrd="0" presId="urn:microsoft.com/office/officeart/2005/8/layout/hierarchy2"/>
    <dgm:cxn modelId="{C4AE04C2-C89F-4069-850F-193E1AD5B127}" type="presParOf" srcId="{25BC52E0-AAD5-46A4-97D3-95109B5FD310}" destId="{7FD233EA-7CFD-4BCF-8EC0-AAC70D5AD8D1}" srcOrd="1" destOrd="0" presId="urn:microsoft.com/office/officeart/2005/8/layout/hierarchy2"/>
    <dgm:cxn modelId="{0383323A-6873-4224-BB06-4EFDA97088E4}" type="presParOf" srcId="{7FD233EA-7CFD-4BCF-8EC0-AAC70D5AD8D1}" destId="{3D51FC7E-DECF-4E16-A466-5DB6C6887B89}" srcOrd="0" destOrd="0" presId="urn:microsoft.com/office/officeart/2005/8/layout/hierarchy2"/>
    <dgm:cxn modelId="{3F2F9A1E-5C35-49CA-A133-3E8B9A9631DB}" type="presParOf" srcId="{3D51FC7E-DECF-4E16-A466-5DB6C6887B89}" destId="{A738AF76-1B68-452E-A882-90E00240E8B6}" srcOrd="0" destOrd="0" presId="urn:microsoft.com/office/officeart/2005/8/layout/hierarchy2"/>
    <dgm:cxn modelId="{2AF60B65-DD2C-4E5B-9992-95A3BE3382B9}" type="presParOf" srcId="{7FD233EA-7CFD-4BCF-8EC0-AAC70D5AD8D1}" destId="{DDF85661-EFE2-4049-B963-1704E081D597}" srcOrd="1" destOrd="0" presId="urn:microsoft.com/office/officeart/2005/8/layout/hierarchy2"/>
    <dgm:cxn modelId="{7E111FAE-02FC-44CB-A896-E86EF3B7A44F}" type="presParOf" srcId="{DDF85661-EFE2-4049-B963-1704E081D597}" destId="{D1B9C68D-C3B2-41CF-9CDC-3C19D78798DF}" srcOrd="0" destOrd="0" presId="urn:microsoft.com/office/officeart/2005/8/layout/hierarchy2"/>
    <dgm:cxn modelId="{41971348-64C2-408B-8C63-172DF8B1C9AC}" type="presParOf" srcId="{DDF85661-EFE2-4049-B963-1704E081D597}" destId="{77DAED29-A296-4306-A00B-F4F8318FF1EB}" srcOrd="1" destOrd="0" presId="urn:microsoft.com/office/officeart/2005/8/layout/hierarchy2"/>
    <dgm:cxn modelId="{2EE3F308-E529-4662-898C-68A093F3C00C}" type="presParOf" srcId="{7FD233EA-7CFD-4BCF-8EC0-AAC70D5AD8D1}" destId="{FA948BA8-3203-42E5-9378-E69DD368E84E}" srcOrd="2" destOrd="0" presId="urn:microsoft.com/office/officeart/2005/8/layout/hierarchy2"/>
    <dgm:cxn modelId="{15B1F207-2ECE-473B-8A09-CDF5F8687153}" type="presParOf" srcId="{FA948BA8-3203-42E5-9378-E69DD368E84E}" destId="{F92C32BC-AFD6-41E4-B482-247A8B38176E}" srcOrd="0" destOrd="0" presId="urn:microsoft.com/office/officeart/2005/8/layout/hierarchy2"/>
    <dgm:cxn modelId="{67719977-D54F-413D-A914-E93BB2E54BFC}" type="presParOf" srcId="{7FD233EA-7CFD-4BCF-8EC0-AAC70D5AD8D1}" destId="{362C0D68-0919-4BE4-800C-EFB5CB5D12F4}" srcOrd="3" destOrd="0" presId="urn:microsoft.com/office/officeart/2005/8/layout/hierarchy2"/>
    <dgm:cxn modelId="{757A4A5B-DD0B-45F6-BB2F-094722166920}" type="presParOf" srcId="{362C0D68-0919-4BE4-800C-EFB5CB5D12F4}" destId="{4E82EE00-8ED4-443E-8711-C1EB0D519380}" srcOrd="0" destOrd="0" presId="urn:microsoft.com/office/officeart/2005/8/layout/hierarchy2"/>
    <dgm:cxn modelId="{20308943-FD13-4F84-8212-77F485EFB1D0}" type="presParOf" srcId="{362C0D68-0919-4BE4-800C-EFB5CB5D12F4}" destId="{9B4D2EED-89D8-4458-8134-0329F2A95D6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B86CD-71C7-4CB5-B177-8B9F3C843812}">
      <dsp:nvSpPr>
        <dsp:cNvPr id="0" name=""/>
        <dsp:cNvSpPr/>
      </dsp:nvSpPr>
      <dsp:spPr>
        <a:xfrm>
          <a:off x="805" y="876385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Base de datos </a:t>
          </a:r>
        </a:p>
      </dsp:txBody>
      <dsp:txXfrm>
        <a:off x="12747" y="888327"/>
        <a:ext cx="791579" cy="383847"/>
      </dsp:txXfrm>
    </dsp:sp>
    <dsp:sp modelId="{19254008-7278-4275-9BF2-ADD7EBEECA6E}">
      <dsp:nvSpPr>
        <dsp:cNvPr id="0" name=""/>
        <dsp:cNvSpPr/>
      </dsp:nvSpPr>
      <dsp:spPr>
        <a:xfrm rot="18289469">
          <a:off x="693767" y="828820"/>
          <a:ext cx="57118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571188" y="16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965081" y="831526"/>
        <a:ext cx="28559" cy="28559"/>
      </dsp:txXfrm>
    </dsp:sp>
    <dsp:sp modelId="{DD112103-244D-4B31-B87C-06CDBD44FA58}">
      <dsp:nvSpPr>
        <dsp:cNvPr id="0" name=""/>
        <dsp:cNvSpPr/>
      </dsp:nvSpPr>
      <dsp:spPr>
        <a:xfrm>
          <a:off x="1142454" y="407494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Conjunto de datos interrelacionados</a:t>
          </a:r>
        </a:p>
      </dsp:txBody>
      <dsp:txXfrm>
        <a:off x="1154396" y="419436"/>
        <a:ext cx="791579" cy="383847"/>
      </dsp:txXfrm>
    </dsp:sp>
    <dsp:sp modelId="{D0DECC41-C589-418F-95F8-B40262509FE0}">
      <dsp:nvSpPr>
        <dsp:cNvPr id="0" name=""/>
        <dsp:cNvSpPr/>
      </dsp:nvSpPr>
      <dsp:spPr>
        <a:xfrm rot="19457599">
          <a:off x="1920161" y="477152"/>
          <a:ext cx="40169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401698" y="1698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2110967" y="484094"/>
        <a:ext cx="20084" cy="20084"/>
      </dsp:txXfrm>
    </dsp:sp>
    <dsp:sp modelId="{A9AAE3CC-0BF0-41D5-B87C-A6868CE840F1}">
      <dsp:nvSpPr>
        <dsp:cNvPr id="0" name=""/>
        <dsp:cNvSpPr/>
      </dsp:nvSpPr>
      <dsp:spPr>
        <a:xfrm>
          <a:off x="2284102" y="173048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Sin Redundancia </a:t>
          </a:r>
        </a:p>
      </dsp:txBody>
      <dsp:txXfrm>
        <a:off x="2296044" y="184990"/>
        <a:ext cx="791579" cy="383847"/>
      </dsp:txXfrm>
    </dsp:sp>
    <dsp:sp modelId="{F84731D7-B52F-4D4B-B522-70B25896C20B}">
      <dsp:nvSpPr>
        <dsp:cNvPr id="0" name=""/>
        <dsp:cNvSpPr/>
      </dsp:nvSpPr>
      <dsp:spPr>
        <a:xfrm rot="2142401">
          <a:off x="1920161" y="711598"/>
          <a:ext cx="40169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401698" y="1698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2110967" y="718540"/>
        <a:ext cx="20084" cy="20084"/>
      </dsp:txXfrm>
    </dsp:sp>
    <dsp:sp modelId="{1C29CADC-E768-470E-9C41-B816086D91EE}">
      <dsp:nvSpPr>
        <dsp:cNvPr id="0" name=""/>
        <dsp:cNvSpPr/>
      </dsp:nvSpPr>
      <dsp:spPr>
        <a:xfrm>
          <a:off x="2284102" y="641939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Modificables</a:t>
          </a:r>
        </a:p>
      </dsp:txBody>
      <dsp:txXfrm>
        <a:off x="2296044" y="653881"/>
        <a:ext cx="791579" cy="383847"/>
      </dsp:txXfrm>
    </dsp:sp>
    <dsp:sp modelId="{206D4259-8B84-4CCA-A623-D8AF1ABE4F38}">
      <dsp:nvSpPr>
        <dsp:cNvPr id="0" name=""/>
        <dsp:cNvSpPr/>
      </dsp:nvSpPr>
      <dsp:spPr>
        <a:xfrm rot="3310531">
          <a:off x="693767" y="1297712"/>
          <a:ext cx="57118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571188" y="16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965081" y="1300417"/>
        <a:ext cx="28559" cy="28559"/>
      </dsp:txXfrm>
    </dsp:sp>
    <dsp:sp modelId="{2F2B7096-7F35-48C9-BF75-EF3BE84790E4}">
      <dsp:nvSpPr>
        <dsp:cNvPr id="0" name=""/>
        <dsp:cNvSpPr/>
      </dsp:nvSpPr>
      <dsp:spPr>
        <a:xfrm>
          <a:off x="1142454" y="1345277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Independencia</a:t>
          </a:r>
        </a:p>
      </dsp:txBody>
      <dsp:txXfrm>
        <a:off x="1154396" y="1357219"/>
        <a:ext cx="791579" cy="383847"/>
      </dsp:txXfrm>
    </dsp:sp>
    <dsp:sp modelId="{3D51FC7E-DECF-4E16-A466-5DB6C6887B89}">
      <dsp:nvSpPr>
        <dsp:cNvPr id="0" name=""/>
        <dsp:cNvSpPr/>
      </dsp:nvSpPr>
      <dsp:spPr>
        <a:xfrm rot="19457599">
          <a:off x="1920161" y="1414935"/>
          <a:ext cx="40169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401698" y="1698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2110967" y="1421877"/>
        <a:ext cx="20084" cy="20084"/>
      </dsp:txXfrm>
    </dsp:sp>
    <dsp:sp modelId="{D1B9C68D-C3B2-41CF-9CDC-3C19D78798DF}">
      <dsp:nvSpPr>
        <dsp:cNvPr id="0" name=""/>
        <dsp:cNvSpPr/>
      </dsp:nvSpPr>
      <dsp:spPr>
        <a:xfrm>
          <a:off x="2284102" y="1110831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Software </a:t>
          </a:r>
        </a:p>
      </dsp:txBody>
      <dsp:txXfrm>
        <a:off x="2296044" y="1122773"/>
        <a:ext cx="791579" cy="383847"/>
      </dsp:txXfrm>
    </dsp:sp>
    <dsp:sp modelId="{FA948BA8-3203-42E5-9378-E69DD368E84E}">
      <dsp:nvSpPr>
        <dsp:cNvPr id="0" name=""/>
        <dsp:cNvSpPr/>
      </dsp:nvSpPr>
      <dsp:spPr>
        <a:xfrm rot="2142401">
          <a:off x="1920161" y="1649380"/>
          <a:ext cx="401698" cy="33969"/>
        </a:xfrm>
        <a:custGeom>
          <a:avLst/>
          <a:gdLst/>
          <a:ahLst/>
          <a:cxnLst/>
          <a:rect l="0" t="0" r="0" b="0"/>
          <a:pathLst>
            <a:path>
              <a:moveTo>
                <a:pt x="0" y="16984"/>
              </a:moveTo>
              <a:lnTo>
                <a:pt x="401698" y="1698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bg2">
                <a:lumMod val="50000"/>
              </a:schemeClr>
            </a:solidFill>
          </a:endParaRPr>
        </a:p>
      </dsp:txBody>
      <dsp:txXfrm>
        <a:off x="2110967" y="1656323"/>
        <a:ext cx="20084" cy="20084"/>
      </dsp:txXfrm>
    </dsp:sp>
    <dsp:sp modelId="{4E82EE00-8ED4-443E-8711-C1EB0D519380}">
      <dsp:nvSpPr>
        <dsp:cNvPr id="0" name=""/>
        <dsp:cNvSpPr/>
      </dsp:nvSpPr>
      <dsp:spPr>
        <a:xfrm>
          <a:off x="2284102" y="1579722"/>
          <a:ext cx="815463" cy="40773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>
              <a:solidFill>
                <a:schemeClr val="bg2">
                  <a:lumMod val="50000"/>
                </a:schemeClr>
              </a:solidFill>
            </a:rPr>
            <a:t>Aplicación</a:t>
          </a:r>
        </a:p>
      </dsp:txBody>
      <dsp:txXfrm>
        <a:off x="2296044" y="1591664"/>
        <a:ext cx="791579" cy="383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0357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0357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52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4B37B4D-078E-9BE7-A721-C53E013F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0:notes">
            <a:extLst>
              <a:ext uri="{FF2B5EF4-FFF2-40B4-BE49-F238E27FC236}">
                <a16:creationId xmlns:a16="http://schemas.microsoft.com/office/drawing/2014/main" id="{BF790942-DE86-6FB3-788A-1A2E7BF95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0:notes">
            <a:extLst>
              <a:ext uri="{FF2B5EF4-FFF2-40B4-BE49-F238E27FC236}">
                <a16:creationId xmlns:a16="http://schemas.microsoft.com/office/drawing/2014/main" id="{5588E212-B745-33B8-602C-F6F83D75B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256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529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296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035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035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99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035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035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90357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90357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028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90357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90357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35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langerman.co.za/modern-it-management-devops-scrum-lecture-4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codehoven.com/metodo-de-desarrollo-scrum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jpg"/><Relationship Id="rId7" Type="http://schemas.openxmlformats.org/officeDocument/2006/relationships/hyperlink" Target="https://rincondelemprendedor.es/tips-para-fidelizar-al-cliente-en-interne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hyperlink" Target="https://creativecommons.org/licenses/by-sa/3.0/" TargetMode="External"/><Relationship Id="rId10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codehoven.com/metodo-de-desarrollo-scrum/" TargetMode="External"/><Relationship Id="rId9" Type="http://schemas.openxmlformats.org/officeDocument/2006/relationships/hyperlink" Target="https://apuntesdedemografia.com/2019/11/27/cambio-generacional-de-la-salud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codehoven.com/metodo-de-desarrollo-scrum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3650" y="2429150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Informática Médica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3529494" y="4159551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dirty="0"/>
              <a:t>Jefferson Sarmiento Rojas PhD </a:t>
            </a:r>
            <a:r>
              <a:rPr lang="es-ES" dirty="0" err="1"/>
              <a:t>Lic</a:t>
            </a:r>
            <a:r>
              <a:rPr lang="es-ES" dirty="0"/>
              <a:t>, </a:t>
            </a:r>
            <a:r>
              <a:rPr lang="es-ES" dirty="0" err="1"/>
              <a:t>Ing</a:t>
            </a:r>
            <a:r>
              <a:rPr lang="es-ES" dirty="0"/>
              <a:t>, </a:t>
            </a:r>
            <a:r>
              <a:rPr lang="es-ES" dirty="0" err="1"/>
              <a:t>MEng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1A8B425-4223-223D-E433-CD31B07C9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494" y="714452"/>
            <a:ext cx="6102737" cy="406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61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CC3366-8B80-8146-25D1-B691087A4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72" y="457974"/>
            <a:ext cx="5991225" cy="39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9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F078B-8321-0CFA-DA36-758A6819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60" y="913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s-419" dirty="0"/>
              <a:t>Jerarquía del conocimiento: Dato, Información, Conocimiento y Sabiduría (DIKW).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F969377-1719-FFB8-310D-585B61AEE4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ED1273E5-D511-43BC-44F3-D8789AF3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60" y="1487160"/>
            <a:ext cx="496947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8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F4A5-D2B3-E761-ABC5-AF56F5BA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0B0D9-1B34-4CE0-B93B-564F9300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Actividad: Programando el </a:t>
            </a:r>
            <a:r>
              <a:rPr lang="es-ES" dirty="0" err="1"/>
              <a:t>Triaje</a:t>
            </a:r>
            <a:r>
              <a:rPr lang="es-ES" dirty="0"/>
              <a:t>, El Ciclo DIKW </a:t>
            </a:r>
            <a:endParaRPr lang="es-419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7F3A844-841B-5767-0DA4-D8D4BE0D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" y="1773381"/>
            <a:ext cx="3326850" cy="18976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23305C4-1130-FADD-7586-05EEEDE6DE79}"/>
              </a:ext>
            </a:extLst>
          </p:cNvPr>
          <p:cNvSpPr txBox="1"/>
          <p:nvPr/>
        </p:nvSpPr>
        <p:spPr>
          <a:xfrm>
            <a:off x="3416904" y="1152425"/>
            <a:ext cx="5186769" cy="354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Dato (</a:t>
            </a:r>
            <a:r>
              <a:rPr lang="es-419" dirty="0" err="1"/>
              <a:t>temperaturas_sensor</a:t>
            </a:r>
            <a:r>
              <a:rPr lang="es-419" dirty="0"/>
              <a:t>): "Miren la lista de números [36.5, 39.2...]. Si yo solo les doy eso, no saben si es temperatura, precio del dólar o latidos por minuto. Eso es el Dato."</a:t>
            </a:r>
          </a:p>
          <a:p>
            <a:endParaRPr lang="es-419" dirty="0"/>
          </a:p>
          <a:p>
            <a:r>
              <a:rPr lang="es-419" dirty="0"/>
              <a:t>Información (</a:t>
            </a:r>
            <a:r>
              <a:rPr lang="es-419" dirty="0" err="1"/>
              <a:t>mensaje_info</a:t>
            </a:r>
            <a:r>
              <a:rPr lang="es-419" dirty="0"/>
              <a:t>): "Cuando agregamos '°C', el dato gana contexto. Ahora sabemos qué estamos midiendo."</a:t>
            </a:r>
          </a:p>
          <a:p>
            <a:endParaRPr lang="es-419" dirty="0"/>
          </a:p>
          <a:p>
            <a:r>
              <a:rPr lang="es-419" dirty="0"/>
              <a:t>Conocimiento (</a:t>
            </a:r>
            <a:r>
              <a:rPr lang="es-419" dirty="0" err="1"/>
              <a:t>if</a:t>
            </a:r>
            <a:r>
              <a:rPr lang="es-419" dirty="0"/>
              <a:t>/</a:t>
            </a:r>
            <a:r>
              <a:rPr lang="es-419" dirty="0" err="1"/>
              <a:t>else</a:t>
            </a:r>
            <a:r>
              <a:rPr lang="es-419" dirty="0"/>
              <a:t>): "Aquí entra la medicina. El computador no sabe qué es fiebre. Nosotros, como expertos, le enseñamos las reglas (&gt; 37.5). El </a:t>
            </a:r>
            <a:r>
              <a:rPr lang="es-419" dirty="0" err="1"/>
              <a:t>if</a:t>
            </a:r>
            <a:r>
              <a:rPr lang="es-419" dirty="0"/>
              <a:t> representa el conocimiento médico codificado."</a:t>
            </a:r>
          </a:p>
          <a:p>
            <a:endParaRPr lang="es-419" dirty="0"/>
          </a:p>
          <a:p>
            <a:r>
              <a:rPr lang="es-419" dirty="0"/>
              <a:t>Sabiduría (</a:t>
            </a:r>
            <a:r>
              <a:rPr lang="es-419" dirty="0" err="1"/>
              <a:t>accion</a:t>
            </a:r>
            <a:r>
              <a:rPr lang="es-419" dirty="0"/>
              <a:t>): "El sistema no solo dice 'tiene fiebre', sino que sugiere qué hacer ('Administrar antipirético'). La sabiduría es la aplicación práctica del conocimiento para resolver un problema</a:t>
            </a:r>
          </a:p>
        </p:txBody>
      </p:sp>
    </p:spTree>
    <p:extLst>
      <p:ext uri="{BB962C8B-B14F-4D97-AF65-F5344CB8AC3E}">
        <p14:creationId xmlns:p14="http://schemas.microsoft.com/office/powerpoint/2010/main" val="179907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207958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Paradigma Cliente Servidor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5D37AA9-AE88-A7F6-9BF6-8CEBB5289B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96"/>
          <a:stretch/>
        </p:blipFill>
        <p:spPr>
          <a:xfrm>
            <a:off x="944013" y="1049867"/>
            <a:ext cx="7255974" cy="3612625"/>
          </a:xfrm>
          <a:prstGeom prst="rect">
            <a:avLst/>
          </a:prstGeom>
          <a:noFill/>
        </p:spPr>
      </p:pic>
      <p:sp>
        <p:nvSpPr>
          <p:cNvPr id="3" name="Google Shape;117;p21">
            <a:extLst>
              <a:ext uri="{FF2B5EF4-FFF2-40B4-BE49-F238E27FC236}">
                <a16:creationId xmlns:a16="http://schemas.microsoft.com/office/drawing/2014/main" id="{0EC5F8B8-251E-9904-5B7E-58824C2A653F}"/>
              </a:ext>
            </a:extLst>
          </p:cNvPr>
          <p:cNvSpPr txBox="1">
            <a:spLocks/>
          </p:cNvSpPr>
          <p:nvPr/>
        </p:nvSpPr>
        <p:spPr>
          <a:xfrm>
            <a:off x="311701" y="4662491"/>
            <a:ext cx="3255588" cy="433909"/>
          </a:xfrm>
          <a:prstGeom prst="rect">
            <a:avLst/>
          </a:prstGeom>
          <a:solidFill>
            <a:srgbClr val="0070C0"/>
          </a:solidFill>
        </p:spPr>
        <p:txBody>
          <a:bodyPr spcFirstLastPara="1" vert="horz" wrap="square" lIns="91425" tIns="91425" rIns="91425" bIns="91425" rtlCol="0" anchor="ctr" anchorCtr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92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DB101FD-636E-7F38-FA58-E47256B3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7B0D0060-4863-F4D8-816A-90EB1169D0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03650" y="2429150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 para la planeación y ejecución de aplicaciones digitales en salud</a:t>
            </a:r>
            <a:endParaRPr dirty="0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1FB23716-9630-EA01-1154-B206000801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29494" y="4159551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dirty="0"/>
              <a:t>Jefferson Sarmiento Rojas PhD © </a:t>
            </a:r>
            <a:r>
              <a:rPr lang="es-ES" dirty="0" err="1"/>
              <a:t>Lic</a:t>
            </a:r>
            <a:r>
              <a:rPr lang="es-ES" dirty="0"/>
              <a:t>, </a:t>
            </a:r>
            <a:r>
              <a:rPr lang="es-ES" dirty="0" err="1"/>
              <a:t>Ing</a:t>
            </a:r>
            <a:r>
              <a:rPr lang="es-ES" dirty="0"/>
              <a:t>, </a:t>
            </a:r>
            <a:r>
              <a:rPr lang="es-ES" dirty="0" err="1"/>
              <a:t>MEng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0605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286350" y="-160556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Metodologías Agiles</a:t>
            </a:r>
            <a:endParaRPr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9790236-91F7-FA56-FB78-C2AEA14178F5}"/>
              </a:ext>
            </a:extLst>
          </p:cNvPr>
          <p:cNvSpPr txBox="1">
            <a:spLocks/>
          </p:cNvSpPr>
          <p:nvPr/>
        </p:nvSpPr>
        <p:spPr>
          <a:xfrm>
            <a:off x="286350" y="1221711"/>
            <a:ext cx="4082862" cy="371022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sz="1200" b="1" dirty="0"/>
              <a:t>Metodologías para la gestión de proyectos clásicas.</a:t>
            </a:r>
          </a:p>
          <a:p>
            <a:pPr algn="ctr"/>
            <a:endParaRPr lang="es-ES" sz="1200" b="1" dirty="0"/>
          </a:p>
          <a:p>
            <a:endParaRPr lang="es-ES" b="1" dirty="0"/>
          </a:p>
          <a:p>
            <a:pPr lvl="1"/>
            <a:r>
              <a:rPr lang="es-ES" sz="1100" dirty="0"/>
              <a:t>Gestión organizada del proyecto</a:t>
            </a:r>
          </a:p>
          <a:p>
            <a:pPr lvl="1"/>
            <a:endParaRPr lang="es-ES" sz="1100" dirty="0"/>
          </a:p>
          <a:p>
            <a:pPr lvl="2"/>
            <a:r>
              <a:rPr lang="es-ES" sz="1100" dirty="0"/>
              <a:t>Gestión del cronograma (Gantt)</a:t>
            </a:r>
          </a:p>
          <a:p>
            <a:pPr lvl="2"/>
            <a:endParaRPr lang="es-ES" sz="1100" dirty="0"/>
          </a:p>
          <a:p>
            <a:pPr lvl="2"/>
            <a:r>
              <a:rPr lang="es-ES" sz="1100" dirty="0"/>
              <a:t>Gestión de los costos (Directos, indirectos)</a:t>
            </a:r>
          </a:p>
          <a:p>
            <a:pPr lvl="2"/>
            <a:endParaRPr lang="es-ES" sz="1100" dirty="0"/>
          </a:p>
          <a:p>
            <a:pPr lvl="2"/>
            <a:r>
              <a:rPr lang="es-ES" sz="1100" dirty="0"/>
              <a:t>Gestión de los usuarios(</a:t>
            </a:r>
            <a:r>
              <a:rPr lang="es-ES" sz="1100" dirty="0" err="1"/>
              <a:t>Stalkeholders</a:t>
            </a:r>
            <a:r>
              <a:rPr lang="es-ES" sz="1100" dirty="0"/>
              <a:t>)</a:t>
            </a:r>
          </a:p>
          <a:p>
            <a:pPr lvl="2"/>
            <a:endParaRPr lang="es-ES" sz="1100" dirty="0"/>
          </a:p>
          <a:p>
            <a:pPr lvl="2"/>
            <a:r>
              <a:rPr lang="es-ES" sz="1100" dirty="0"/>
              <a:t>Gestión de los riesgos del proyecto (nivel de riesgos)</a:t>
            </a:r>
          </a:p>
          <a:p>
            <a:pPr lvl="2"/>
            <a:endParaRPr lang="es-ES" sz="1100" dirty="0"/>
          </a:p>
          <a:p>
            <a:pPr lvl="2"/>
            <a:r>
              <a:rPr lang="es-ES" sz="1100" dirty="0"/>
              <a:t>Independencia de cada una de las fases</a:t>
            </a:r>
          </a:p>
          <a:p>
            <a:pPr lvl="2"/>
            <a:endParaRPr lang="es-ES" sz="1100" dirty="0"/>
          </a:p>
          <a:p>
            <a:r>
              <a:rPr lang="es-ES" sz="1100" dirty="0"/>
              <a:t>Organización con una planeación rigurosa y estática del proyecto teniendo en cuenta posibles riesgos desde el inicio del proyecto. </a:t>
            </a:r>
          </a:p>
          <a:p>
            <a:endParaRPr lang="es-ES" sz="1100" dirty="0"/>
          </a:p>
          <a:p>
            <a:r>
              <a:rPr lang="es-ES" sz="1100" dirty="0"/>
              <a:t>Proyectos amplio rango de tiempo.</a:t>
            </a:r>
          </a:p>
          <a:p>
            <a:endParaRPr lang="es-ES" dirty="0"/>
          </a:p>
          <a:p>
            <a:endParaRPr lang="es-ES" dirty="0"/>
          </a:p>
          <a:p>
            <a:pPr lvl="1"/>
            <a:endParaRPr lang="es-ES" dirty="0"/>
          </a:p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5089E6-AB9C-D4DF-53E9-94C9FB519D8D}"/>
              </a:ext>
            </a:extLst>
          </p:cNvPr>
          <p:cNvSpPr txBox="1">
            <a:spLocks/>
          </p:cNvSpPr>
          <p:nvPr/>
        </p:nvSpPr>
        <p:spPr>
          <a:xfrm>
            <a:off x="4774790" y="1221711"/>
            <a:ext cx="4082862" cy="371022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900" b="1" dirty="0">
                <a:solidFill>
                  <a:srgbClr val="000000"/>
                </a:solidFill>
                <a:latin typeface="Arial"/>
                <a:cs typeface="Arial"/>
              </a:rPr>
              <a:t>Metodologías agiles para la gestión de proyectos.</a:t>
            </a:r>
          </a:p>
          <a:p>
            <a:endParaRPr lang="es-ES" b="1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Gestión Organizada del proyecto teniendo en cuenta su estado cambiante. </a:t>
            </a:r>
          </a:p>
          <a:p>
            <a:pPr lvl="2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Fácil adaptación a las necesidades del cliente</a:t>
            </a:r>
          </a:p>
          <a:p>
            <a:pPr lvl="2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Innovadora forma de trabajo en grupos de trabajo. </a:t>
            </a:r>
          </a:p>
          <a:p>
            <a:pPr lvl="2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Retroalimentación constante por parte del cliente.</a:t>
            </a:r>
          </a:p>
          <a:p>
            <a:pPr lvl="2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Seguimiento a Entregas de forma rápida y constante</a:t>
            </a:r>
          </a:p>
          <a:p>
            <a:pPr lvl="2"/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Etapas interrelacionadas (Sprint)</a:t>
            </a:r>
          </a:p>
          <a:p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Organización con una planificación flexible teniendo en cuenta los cambios constantes en este tipo de proyectos.</a:t>
            </a:r>
          </a:p>
          <a:p>
            <a:r>
              <a:rPr lang="es-ES" sz="2800" dirty="0">
                <a:solidFill>
                  <a:srgbClr val="000000"/>
                </a:solidFill>
                <a:latin typeface="Arial"/>
                <a:cs typeface="Arial"/>
              </a:rPr>
              <a:t>Proyectos reducido rango de tiempo.</a:t>
            </a:r>
          </a:p>
          <a:p>
            <a:endParaRPr lang="es-CO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192533" y="-837900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Scrum</a:t>
            </a:r>
            <a:endParaRPr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428AB5C-AFF2-C6FD-3972-E4F6007410E4}"/>
              </a:ext>
            </a:extLst>
          </p:cNvPr>
          <p:cNvSpPr txBox="1">
            <a:spLocks/>
          </p:cNvSpPr>
          <p:nvPr/>
        </p:nvSpPr>
        <p:spPr>
          <a:xfrm>
            <a:off x="367500" y="1530201"/>
            <a:ext cx="4787710" cy="3325430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</a:pPr>
            <a:r>
              <a:rPr lang="es-ES" dirty="0"/>
              <a:t>Metodología ágil para el desarrollo de proyectos. 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Se enfoca a proyectos de desarrollo de Software, Aplicaciones y Desarrollos tecnológicos.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 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Pero es adaptable a todo tipo de proyectos con características cambiantes en el tiempo.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r>
              <a:rPr lang="es-ES" b="1" dirty="0"/>
              <a:t>Características:</a:t>
            </a:r>
          </a:p>
          <a:p>
            <a:pPr marL="228600" lvl="1">
              <a:lnSpc>
                <a:spcPct val="110000"/>
              </a:lnSpc>
              <a:spcBef>
                <a:spcPts val="1000"/>
              </a:spcBef>
            </a:pPr>
            <a:endParaRPr lang="es-ES" b="1" dirty="0"/>
          </a:p>
          <a:p>
            <a:pPr marL="285750" lvl="3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ES" dirty="0"/>
              <a:t>	Fácil implementación </a:t>
            </a:r>
          </a:p>
          <a:p>
            <a:pPr marL="285750" lvl="3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ES" dirty="0"/>
              <a:t>	Adaptable</a:t>
            </a:r>
          </a:p>
          <a:p>
            <a:pPr marL="285750" lvl="3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s-ES" dirty="0"/>
              <a:t>	Apropiado para el desarrollo de </a:t>
            </a:r>
          </a:p>
          <a:p>
            <a:pPr lvl="3">
              <a:lnSpc>
                <a:spcPct val="110000"/>
              </a:lnSpc>
            </a:pPr>
            <a:r>
              <a:rPr lang="es-ES" dirty="0"/>
              <a:t>	herramientas digitales</a:t>
            </a:r>
          </a:p>
          <a:p>
            <a:pPr lvl="3">
              <a:lnSpc>
                <a:spcPct val="110000"/>
              </a:lnSpc>
            </a:pPr>
            <a:endParaRPr lang="es-ES" dirty="0"/>
          </a:p>
          <a:p>
            <a:pPr marL="457200" lvl="1">
              <a:lnSpc>
                <a:spcPct val="110000"/>
              </a:lnSpc>
            </a:pPr>
            <a:endParaRPr lang="es-ES" dirty="0"/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A9400C83-79C8-4D91-B8C3-B3B887EE2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34822" y="1238823"/>
            <a:ext cx="4464022" cy="3418696"/>
          </a:xfrm>
          <a:prstGeom prst="rect">
            <a:avLst/>
          </a:prstGeom>
          <a:noFill/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0F59C38-F488-E392-02D6-AF85FA7EBE9A}"/>
              </a:ext>
            </a:extLst>
          </p:cNvPr>
          <p:cNvSpPr txBox="1"/>
          <p:nvPr/>
        </p:nvSpPr>
        <p:spPr>
          <a:xfrm>
            <a:off x="7958366" y="5728390"/>
            <a:ext cx="2310007" cy="30777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CO" sz="700" dirty="0">
                <a:solidFill>
                  <a:srgbClr val="FFFFFF"/>
                </a:solidFill>
                <a:hlinkClick r:id="rId4" tooltip="https://langerman.co.za/modern-it-management-devops-scrum-lecture-4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CO" sz="700" dirty="0">
                <a:solidFill>
                  <a:srgbClr val="FFFFFF"/>
                </a:solidFill>
              </a:rPr>
              <a:t> de Autor desconocido está bajo licencia </a:t>
            </a:r>
            <a:r>
              <a:rPr lang="es-CO" sz="700" dirty="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s-CO" sz="7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53066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Ciclo de Vida SCRUM</a:t>
            </a:r>
            <a:endParaRPr dirty="0"/>
          </a:p>
        </p:txBody>
      </p:sp>
      <p:pic>
        <p:nvPicPr>
          <p:cNvPr id="4" name="Marcador de contenido 19" descr="Diagrama, Escala de tiempo&#10;&#10;Descripción generada automáticamente">
            <a:extLst>
              <a:ext uri="{FF2B5EF4-FFF2-40B4-BE49-F238E27FC236}">
                <a16:creationId xmlns:a16="http://schemas.microsoft.com/office/drawing/2014/main" id="{C81E6565-ACA2-1395-FBE7-44EB6A46F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60686" y="866360"/>
            <a:ext cx="7622627" cy="42771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11D3781-5740-7AA6-5E73-9C0F0FA2ACB0}"/>
              </a:ext>
            </a:extLst>
          </p:cNvPr>
          <p:cNvSpPr txBox="1"/>
          <p:nvPr/>
        </p:nvSpPr>
        <p:spPr>
          <a:xfrm>
            <a:off x="641040" y="5780578"/>
            <a:ext cx="8409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>
                <a:hlinkClick r:id="rId4" tooltip="https://www.codehoven.com/metodo-de-desarrollo-scrum/"/>
              </a:rPr>
              <a:t>Esta foto</a:t>
            </a:r>
            <a:r>
              <a:rPr lang="es-CO" sz="900"/>
              <a:t> de Autor desconocido está bajo licencia </a:t>
            </a:r>
            <a:r>
              <a:rPr lang="es-CO" sz="900">
                <a:hlinkClick r:id="rId5" tooltip="https://creativecommons.org/licenses/by-sa/3.0/"/>
              </a:rPr>
              <a:t>CC BY-SA</a:t>
            </a:r>
            <a:endParaRPr lang="es-CO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311700" y="53066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Stakeholders</a:t>
            </a:r>
            <a:r>
              <a:rPr lang="es-ES" dirty="0"/>
              <a:t> </a:t>
            </a:r>
            <a:r>
              <a:rPr lang="es-ES" dirty="0" err="1"/>
              <a:t>Product</a:t>
            </a:r>
            <a:r>
              <a:rPr lang="es-ES" dirty="0"/>
              <a:t> </a:t>
            </a:r>
            <a:r>
              <a:rPr lang="es-ES" dirty="0" err="1"/>
              <a:t>Owner</a:t>
            </a:r>
            <a:r>
              <a:rPr lang="es-ES" dirty="0"/>
              <a:t> </a:t>
            </a:r>
            <a:endParaRPr dirty="0"/>
          </a:p>
        </p:txBody>
      </p:sp>
      <p:pic>
        <p:nvPicPr>
          <p:cNvPr id="2" name="Marcador de contenido 19" descr="Diagrama, Escala de tiempo&#10;&#10;Descripción generada automáticamente">
            <a:extLst>
              <a:ext uri="{FF2B5EF4-FFF2-40B4-BE49-F238E27FC236}">
                <a16:creationId xmlns:a16="http://schemas.microsoft.com/office/drawing/2014/main" id="{8D1FA153-75EC-3A2B-DB8B-CAD9070EDC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40" t="10117" r="74797" b="77840"/>
          <a:stretch/>
        </p:blipFill>
        <p:spPr>
          <a:xfrm>
            <a:off x="3585654" y="928162"/>
            <a:ext cx="1912034" cy="56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Marcador de contenido 19" descr="Diagrama, Escala de tiempo&#10;&#10;Descripción generada automáticamente">
            <a:extLst>
              <a:ext uri="{FF2B5EF4-FFF2-40B4-BE49-F238E27FC236}">
                <a16:creationId xmlns:a16="http://schemas.microsoft.com/office/drawing/2014/main" id="{16962BE4-6C4A-1471-659D-20136B943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3445" r="80953" b="9465"/>
          <a:stretch/>
        </p:blipFill>
        <p:spPr>
          <a:xfrm>
            <a:off x="3543987" y="1663303"/>
            <a:ext cx="1585994" cy="313447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DA01EBB-CC24-48FF-2B67-9BB0E2A4B807}"/>
              </a:ext>
            </a:extLst>
          </p:cNvPr>
          <p:cNvSpPr txBox="1"/>
          <p:nvPr/>
        </p:nvSpPr>
        <p:spPr>
          <a:xfrm>
            <a:off x="808879" y="5378521"/>
            <a:ext cx="80336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dirty="0">
                <a:hlinkClick r:id="rId4" tooltip="https://www.codehoven.com/metodo-de-desarrollo-scrum/"/>
              </a:rPr>
              <a:t>Esta foto</a:t>
            </a:r>
            <a:r>
              <a:rPr lang="es-CO" sz="900" dirty="0"/>
              <a:t> de Autor desconocido está bajo licencia </a:t>
            </a:r>
            <a:r>
              <a:rPr lang="es-CO" sz="900" dirty="0">
                <a:hlinkClick r:id="rId5" tooltip="https://creativecommons.org/licenses/by-sa/3.0/"/>
              </a:rPr>
              <a:t>CC BY-SA</a:t>
            </a:r>
            <a:endParaRPr lang="es-CO" sz="900" dirty="0"/>
          </a:p>
        </p:txBody>
      </p:sp>
      <p:pic>
        <p:nvPicPr>
          <p:cNvPr id="7" name="Imagen 6" descr="Hombre con uniforme blanco&#10;&#10;Descripción generada automáticamente con confianza media">
            <a:extLst>
              <a:ext uri="{FF2B5EF4-FFF2-40B4-BE49-F238E27FC236}">
                <a16:creationId xmlns:a16="http://schemas.microsoft.com/office/drawing/2014/main" id="{9D510148-D0BB-22AB-0388-72D0C9500D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47419" y="1014152"/>
            <a:ext cx="1852901" cy="886858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49E67769-1DCA-994A-C019-984942C094DB}"/>
              </a:ext>
            </a:extLst>
          </p:cNvPr>
          <p:cNvSpPr/>
          <p:nvPr/>
        </p:nvSpPr>
        <p:spPr>
          <a:xfrm>
            <a:off x="2484989" y="907928"/>
            <a:ext cx="715996" cy="525211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9" name="Imagen 8" descr="Dibujo abstracto de colores&#10;&#10;Descripción generada automáticamente con confianza baja">
            <a:extLst>
              <a:ext uri="{FF2B5EF4-FFF2-40B4-BE49-F238E27FC236}">
                <a16:creationId xmlns:a16="http://schemas.microsoft.com/office/drawing/2014/main" id="{70746E3C-F2F4-0424-D578-962517849B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47419" y="2009558"/>
            <a:ext cx="1852901" cy="63598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E48C12B-8A36-0F4D-B048-25878CECBE7C}"/>
              </a:ext>
            </a:extLst>
          </p:cNvPr>
          <p:cNvSpPr txBox="1"/>
          <p:nvPr/>
        </p:nvSpPr>
        <p:spPr>
          <a:xfrm>
            <a:off x="36882" y="5537618"/>
            <a:ext cx="3587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dirty="0">
                <a:hlinkClick r:id="rId9" tooltip="https://apuntesdedemografia.com/2019/11/27/cambio-generacional-de-la-salud/"/>
              </a:rPr>
              <a:t>Esta foto</a:t>
            </a:r>
            <a:r>
              <a:rPr lang="es-CO" sz="900" dirty="0"/>
              <a:t> de Autor desconocido está bajo licencia </a:t>
            </a:r>
            <a:r>
              <a:rPr lang="es-CO" sz="900" dirty="0">
                <a:hlinkClick r:id="rId10" tooltip="https://creativecommons.org/licenses/by/3.0/"/>
              </a:rPr>
              <a:t>CC BY</a:t>
            </a:r>
            <a:endParaRPr lang="es-CO" sz="9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DF8133-0775-7B98-0487-A1C9CE355888}"/>
              </a:ext>
            </a:extLst>
          </p:cNvPr>
          <p:cNvSpPr txBox="1"/>
          <p:nvPr/>
        </p:nvSpPr>
        <p:spPr>
          <a:xfrm>
            <a:off x="-121769" y="5696715"/>
            <a:ext cx="258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dirty="0">
                <a:hlinkClick r:id="rId7" tooltip="https://rincondelemprendedor.es/tips-para-fidelizar-al-cliente-en-internet/"/>
              </a:rPr>
              <a:t>Esta foto</a:t>
            </a:r>
            <a:r>
              <a:rPr lang="es-CO" sz="900" dirty="0"/>
              <a:t> de Autor desconocido está bajo licencia </a:t>
            </a:r>
            <a:r>
              <a:rPr lang="es-CO" sz="900" dirty="0">
                <a:hlinkClick r:id="rId10" tooltip="https://creativecommons.org/licenses/by/3.0/"/>
              </a:rPr>
              <a:t>CC BY</a:t>
            </a:r>
            <a:endParaRPr lang="es-CO" sz="900" dirty="0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193CA98E-76B7-18F9-6D70-3005B5F82868}"/>
              </a:ext>
            </a:extLst>
          </p:cNvPr>
          <p:cNvSpPr/>
          <p:nvPr/>
        </p:nvSpPr>
        <p:spPr>
          <a:xfrm rot="5400000">
            <a:off x="904763" y="2846190"/>
            <a:ext cx="500467" cy="528264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5F01133-45A7-5E61-6AC1-5F03A36975DB}"/>
              </a:ext>
            </a:extLst>
          </p:cNvPr>
          <p:cNvSpPr txBox="1">
            <a:spLocks/>
          </p:cNvSpPr>
          <p:nvPr/>
        </p:nvSpPr>
        <p:spPr>
          <a:xfrm>
            <a:off x="-277960" y="3453912"/>
            <a:ext cx="2865912" cy="156813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Son los interesados del proyecto</a:t>
            </a:r>
          </a:p>
          <a:p>
            <a:pPr lvl="1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Dolientes del proyecto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Gerentes 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CEO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Juntas Directivas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Comités de compra</a:t>
            </a: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CO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B7BEC912-1530-358E-AE15-DD28EB5266BF}"/>
              </a:ext>
            </a:extLst>
          </p:cNvPr>
          <p:cNvSpPr txBox="1">
            <a:spLocks/>
          </p:cNvSpPr>
          <p:nvPr/>
        </p:nvSpPr>
        <p:spPr>
          <a:xfrm>
            <a:off x="5354862" y="1590325"/>
            <a:ext cx="3718210" cy="23718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Dueño del Producto</a:t>
            </a:r>
          </a:p>
          <a:p>
            <a:pPr lvl="2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Interlocutor entre el equipo de trabajo y el cliente,</a:t>
            </a:r>
          </a:p>
          <a:p>
            <a:pPr lvl="2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Ingeniero de requisitos</a:t>
            </a:r>
          </a:p>
          <a:p>
            <a:pPr lvl="2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Conoce de primera mano todas las necesidades del cliente.  </a:t>
            </a:r>
          </a:p>
          <a:p>
            <a:pPr lvl="2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Puede ser parte de la organización contratante o la organización desarrolladora.</a:t>
            </a:r>
          </a:p>
          <a:p>
            <a:pPr lvl="1" algn="just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algn="just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lvl="1" algn="just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algn="just"/>
            <a:endParaRPr lang="es-CO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Flecha: doblada 14">
            <a:extLst>
              <a:ext uri="{FF2B5EF4-FFF2-40B4-BE49-F238E27FC236}">
                <a16:creationId xmlns:a16="http://schemas.microsoft.com/office/drawing/2014/main" id="{3796A292-7CBF-771D-C5CD-CBF5EB2A1220}"/>
              </a:ext>
            </a:extLst>
          </p:cNvPr>
          <p:cNvSpPr/>
          <p:nvPr/>
        </p:nvSpPr>
        <p:spPr>
          <a:xfrm rot="10800000">
            <a:off x="5712860" y="3943619"/>
            <a:ext cx="2190379" cy="675155"/>
          </a:xfrm>
          <a:prstGeom prst="bentArrow">
            <a:avLst>
              <a:gd name="adj1" fmla="val 25000"/>
              <a:gd name="adj2" fmla="val 21586"/>
              <a:gd name="adj3" fmla="val 25000"/>
              <a:gd name="adj4" fmla="val 43750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E57FD5AE-8C70-5C85-FFA7-683618943784}"/>
              </a:ext>
            </a:extLst>
          </p:cNvPr>
          <p:cNvSpPr/>
          <p:nvPr/>
        </p:nvSpPr>
        <p:spPr>
          <a:xfrm>
            <a:off x="5354862" y="2513641"/>
            <a:ext cx="715996" cy="525211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12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286350" y="-19637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SCRUM Master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ABCD46-3763-F2F0-B046-8C34E2120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25" y="1599279"/>
            <a:ext cx="1189994" cy="155325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4170E1-7E3F-EEFC-A4F4-E73A8DBA10CA}"/>
              </a:ext>
            </a:extLst>
          </p:cNvPr>
          <p:cNvSpPr txBox="1">
            <a:spLocks/>
          </p:cNvSpPr>
          <p:nvPr/>
        </p:nvSpPr>
        <p:spPr>
          <a:xfrm>
            <a:off x="3855998" y="999612"/>
            <a:ext cx="4352824" cy="29745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Líder del equipo de trabajo</a:t>
            </a:r>
          </a:p>
          <a:p>
            <a:pPr lvl="1" algn="just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Garantizar la metodología Scrum en el equipo de trabajo,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No es un Jefe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Moderador entre las necesidades del proyecto y el equipo de desarrollo.</a:t>
            </a:r>
          </a:p>
          <a:p>
            <a:pPr lvl="2"/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Interlocutor entre .el dueño del producto y el equipo de trabajo. </a:t>
            </a: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CO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60CA9109-E28D-F730-EEA2-A60FFC0CCEB5}"/>
              </a:ext>
            </a:extLst>
          </p:cNvPr>
          <p:cNvSpPr/>
          <p:nvPr/>
        </p:nvSpPr>
        <p:spPr>
          <a:xfrm>
            <a:off x="3017798" y="2242409"/>
            <a:ext cx="838200" cy="658681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A8E9F6-1085-6D8A-7E90-D011F547E1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71" r="61800"/>
          <a:stretch/>
        </p:blipFill>
        <p:spPr>
          <a:xfrm>
            <a:off x="501289" y="3899303"/>
            <a:ext cx="1513844" cy="10192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664205F-FD0E-3D75-F1D3-63A4650FFD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429" t="4471"/>
          <a:stretch/>
        </p:blipFill>
        <p:spPr>
          <a:xfrm>
            <a:off x="6126807" y="3899302"/>
            <a:ext cx="1647440" cy="10192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046081E-E46D-B782-5D14-ECB1460A3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505" y="3555455"/>
            <a:ext cx="1189994" cy="1553256"/>
          </a:xfrm>
          <a:prstGeom prst="rect">
            <a:avLst/>
          </a:prstGeom>
        </p:spPr>
      </p:pic>
      <p:sp>
        <p:nvSpPr>
          <p:cNvPr id="8" name="Flecha: a la izquierda y derecha 7">
            <a:extLst>
              <a:ext uri="{FF2B5EF4-FFF2-40B4-BE49-F238E27FC236}">
                <a16:creationId xmlns:a16="http://schemas.microsoft.com/office/drawing/2014/main" id="{17F49067-1D73-F417-5055-DE7739FE8A26}"/>
              </a:ext>
            </a:extLst>
          </p:cNvPr>
          <p:cNvSpPr/>
          <p:nvPr/>
        </p:nvSpPr>
        <p:spPr>
          <a:xfrm>
            <a:off x="2082944" y="4089462"/>
            <a:ext cx="1334415" cy="638935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Flecha: a la izquierda y derecha 8">
            <a:extLst>
              <a:ext uri="{FF2B5EF4-FFF2-40B4-BE49-F238E27FC236}">
                <a16:creationId xmlns:a16="http://schemas.microsoft.com/office/drawing/2014/main" id="{C3BABE7E-78F2-D048-4AE4-E221D2698CA6}"/>
              </a:ext>
            </a:extLst>
          </p:cNvPr>
          <p:cNvSpPr/>
          <p:nvPr/>
        </p:nvSpPr>
        <p:spPr>
          <a:xfrm>
            <a:off x="4697995" y="4089461"/>
            <a:ext cx="1334415" cy="638935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286350" y="-19637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Equipo de trabajo  y </a:t>
            </a:r>
            <a:r>
              <a:rPr lang="es-ES" dirty="0" err="1"/>
              <a:t>Sprints</a:t>
            </a:r>
            <a:r>
              <a:rPr lang="es-ES" dirty="0"/>
              <a:t> 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6EEAF68-A76F-7CEE-48DA-4081E42F3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654"/>
          <a:stretch/>
        </p:blipFill>
        <p:spPr>
          <a:xfrm>
            <a:off x="4031601" y="803098"/>
            <a:ext cx="3540983" cy="417336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0B9821E-5A2C-7654-83CF-49DFCBFBE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50" y="3013973"/>
            <a:ext cx="3745251" cy="189584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1F82DA2-F645-D5C1-EB35-D5FBCF59ED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05" r="13653" b="12323"/>
          <a:stretch/>
        </p:blipFill>
        <p:spPr>
          <a:xfrm>
            <a:off x="1890956" y="1759436"/>
            <a:ext cx="1170781" cy="73050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910EF18-73BF-3F33-57FA-A4E280827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496" y="1721506"/>
            <a:ext cx="632478" cy="825550"/>
          </a:xfrm>
          <a:prstGeom prst="rect">
            <a:avLst/>
          </a:prstGeom>
        </p:spPr>
      </p:pic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A2AEAD9-79AF-09CE-EDC0-E7C83D945370}"/>
              </a:ext>
            </a:extLst>
          </p:cNvPr>
          <p:cNvSpPr txBox="1">
            <a:spLocks/>
          </p:cNvSpPr>
          <p:nvPr/>
        </p:nvSpPr>
        <p:spPr>
          <a:xfrm>
            <a:off x="569185" y="1052205"/>
            <a:ext cx="2643541" cy="366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s-ES" b="1" dirty="0"/>
              <a:t>    Desarrolladores</a:t>
            </a:r>
          </a:p>
          <a:p>
            <a:pPr lvl="1"/>
            <a:endParaRPr lang="es-ES" b="1" dirty="0"/>
          </a:p>
          <a:p>
            <a:endParaRPr lang="es-ES" b="1" dirty="0"/>
          </a:p>
          <a:p>
            <a:pPr lvl="1"/>
            <a:endParaRPr lang="es-ES" b="1" dirty="0"/>
          </a:p>
          <a:p>
            <a:endParaRPr lang="es-CO" b="1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F8A94656-903F-FB44-E505-13EA375E179A}"/>
              </a:ext>
            </a:extLst>
          </p:cNvPr>
          <p:cNvSpPr/>
          <p:nvPr/>
        </p:nvSpPr>
        <p:spPr>
          <a:xfrm>
            <a:off x="7251173" y="1243678"/>
            <a:ext cx="332701" cy="349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1D80516-1EA9-A789-9EC9-6DEDD509D5F3}"/>
              </a:ext>
            </a:extLst>
          </p:cNvPr>
          <p:cNvSpPr txBox="1">
            <a:spLocks/>
          </p:cNvSpPr>
          <p:nvPr/>
        </p:nvSpPr>
        <p:spPr>
          <a:xfrm>
            <a:off x="7251173" y="965277"/>
            <a:ext cx="1822834" cy="1256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¿Que se hizo ayer?</a:t>
            </a:r>
          </a:p>
          <a:p>
            <a:pPr marL="457200" lvl="1" indent="0">
              <a:buNone/>
            </a:pP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¿Que se está haciendo hoy? </a:t>
            </a:r>
          </a:p>
          <a:p>
            <a:pPr marL="457200" lvl="1" indent="0">
              <a:buNone/>
            </a:pP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¿Qué se va a hacer mañana?</a:t>
            </a:r>
          </a:p>
          <a:p>
            <a:pPr marL="457200" lvl="1" indent="0">
              <a:buNone/>
            </a:pP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Problemas presentados</a:t>
            </a: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endParaRPr lang="es-CO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8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03206" y="-88027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Ciclo de Vida SCRUM</a:t>
            </a:r>
            <a:endParaRPr dirty="0"/>
          </a:p>
        </p:txBody>
      </p:sp>
      <p:pic>
        <p:nvPicPr>
          <p:cNvPr id="2" name="Marcador de contenido 19" descr="Diagrama, Escala de tiempo&#10;&#10;Descripción generada automáticamente">
            <a:extLst>
              <a:ext uri="{FF2B5EF4-FFF2-40B4-BE49-F238E27FC236}">
                <a16:creationId xmlns:a16="http://schemas.microsoft.com/office/drawing/2014/main" id="{FED4E2F8-4D73-9FB0-6504-2313008BB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00986" y="853973"/>
            <a:ext cx="7644703" cy="42895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7EC02D5-3770-9D26-20E1-C5042FCD6676}"/>
              </a:ext>
            </a:extLst>
          </p:cNvPr>
          <p:cNvSpPr txBox="1"/>
          <p:nvPr/>
        </p:nvSpPr>
        <p:spPr>
          <a:xfrm>
            <a:off x="900987" y="5548880"/>
            <a:ext cx="7375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>
                <a:hlinkClick r:id="rId4" tooltip="https://www.codehoven.com/metodo-de-desarrollo-scrum/"/>
              </a:rPr>
              <a:t>Esta foto</a:t>
            </a:r>
            <a:r>
              <a:rPr lang="es-CO" sz="900"/>
              <a:t> de Autor desconocido está bajo licencia </a:t>
            </a:r>
            <a:r>
              <a:rPr lang="es-CO" sz="900">
                <a:hlinkClick r:id="rId5" tooltip="https://creativecommons.org/licenses/by-sa/3.0/"/>
              </a:rPr>
              <a:t>CC BY-SA</a:t>
            </a:r>
            <a:endParaRPr lang="es-CO" sz="900" dirty="0"/>
          </a:p>
        </p:txBody>
      </p:sp>
    </p:spTree>
    <p:extLst>
      <p:ext uri="{BB962C8B-B14F-4D97-AF65-F5344CB8AC3E}">
        <p14:creationId xmlns:p14="http://schemas.microsoft.com/office/powerpoint/2010/main" val="51118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755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Herramientas Scrum…</a:t>
            </a:r>
            <a:br>
              <a:rPr lang="es-ES" dirty="0"/>
            </a:br>
            <a:br>
              <a:rPr lang="es-ES" dirty="0"/>
            </a:br>
            <a:r>
              <a:rPr lang="es-ES" b="1" dirty="0"/>
              <a:t>Trello:</a:t>
            </a:r>
            <a:r>
              <a:rPr lang="es-ES" dirty="0"/>
              <a:t> </a:t>
            </a:r>
            <a:r>
              <a:rPr lang="es-ES" sz="2800" dirty="0"/>
              <a:t>es un software de administración de proyectos con interfaz web y con cliente para iOS y </a:t>
            </a:r>
            <a:r>
              <a:rPr lang="es-ES" sz="2800" dirty="0" err="1"/>
              <a:t>android</a:t>
            </a:r>
            <a:r>
              <a:rPr lang="es-ES" sz="2800" dirty="0"/>
              <a:t> para organizar proyectos.</a:t>
            </a:r>
            <a:endParaRPr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Herramientas Scrum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0EC4E3-C52B-B8BB-875E-53DECB8AA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78" y="1647736"/>
            <a:ext cx="8387644" cy="28098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605845" y="-950789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Backend</a:t>
            </a:r>
            <a:r>
              <a:rPr lang="es-ES" dirty="0"/>
              <a:t> y </a:t>
            </a:r>
            <a:r>
              <a:rPr lang="es-ES" dirty="0" err="1"/>
              <a:t>Frontend</a:t>
            </a:r>
            <a:endParaRPr dirty="0"/>
          </a:p>
        </p:txBody>
      </p:sp>
      <p:pic>
        <p:nvPicPr>
          <p:cNvPr id="2" name="Picture 4" descr="Qué es frontend y backend? - Ecdisis Estudio">
            <a:extLst>
              <a:ext uri="{FF2B5EF4-FFF2-40B4-BE49-F238E27FC236}">
                <a16:creationId xmlns:a16="http://schemas.microsoft.com/office/drawing/2014/main" id="{FF7455F4-A335-74F9-ED74-8660116B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9640" y="1238823"/>
            <a:ext cx="3859374" cy="3338359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2B836-E5D7-F43D-C644-FB7861261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9831" y="1238823"/>
            <a:ext cx="3181734" cy="318173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9025C7-4C46-0B59-5EE1-1EC9DB7EC628}"/>
              </a:ext>
            </a:extLst>
          </p:cNvPr>
          <p:cNvSpPr txBox="1">
            <a:spLocks/>
          </p:cNvSpPr>
          <p:nvPr/>
        </p:nvSpPr>
        <p:spPr>
          <a:xfrm>
            <a:off x="439640" y="4577182"/>
            <a:ext cx="8111924" cy="1963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Open Sans"/>
              <a:buNone/>
              <a:defRPr sz="21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algn="just"/>
            <a:r>
              <a:rPr lang="es-CO" sz="1400" dirty="0">
                <a:solidFill>
                  <a:schemeClr val="bg2">
                    <a:lumMod val="50000"/>
                  </a:schemeClr>
                </a:solidFill>
              </a:rPr>
              <a:t>En general  las aplicaciones o soluciones tecnológicas están representadas de esta manera, en algunos casos las dos instancias pueden funcionar en el mismo entorno de ejecución.</a:t>
            </a:r>
          </a:p>
          <a:p>
            <a:pPr algn="just"/>
            <a:endParaRPr lang="es-CO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48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334692"/>
            <a:ext cx="8520600" cy="707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CRUD</a:t>
            </a:r>
            <a:endParaRPr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2E33221-95CB-C445-7FBF-4B4FA72FED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76263"/>
              </p:ext>
            </p:extLst>
          </p:nvPr>
        </p:nvGraphicFramePr>
        <p:xfrm>
          <a:off x="2693046" y="1996324"/>
          <a:ext cx="3100372" cy="2160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E18EAAC5-4B36-33E1-2ADB-5755D26F02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44" y="1792055"/>
            <a:ext cx="2154722" cy="245820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8FDADCD-3BD7-954F-0B01-2958A4EC83F1}"/>
              </a:ext>
            </a:extLst>
          </p:cNvPr>
          <p:cNvSpPr/>
          <p:nvPr/>
        </p:nvSpPr>
        <p:spPr>
          <a:xfrm>
            <a:off x="132853" y="1245783"/>
            <a:ext cx="5892211" cy="33086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Imagen generada">
            <a:extLst>
              <a:ext uri="{FF2B5EF4-FFF2-40B4-BE49-F238E27FC236}">
                <a16:creationId xmlns:a16="http://schemas.microsoft.com/office/drawing/2014/main" id="{F782F6E3-7618-76DF-2A32-CF994482B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510" y="1549978"/>
            <a:ext cx="2700281" cy="270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FE773-D78F-5CA4-6504-5F0350E6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5" y="220271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s-419" dirty="0"/>
              <a:t>Historia Clínica Electrónica (HCE/EHR). </a:t>
            </a:r>
          </a:p>
        </p:txBody>
      </p:sp>
      <p:pic>
        <p:nvPicPr>
          <p:cNvPr id="6" name="Imagen 5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60728F50-2B32-A3A8-0CD7-A6562745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00"/>
          <a:stretch>
            <a:fillRect/>
          </a:stretch>
        </p:blipFill>
        <p:spPr>
          <a:xfrm>
            <a:off x="854780" y="927671"/>
            <a:ext cx="6273384" cy="38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7578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695</Words>
  <Application>Microsoft Office PowerPoint</Application>
  <PresentationFormat>Presentación en pantalla (16:9)</PresentationFormat>
  <Paragraphs>111</Paragraphs>
  <Slides>19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PT Sans Narrow</vt:lpstr>
      <vt:lpstr>Open Sans</vt:lpstr>
      <vt:lpstr>Arial</vt:lpstr>
      <vt:lpstr>Tropic</vt:lpstr>
      <vt:lpstr>Informática Médica</vt:lpstr>
      <vt:lpstr>Presentación de PowerPoint</vt:lpstr>
      <vt:lpstr>Presentación de PowerPoint</vt:lpstr>
      <vt:lpstr>Jerarquía del conocimiento: Dato, Información, Conocimiento y Sabiduría (DIKW).</vt:lpstr>
      <vt:lpstr>Actividad: Programando el Triaje, El Ciclo DIKW </vt:lpstr>
      <vt:lpstr>Paradigma Cliente Servidor </vt:lpstr>
      <vt:lpstr>Proceso para la planeación y ejecución de aplicaciones digitales en salud</vt:lpstr>
      <vt:lpstr>Metodologías Agiles</vt:lpstr>
      <vt:lpstr>Scrum</vt:lpstr>
      <vt:lpstr>Ciclo de Vida SCRUM</vt:lpstr>
      <vt:lpstr>Stakeholders Product Owner </vt:lpstr>
      <vt:lpstr>SCRUM Master</vt:lpstr>
      <vt:lpstr>Equipo de trabajo  y Sprints </vt:lpstr>
      <vt:lpstr>Ciclo de Vida SCRUM</vt:lpstr>
      <vt:lpstr>Herramientas Scrum…  Trello: es un software de administración de proyectos con interfaz web y con cliente para iOS y android para organizar proyectos.</vt:lpstr>
      <vt:lpstr>Herramientas Scrum</vt:lpstr>
      <vt:lpstr>Backend y Frontend</vt:lpstr>
      <vt:lpstr>Sistemas CRUD</vt:lpstr>
      <vt:lpstr>Historia Clínica Electrónica (HCE/EHR).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para la planeación y ejecución de aplicaciones digitales en salud</dc:title>
  <dc:creator>pedro antonio aya parra</dc:creator>
  <cp:lastModifiedBy>Jefferson Steven Sarmiento Rojas</cp:lastModifiedBy>
  <cp:revision>20</cp:revision>
  <dcterms:modified xsi:type="dcterms:W3CDTF">2026-01-27T14:01:34Z</dcterms:modified>
</cp:coreProperties>
</file>