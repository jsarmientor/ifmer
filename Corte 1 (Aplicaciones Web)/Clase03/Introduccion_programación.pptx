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1" r:id="rId3"/>
    <p:sldId id="259" r:id="rId4"/>
    <p:sldId id="257" r:id="rId5"/>
    <p:sldId id="262" r:id="rId6"/>
    <p:sldId id="263" r:id="rId7"/>
    <p:sldId id="265" r:id="rId8"/>
    <p:sldId id="264" r:id="rId9"/>
    <p:sldId id="266" r:id="rId10"/>
    <p:sldId id="270" r:id="rId11"/>
    <p:sldId id="271" r:id="rId12"/>
    <p:sldId id="272" r:id="rId13"/>
    <p:sldId id="273" r:id="rId14"/>
    <p:sldId id="275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Nunito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dc41d9529c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dc41d9529c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ockcontent.com/es/blog/que-es-un-servidor/" TargetMode="External"/><Relationship Id="rId2" Type="http://schemas.openxmlformats.org/officeDocument/2006/relationships/hyperlink" Target="https://rockcontent.com/es/blog/tipos-de-lenguaje-de-programac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ockcontent.com/es/blog/interfaz-de-usuario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imetrics.com/glosario-digital/css" TargetMode="External"/><Relationship Id="rId2" Type="http://schemas.openxmlformats.org/officeDocument/2006/relationships/hyperlink" Target="https://www.arimetrics.com/glosario-digital/html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etbootstrap.esdocu.co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BD8424F-5455-33E8-EEAA-917A95B57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697" y="1300800"/>
            <a:ext cx="4895850" cy="3059906"/>
          </a:xfrm>
          <a:prstGeom prst="rect">
            <a:avLst/>
          </a:prstGeom>
        </p:spPr>
      </p:pic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91350" y="335876"/>
            <a:ext cx="5361300" cy="8846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Herramientas digitales </a:t>
            </a:r>
            <a:endParaRPr dirty="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91350" y="4360706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Aplicaciones web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48C3800-C9F4-3207-5B2A-DD154379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893902"/>
            <a:ext cx="5472113" cy="410408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211D70B-F9D5-6A06-6329-D65D6C6CF719}"/>
              </a:ext>
            </a:extLst>
          </p:cNvPr>
          <p:cNvSpPr txBox="1"/>
          <p:nvPr/>
        </p:nvSpPr>
        <p:spPr>
          <a:xfrm>
            <a:off x="792958" y="2571750"/>
            <a:ext cx="1550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3222594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57303-CCEA-75B7-9C4E-7CA73A0C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Partes de una página web </a:t>
            </a:r>
            <a:b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CF80F8-AECE-37A6-D841-32BE0B7D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40" y="1243628"/>
            <a:ext cx="3267075" cy="3390900"/>
          </a:xfrm>
          <a:prstGeom prst="rect">
            <a:avLst/>
          </a:prstGeom>
        </p:spPr>
      </p:pic>
      <p:pic>
        <p:nvPicPr>
          <p:cNvPr id="5" name="Imagen 4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5E1A4129-EB70-2F6B-1B53-468806517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83" y="381794"/>
            <a:ext cx="2082799" cy="20827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2E4C3C7-6D25-9A01-8405-7FCE3A955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043" y="2464593"/>
            <a:ext cx="4800180" cy="244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209806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 del código </a:t>
            </a:r>
            <a:b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dirty="0"/>
          </a:p>
        </p:txBody>
      </p:sp>
      <p:pic>
        <p:nvPicPr>
          <p:cNvPr id="3" name="Imagen 2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40B842AC-61B1-13D4-DCBC-4CB42E90C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73" y="1376977"/>
            <a:ext cx="7326054" cy="1565512"/>
          </a:xfrm>
          <a:prstGeom prst="rect">
            <a:avLst/>
          </a:prstGeo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4AA00B09-6712-E015-C5DC-279BD6D4C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3155060"/>
            <a:ext cx="466725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291D8-67D1-7601-A30A-46D91EA1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195519"/>
            <a:ext cx="7505700" cy="954600"/>
          </a:xfrm>
        </p:spPr>
        <p:txBody>
          <a:bodyPr/>
          <a:lstStyle/>
          <a:p>
            <a:r>
              <a:rPr lang="es-CO" dirty="0"/>
              <a:t>Principales Etiquetas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FBCB9B3-B346-7BFA-76DD-4127766DB882}"/>
              </a:ext>
            </a:extLst>
          </p:cNvPr>
          <p:cNvGrpSpPr/>
          <p:nvPr/>
        </p:nvGrpSpPr>
        <p:grpSpPr>
          <a:xfrm>
            <a:off x="1244863" y="835819"/>
            <a:ext cx="7159901" cy="4029075"/>
            <a:chOff x="1244863" y="835819"/>
            <a:chExt cx="7159901" cy="4029075"/>
          </a:xfrm>
        </p:grpSpPr>
        <p:pic>
          <p:nvPicPr>
            <p:cNvPr id="4" name="Imagen 3" descr="Captura de pantalla de un celular&#10;&#10;Descripción generada automáticamente">
              <a:extLst>
                <a:ext uri="{FF2B5EF4-FFF2-40B4-BE49-F238E27FC236}">
                  <a16:creationId xmlns:a16="http://schemas.microsoft.com/office/drawing/2014/main" id="{8F2B6668-0A74-D2EC-F72D-6D0CA1F5A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4863" y="835819"/>
              <a:ext cx="7159901" cy="4029075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D26B142-AF6C-6A47-1998-D868549AD9FA}"/>
                </a:ext>
              </a:extLst>
            </p:cNvPr>
            <p:cNvSpPr/>
            <p:nvPr/>
          </p:nvSpPr>
          <p:spPr>
            <a:xfrm>
              <a:off x="1328739" y="3514725"/>
              <a:ext cx="1443036" cy="12715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dirty="0">
                  <a:solidFill>
                    <a:schemeClr val="bg2"/>
                  </a:solidFill>
                </a:rPr>
                <a:t>Las etiquetas son necesarias para la construcción de una página web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47E4768-B270-C8CE-6AC5-72BC7AD45E23}"/>
                </a:ext>
              </a:extLst>
            </p:cNvPr>
            <p:cNvSpPr/>
            <p:nvPr/>
          </p:nvSpPr>
          <p:spPr>
            <a:xfrm>
              <a:off x="6741851" y="4229099"/>
              <a:ext cx="1443036" cy="55721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100" dirty="0">
                  <a:solidFill>
                    <a:schemeClr val="bg2"/>
                  </a:solidFill>
                </a:rPr>
                <a:t>Tu creatividad juega un papel importante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8BB4F08-9094-B450-F7C0-EE76504F2FEF}"/>
                </a:ext>
              </a:extLst>
            </p:cNvPr>
            <p:cNvSpPr/>
            <p:nvPr/>
          </p:nvSpPr>
          <p:spPr>
            <a:xfrm>
              <a:off x="1845471" y="3158262"/>
              <a:ext cx="176210" cy="8500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64451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11D70B-F9D5-6A06-6329-D65D6C6CF719}"/>
              </a:ext>
            </a:extLst>
          </p:cNvPr>
          <p:cNvSpPr txBox="1"/>
          <p:nvPr/>
        </p:nvSpPr>
        <p:spPr>
          <a:xfrm>
            <a:off x="792958" y="2571750"/>
            <a:ext cx="1550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CSS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7E4F97-3771-6CB7-5791-9229AA4318C6}"/>
              </a:ext>
            </a:extLst>
          </p:cNvPr>
          <p:cNvSpPr txBox="1"/>
          <p:nvPr/>
        </p:nvSpPr>
        <p:spPr>
          <a:xfrm>
            <a:off x="2683980" y="1556087"/>
            <a:ext cx="58806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CSS son las siglas en inglés para «hojas de estilo en cascada» (</a:t>
            </a:r>
            <a:r>
              <a:rPr lang="es-MX" dirty="0" err="1"/>
              <a:t>Cascading</a:t>
            </a:r>
            <a:r>
              <a:rPr lang="es-MX" dirty="0"/>
              <a:t> Style </a:t>
            </a:r>
            <a:r>
              <a:rPr lang="es-MX" dirty="0" err="1"/>
              <a:t>Sheets</a:t>
            </a:r>
            <a:r>
              <a:rPr lang="es-MX" dirty="0"/>
              <a:t>). Básicamente, es un lenguaje que maneja el diseño y presentación de las páginas web, es decir, cómo lucen cuando un usuario las visita. Funciona junto con el lenguaje HTML que se encarga del contenido básico de las páginas.</a:t>
            </a:r>
          </a:p>
          <a:p>
            <a:endParaRPr lang="es-MX" dirty="0"/>
          </a:p>
          <a:p>
            <a:r>
              <a:rPr lang="es-MX" dirty="0"/>
              <a:t>Se les denomina hojas de estilo «en cascada» porque puedes tener varias hojas y una de ellas con las propiedades heredadas (o «en cascada») de otras.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3043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F6901-D5A6-6FF7-CB8B-1E9E2F9E1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dirty="0"/>
              <a:t>Propiedades de CSS</a:t>
            </a:r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4D8D3F92-68EB-3D29-0FED-A84567CC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63" y="1182075"/>
            <a:ext cx="6792273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4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05990-F310-F164-6D7F-BCD9D9C3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4094"/>
            <a:ext cx="7505700" cy="954600"/>
          </a:xfrm>
        </p:spPr>
        <p:txBody>
          <a:bodyPr/>
          <a:lstStyle/>
          <a:p>
            <a:r>
              <a:rPr lang="es-CO" dirty="0"/>
              <a:t>Márgenes 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915B9AC6-6388-6975-F110-45FDEE2F0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432" y="2057401"/>
            <a:ext cx="4194826" cy="2805690"/>
          </a:xfrm>
          <a:prstGeom prst="rect">
            <a:avLst/>
          </a:prstGeom>
        </p:spPr>
      </p:pic>
      <p:pic>
        <p:nvPicPr>
          <p:cNvPr id="7" name="Imagen 6" descr="Tabla&#10;&#10;Descripción generada automáticamente con confianza baja">
            <a:extLst>
              <a:ext uri="{FF2B5EF4-FFF2-40B4-BE49-F238E27FC236}">
                <a16:creationId xmlns:a16="http://schemas.microsoft.com/office/drawing/2014/main" id="{8CF1EAD0-489D-09C5-EC8F-160FA3C3E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7" y="1356166"/>
            <a:ext cx="4259025" cy="24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F65A5-07AD-7788-F824-5A40506B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 del código</a:t>
            </a:r>
            <a:endParaRPr lang="es-CO" dirty="0"/>
          </a:p>
        </p:txBody>
      </p:sp>
      <p:pic>
        <p:nvPicPr>
          <p:cNvPr id="5" name="Imagen 4" descr="Texto, Escala de tiempo&#10;&#10;Descripción generada automáticamente">
            <a:extLst>
              <a:ext uri="{FF2B5EF4-FFF2-40B4-BE49-F238E27FC236}">
                <a16:creationId xmlns:a16="http://schemas.microsoft.com/office/drawing/2014/main" id="{30A6C5ED-DAF1-D753-44DE-8A398CBE5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93" y="1022842"/>
            <a:ext cx="6216414" cy="37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4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11D70B-F9D5-6A06-6329-D65D6C6CF719}"/>
              </a:ext>
            </a:extLst>
          </p:cNvPr>
          <p:cNvSpPr txBox="1"/>
          <p:nvPr/>
        </p:nvSpPr>
        <p:spPr>
          <a:xfrm>
            <a:off x="464345" y="2571750"/>
            <a:ext cx="2143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PHP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7E4F97-3771-6CB7-5791-9229AA4318C6}"/>
              </a:ext>
            </a:extLst>
          </p:cNvPr>
          <p:cNvSpPr txBox="1"/>
          <p:nvPr/>
        </p:nvSpPr>
        <p:spPr>
          <a:xfrm>
            <a:off x="2369656" y="1763256"/>
            <a:ext cx="5880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PHP (</a:t>
            </a:r>
            <a:r>
              <a:rPr lang="es-CO" dirty="0" err="1"/>
              <a:t>Hypertext</a:t>
            </a:r>
            <a:r>
              <a:rPr lang="es-CO" dirty="0"/>
              <a:t> </a:t>
            </a:r>
            <a:r>
              <a:rPr lang="es-CO" dirty="0" err="1"/>
              <a:t>Preprocessor</a:t>
            </a:r>
            <a:r>
              <a:rPr lang="es-MX" dirty="0"/>
              <a:t>) es un </a:t>
            </a: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lenguaje de programación</a:t>
            </a:r>
            <a:r>
              <a:rPr lang="es-MX" dirty="0"/>
              <a:t> destinado a desarrollar aplicaciones para la web y crear páginas web, favoreciendo la conexión entre los </a:t>
            </a:r>
            <a:r>
              <a:rPr lang="es-MX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servidores</a:t>
            </a:r>
            <a:r>
              <a:rPr lang="es-MX" dirty="0"/>
              <a:t> y la </a:t>
            </a:r>
            <a:r>
              <a:rPr lang="es-MX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interfaz de usuario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Este lenguaje se utiliza generalmente para desarrollar el </a:t>
            </a:r>
            <a:r>
              <a:rPr lang="es-MX" b="1" dirty="0" err="1"/>
              <a:t>backend</a:t>
            </a:r>
            <a:r>
              <a:rPr lang="es-MX" b="1" dirty="0"/>
              <a:t> </a:t>
            </a:r>
            <a:r>
              <a:rPr lang="es-MX" dirty="0"/>
              <a:t>de una web, del lado </a:t>
            </a:r>
            <a:r>
              <a:rPr lang="es-MX" b="1" dirty="0"/>
              <a:t>del servidor</a:t>
            </a:r>
            <a:r>
              <a:rPr lang="es-MX" dirty="0"/>
              <a:t>. Aun así, tiene numerosas utilidades en frontend. Es por esto que es uno de los principales lenguajes de programación en el mundo de la programación web.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9781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6BB6F-74B8-8C8B-0B53-A918D08F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dirty="0"/>
              <a:t>Funcionamiento de PHP</a:t>
            </a: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6FAC5700-DA3D-29E1-663B-29BE430E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00" y="945661"/>
            <a:ext cx="5753599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0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1245C-172B-8EB0-B9CA-E498D3C2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85726"/>
            <a:ext cx="7505700" cy="954600"/>
          </a:xfrm>
        </p:spPr>
        <p:txBody>
          <a:bodyPr/>
          <a:lstStyle/>
          <a:p>
            <a:r>
              <a:rPr lang="es-CO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 del código</a:t>
            </a:r>
            <a:endParaRPr lang="es-CO" dirty="0"/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41A312A-03EB-EE83-B82E-4B7E23EF81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389"/>
          <a:stretch/>
        </p:blipFill>
        <p:spPr>
          <a:xfrm>
            <a:off x="2286001" y="715287"/>
            <a:ext cx="4900612" cy="434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90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11D70B-F9D5-6A06-6329-D65D6C6CF719}"/>
              </a:ext>
            </a:extLst>
          </p:cNvPr>
          <p:cNvSpPr txBox="1"/>
          <p:nvPr/>
        </p:nvSpPr>
        <p:spPr>
          <a:xfrm>
            <a:off x="428626" y="2356306"/>
            <a:ext cx="2250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JavaScript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7E4F97-3771-6CB7-5791-9229AA4318C6}"/>
              </a:ext>
            </a:extLst>
          </p:cNvPr>
          <p:cNvSpPr txBox="1"/>
          <p:nvPr/>
        </p:nvSpPr>
        <p:spPr>
          <a:xfrm>
            <a:off x="3041167" y="1556087"/>
            <a:ext cx="58806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/>
              <a:t>JavaScript</a:t>
            </a:r>
            <a:r>
              <a:rPr lang="es-MX" i="1" dirty="0"/>
              <a:t> </a:t>
            </a:r>
            <a:r>
              <a:rPr lang="es-MX" dirty="0"/>
              <a:t>es un lenguaje de programación diseñado en un principio para añadir interactividad a las páginas webs y crear aplicaciones web. </a:t>
            </a:r>
          </a:p>
          <a:p>
            <a:endParaRPr lang="es-MX" dirty="0"/>
          </a:p>
          <a:p>
            <a:r>
              <a:rPr lang="es-MX" dirty="0"/>
              <a:t>JavaScript es un lenguaje de alto nivel, dinámico e interpretado. Se define como orientado a objetos, basado en prototipos, imperativo y débilmente tipado. Junto al </a:t>
            </a:r>
            <a:r>
              <a:rPr lang="es-MX" i="1" dirty="0">
                <a:hlinkClick r:id="rId2"/>
              </a:rPr>
              <a:t>HTML</a:t>
            </a:r>
            <a:r>
              <a:rPr lang="es-MX" dirty="0"/>
              <a:t> y a </a:t>
            </a:r>
            <a:r>
              <a:rPr lang="es-MX" i="1" dirty="0">
                <a:hlinkClick r:id="rId3"/>
              </a:rPr>
              <a:t>CSS</a:t>
            </a:r>
            <a:r>
              <a:rPr lang="es-MX" dirty="0"/>
              <a:t>, es una de las tres tecnologías esenciales en la producción mundial webs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2737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6BB6F-74B8-8C8B-0B53-A918D08F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dirty="0"/>
              <a:t>Funcionamiento de JavaScript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9E4C31-512B-0F43-62E6-7FE8C0A971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5" b="1995"/>
          <a:stretch/>
        </p:blipFill>
        <p:spPr>
          <a:xfrm>
            <a:off x="2712244" y="978693"/>
            <a:ext cx="3638550" cy="393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11D70B-F9D5-6A06-6329-D65D6C6CF719}"/>
              </a:ext>
            </a:extLst>
          </p:cNvPr>
          <p:cNvSpPr txBox="1"/>
          <p:nvPr/>
        </p:nvSpPr>
        <p:spPr>
          <a:xfrm>
            <a:off x="464345" y="2571750"/>
            <a:ext cx="2143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Bootstrap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7E4F97-3771-6CB7-5791-9229AA4318C6}"/>
              </a:ext>
            </a:extLst>
          </p:cNvPr>
          <p:cNvSpPr txBox="1"/>
          <p:nvPr/>
        </p:nvSpPr>
        <p:spPr>
          <a:xfrm>
            <a:off x="2826855" y="1148893"/>
            <a:ext cx="5880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Bootstrap es el marco frontal más popular del mundo para la construcción de sitios móviles y aplicaciones sensibles. Encontraras HTML, CSS Y JAVASCRIPT. Para iniciar cualquier proyecto de la manera más Fácil.</a:t>
            </a:r>
            <a:endParaRPr lang="es-CO" dirty="0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698FAA0A-0D4A-2A1C-401E-89C0CDD66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398" y="2864137"/>
            <a:ext cx="3657600" cy="191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6BB6F-74B8-8C8B-0B53-A918D08F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dirty="0"/>
              <a:t>Propiedades de Bootstrap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0FEC29-F44A-BB22-F5FA-9AEDFA3917E1}"/>
              </a:ext>
            </a:extLst>
          </p:cNvPr>
          <p:cNvSpPr txBox="1"/>
          <p:nvPr/>
        </p:nvSpPr>
        <p:spPr>
          <a:xfrm>
            <a:off x="1139428" y="1739206"/>
            <a:ext cx="29682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Diseño responsive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	</a:t>
            </a:r>
            <a:r>
              <a:rPr lang="es-CO" dirty="0"/>
              <a:t>dispositivos móviles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	equipos de escritorio</a:t>
            </a:r>
          </a:p>
          <a:p>
            <a:endParaRPr lang="es-CO" b="1" dirty="0"/>
          </a:p>
          <a:p>
            <a:endParaRPr lang="es-CO" b="1" dirty="0"/>
          </a:p>
          <a:p>
            <a:r>
              <a:rPr lang="es-CO" b="1" dirty="0"/>
              <a:t>Biblioteca de componentes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	</a:t>
            </a:r>
            <a:r>
              <a:rPr lang="es-CO" dirty="0"/>
              <a:t>Alertas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	Carrusel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	Barra de navegación</a:t>
            </a:r>
          </a:p>
          <a:p>
            <a:endParaRPr lang="es-CO" b="1" dirty="0"/>
          </a:p>
        </p:txBody>
      </p:sp>
      <p:pic>
        <p:nvPicPr>
          <p:cNvPr id="9" name="Imagen 8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38399185-EF37-A019-C28C-D53F20248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494" y="2269212"/>
            <a:ext cx="4433888" cy="250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22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B284B-BD5A-A1CB-DDBD-38D32DFC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27475"/>
            <a:ext cx="7505700" cy="954600"/>
          </a:xfrm>
        </p:spPr>
        <p:txBody>
          <a:bodyPr/>
          <a:lstStyle/>
          <a:p>
            <a:r>
              <a:rPr lang="es-CO" dirty="0"/>
              <a:t>Página principal…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3298AB-D77C-AFE6-1B71-A31A28F027E5}"/>
              </a:ext>
            </a:extLst>
          </p:cNvPr>
          <p:cNvSpPr txBox="1"/>
          <p:nvPr/>
        </p:nvSpPr>
        <p:spPr>
          <a:xfrm>
            <a:off x="3002158" y="4494236"/>
            <a:ext cx="3139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2"/>
              </a:rPr>
              <a:t>https://getbootstrap.esdocu.com/</a:t>
            </a:r>
            <a:endParaRPr lang="es-CO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602D7B-A978-099C-322D-87F0F1D0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6" y="1089155"/>
            <a:ext cx="7172325" cy="327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48790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368</Words>
  <Application>Microsoft Office PowerPoint</Application>
  <PresentationFormat>Presentación en pantalla (16:9)</PresentationFormat>
  <Paragraphs>40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Calibri</vt:lpstr>
      <vt:lpstr>Arial</vt:lpstr>
      <vt:lpstr>Nunito</vt:lpstr>
      <vt:lpstr>Shift</vt:lpstr>
      <vt:lpstr>Herramientas digitales </vt:lpstr>
      <vt:lpstr>Presentación de PowerPoint</vt:lpstr>
      <vt:lpstr>Partes de una página web  </vt:lpstr>
      <vt:lpstr>Estructura del código  </vt:lpstr>
      <vt:lpstr>Principales Etiquetas</vt:lpstr>
      <vt:lpstr>Presentación de PowerPoint</vt:lpstr>
      <vt:lpstr>Propiedades de CSS</vt:lpstr>
      <vt:lpstr>Márgenes </vt:lpstr>
      <vt:lpstr>Estructura del código</vt:lpstr>
      <vt:lpstr>Presentación de PowerPoint</vt:lpstr>
      <vt:lpstr>Funcionamiento de PHP</vt:lpstr>
      <vt:lpstr>Estructura del código</vt:lpstr>
      <vt:lpstr>Presentación de PowerPoint</vt:lpstr>
      <vt:lpstr>Funcionamiento de JavaScript</vt:lpstr>
      <vt:lpstr>Presentación de PowerPoint</vt:lpstr>
      <vt:lpstr>Propiedades de Bootstrap</vt:lpstr>
      <vt:lpstr>Página principal…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digitales</dc:title>
  <dc:creator>Pedro_Aya</dc:creator>
  <cp:lastModifiedBy>Pedro Antonio Aya Parra</cp:lastModifiedBy>
  <cp:revision>2</cp:revision>
  <dcterms:modified xsi:type="dcterms:W3CDTF">2023-02-10T16:32:18Z</dcterms:modified>
</cp:coreProperties>
</file>