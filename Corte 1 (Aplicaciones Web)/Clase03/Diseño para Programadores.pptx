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94" r:id="rId3"/>
    <p:sldId id="344" r:id="rId4"/>
    <p:sldId id="293" r:id="rId5"/>
    <p:sldId id="295" r:id="rId6"/>
    <p:sldId id="296" r:id="rId7"/>
    <p:sldId id="297" r:id="rId8"/>
    <p:sldId id="350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45" r:id="rId22"/>
    <p:sldId id="346" r:id="rId23"/>
    <p:sldId id="310" r:id="rId24"/>
    <p:sldId id="311" r:id="rId25"/>
    <p:sldId id="312" r:id="rId26"/>
    <p:sldId id="313" r:id="rId27"/>
    <p:sldId id="314" r:id="rId28"/>
    <p:sldId id="316" r:id="rId29"/>
    <p:sldId id="347" r:id="rId30"/>
    <p:sldId id="348" r:id="rId31"/>
    <p:sldId id="349" r:id="rId32"/>
    <p:sldId id="351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9" r:id="rId45"/>
    <p:sldId id="330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292" r:id="rId58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74F80-D398-4D51-AF58-9EFCE8C9A125}" type="datetimeFigureOut">
              <a:rPr lang="es-CO" smtClean="0"/>
              <a:t>10/02/2023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6B05-1A55-4E8E-B2B3-B41DC85D2A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711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B6B05-1A55-4E8E-B2B3-B41DC85D2AA7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6487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B6B05-1A55-4E8E-B2B3-B41DC85D2AA7}" type="slidenum">
              <a:rPr lang="es-CO" smtClean="0"/>
              <a:t>44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184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288158"/>
            <a:ext cx="7772400" cy="635629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046741"/>
            <a:ext cx="6400800" cy="78119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873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20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163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75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37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26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8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64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0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12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10/02/2023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35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5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A88C307-FA79-424F-9DCB-12E8299DCD2C}" type="datetimeFigureOut">
              <a:rPr lang="es-ES" smtClean="0"/>
              <a:pPr/>
              <a:t>10/02/2023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BBF7D37-5A5D-AC4E-8B76-1127B031D66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257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DELL\Downloads\psicologia_del_color.mp4" TargetMode="External"/><Relationship Id="rId1" Type="http://schemas.microsoft.com/office/2007/relationships/media" Target="file:///C:\Users\DELL\Downloads\psicologia_del_color.mp4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terialpalette.com/" TargetMode="External"/><Relationship Id="rId3" Type="http://schemas.openxmlformats.org/officeDocument/2006/relationships/image" Target="../media/image41.gif"/><Relationship Id="rId7" Type="http://schemas.openxmlformats.org/officeDocument/2006/relationships/image" Target="../media/image43.png"/><Relationship Id="rId2" Type="http://schemas.openxmlformats.org/officeDocument/2006/relationships/hyperlink" Target="https://pinetools.com/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or.adobe.com/es/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://paletton.com/#uid=1000u0kllllaFw0g0qFqFg0w0aF" TargetMode="External"/><Relationship Id="rId9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contrastchecker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hyperlink" Target="https://letsenhance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hyperlink" Target="https://openai.com/dall-e-2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rtcalculator.com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-1" y="1732314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altLang="es-ES" sz="2000" b="1" dirty="0">
                <a:latin typeface="Arial" panose="020B0604020202020204" pitchFamily="34" charset="0"/>
              </a:rPr>
              <a:t>Diseño para Programadores</a:t>
            </a:r>
            <a:endParaRPr lang="es-CO" sz="2000" b="1" dirty="0">
              <a:solidFill>
                <a:schemeClr val="tx1">
                  <a:lumMod val="65000"/>
                  <a:lumOff val="35000"/>
                </a:schemeClr>
              </a:solidFill>
              <a:latin typeface="Myriad Pro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3C38A5-0904-475C-B78C-818A21986216}"/>
              </a:ext>
            </a:extLst>
          </p:cNvPr>
          <p:cNvSpPr txBox="1"/>
          <p:nvPr/>
        </p:nvSpPr>
        <p:spPr>
          <a:xfrm>
            <a:off x="3663193" y="3011077"/>
            <a:ext cx="18176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s-ES_tradnl" altLang="es-ES" sz="1400" dirty="0">
                <a:latin typeface="Arial" panose="020B0604020202020204" pitchFamily="34" charset="0"/>
              </a:rPr>
              <a:t>Profesores: </a:t>
            </a:r>
          </a:p>
          <a:p>
            <a:pPr algn="ctr">
              <a:defRPr/>
            </a:pPr>
            <a:r>
              <a:rPr lang="es-ES_tradnl" altLang="es-ES" sz="1400" dirty="0">
                <a:latin typeface="Arial" panose="020B0604020202020204" pitchFamily="34" charset="0"/>
              </a:rPr>
              <a:t>Ing. Pedro Antonio A</a:t>
            </a:r>
          </a:p>
          <a:p>
            <a:pPr algn="ctr">
              <a:defRPr/>
            </a:pPr>
            <a:r>
              <a:rPr lang="es-ES_tradnl" altLang="es-ES" sz="1400" dirty="0">
                <a:latin typeface="Arial" panose="020B0604020202020204" pitchFamily="34" charset="0"/>
              </a:rPr>
              <a:t>Ing. Jefferson S</a:t>
            </a:r>
          </a:p>
          <a:p>
            <a:pPr algn="ctr">
              <a:defRPr/>
            </a:pPr>
            <a:endParaRPr lang="es-ES_tradnl" altLang="es-ES" sz="1400" dirty="0">
              <a:latin typeface="Arial" panose="020B0604020202020204" pitchFamily="34" charset="0"/>
            </a:endParaRPr>
          </a:p>
          <a:p>
            <a:pPr algn="ctr">
              <a:defRPr/>
            </a:pPr>
            <a:r>
              <a:rPr lang="es-ES_tradnl" altLang="es-ES" sz="1400" dirty="0">
                <a:latin typeface="Arial" panose="020B0604020202020204" pitchFamily="34" charset="0"/>
              </a:rPr>
              <a:t>Bogotá, 2023</a:t>
            </a:r>
          </a:p>
          <a:p>
            <a:pPr algn="ctr"/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38778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59A89-C8DD-4C4A-A937-10200CCE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92"/>
            <a:ext cx="7886700" cy="994172"/>
          </a:xfrm>
        </p:spPr>
        <p:txBody>
          <a:bodyPr/>
          <a:lstStyle/>
          <a:p>
            <a:pPr algn="ctr"/>
            <a:r>
              <a:rPr lang="es-CO" dirty="0"/>
              <a:t>Contenido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0C7C2D-E743-4633-AD05-EAE65A6B1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11" y="1708150"/>
            <a:ext cx="8229600" cy="2062338"/>
          </a:xfrm>
        </p:spPr>
        <p:txBody>
          <a:bodyPr>
            <a:normAutofit/>
          </a:bodyPr>
          <a:lstStyle/>
          <a:p>
            <a:r>
              <a:rPr lang="es-CO" dirty="0"/>
              <a:t>Diseño para programadores</a:t>
            </a:r>
          </a:p>
          <a:p>
            <a:r>
              <a:rPr lang="es-CO" dirty="0"/>
              <a:t>Colores</a:t>
            </a:r>
          </a:p>
          <a:p>
            <a:r>
              <a:rPr lang="es-CO" dirty="0"/>
              <a:t>Tipografía </a:t>
            </a:r>
          </a:p>
          <a:p>
            <a:r>
              <a:rPr lang="es-CO" dirty="0"/>
              <a:t>Espacios 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6367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13A43-D33C-494E-BA03-5ACC1993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para Programadores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0A204-3F61-4B37-9D92-3086B2EE3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O" dirty="0"/>
              <a:t>Para que un desarrollo de software sea exitoso se necesita un buen código pero también es necesario que vaya acompañado de un buen diseño.</a:t>
            </a:r>
          </a:p>
          <a:p>
            <a:pPr algn="just"/>
            <a:r>
              <a:rPr lang="es-CO" dirty="0"/>
              <a:t>La mayoría de los programadores no conocen mucho de diseño y esto les afecta mucho al momento de querer lanzar un producto al público.</a:t>
            </a:r>
          </a:p>
          <a:p>
            <a:pPr algn="just"/>
            <a:r>
              <a:rPr lang="es-CO" dirty="0"/>
              <a:t>Es por eso que en este curso aprenderemos sobre conceptos básicos y las mejores prácticas de diseño que se pueden aplicar en el desarrollo de software.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6057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13A43-D33C-494E-BA03-5ACC1993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Diseño para Programadores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0A204-3F61-4B37-9D92-3086B2EE3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dirty="0"/>
              <a:t>Conoceremos desde lo básico del uso de </a:t>
            </a:r>
            <a:r>
              <a:rPr lang="es-CO" b="1" dirty="0"/>
              <a:t>colores</a:t>
            </a:r>
            <a:r>
              <a:rPr lang="es-CO" dirty="0"/>
              <a:t>, sus significados y contrastes, hasta el uso de la </a:t>
            </a:r>
            <a:r>
              <a:rPr lang="es-CO" b="1" dirty="0"/>
              <a:t>tipografía</a:t>
            </a:r>
            <a:r>
              <a:rPr lang="es-CO" dirty="0"/>
              <a:t> y la utilización de </a:t>
            </a:r>
            <a:r>
              <a:rPr lang="es-CO" b="1" dirty="0"/>
              <a:t>espacios</a:t>
            </a:r>
            <a:r>
              <a:rPr lang="es-CO" dirty="0"/>
              <a:t> en una interfaz.</a:t>
            </a:r>
          </a:p>
          <a:p>
            <a:pPr algn="just"/>
            <a:r>
              <a:rPr lang="es-CO" dirty="0"/>
              <a:t>Esto lo haremos combinando la parte teórica con ejemplos prácticos en donde veremos mejoras drásticas en el diseño de una aplicación.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582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A942D-60CB-4061-B257-E7D7360F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C1C24F7-CACE-4C01-B238-04365680B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666" y="1253267"/>
            <a:ext cx="1840012" cy="326350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A381279-CB73-4E9A-BA4D-501512624AB1}"/>
              </a:ext>
            </a:extLst>
          </p:cNvPr>
          <p:cNvSpPr txBox="1"/>
          <p:nvPr/>
        </p:nvSpPr>
        <p:spPr>
          <a:xfrm>
            <a:off x="2725221" y="2225502"/>
            <a:ext cx="331509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dirty="0"/>
              <a:t>La teoría del color </a:t>
            </a:r>
          </a:p>
          <a:p>
            <a:pPr algn="ctr"/>
            <a:r>
              <a:rPr lang="es-CO" sz="1350" dirty="0"/>
              <a:t>Permite dar estilo y de paso ayuda al usuario a conocer o intuir que hace tu aplicación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271C95-FAEB-4451-8F9E-BE0B23D8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72" y="1282425"/>
            <a:ext cx="1851741" cy="331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9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C52F5-ED91-48E0-949B-E72F4D08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Que color elegir ?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47F22B1-3C1F-4ED0-AB07-3E100F332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54" y="1165979"/>
            <a:ext cx="4148818" cy="23328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CC4086-DA51-4284-9877-F5BC9D0F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80917"/>
            <a:ext cx="4367075" cy="245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8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1DCCC-D568-409C-93CE-4108630E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Teoría del Color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E9F5769-FF31-4F18-A29A-3CB3621BC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121" y="937615"/>
            <a:ext cx="3251182" cy="3726837"/>
          </a:xfrm>
          <a:prstGeom prst="rect">
            <a:avLst/>
          </a:prstGeom>
        </p:spPr>
      </p:pic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9373FF0E-0953-40BD-B0C1-07D3B0D86CE9}"/>
              </a:ext>
            </a:extLst>
          </p:cNvPr>
          <p:cNvSpPr/>
          <p:nvPr/>
        </p:nvSpPr>
        <p:spPr>
          <a:xfrm>
            <a:off x="4897583" y="2230582"/>
            <a:ext cx="1073727" cy="994172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2DD77A8D-1E7A-4EDC-ACF1-BD729CE345BB}"/>
              </a:ext>
            </a:extLst>
          </p:cNvPr>
          <p:cNvSpPr/>
          <p:nvPr/>
        </p:nvSpPr>
        <p:spPr>
          <a:xfrm>
            <a:off x="7055428" y="2167479"/>
            <a:ext cx="1073727" cy="994172"/>
          </a:xfrm>
          <a:prstGeom prst="flowChartConnector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</p:spTree>
    <p:extLst>
      <p:ext uri="{BB962C8B-B14F-4D97-AF65-F5344CB8AC3E}">
        <p14:creationId xmlns:p14="http://schemas.microsoft.com/office/powerpoint/2010/main" val="283576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sicologia_del_color">
            <a:hlinkClick r:id="" action="ppaction://media"/>
            <a:extLst>
              <a:ext uri="{FF2B5EF4-FFF2-40B4-BE49-F238E27FC236}">
                <a16:creationId xmlns:a16="http://schemas.microsoft.com/office/drawing/2014/main" id="{1AE3608C-E1F7-4432-8630-089BF0293E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317" y="243348"/>
            <a:ext cx="7777365" cy="439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7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0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BD6A7-1260-4455-B6CE-AA5573B1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60" y="34474"/>
            <a:ext cx="7886700" cy="994172"/>
          </a:xfrm>
        </p:spPr>
        <p:txBody>
          <a:bodyPr/>
          <a:lstStyle/>
          <a:p>
            <a:r>
              <a:rPr lang="es-CO" dirty="0"/>
              <a:t>Teoría del Color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4016635-4542-49DB-A7B1-42E6BCFB0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9850" y="889540"/>
            <a:ext cx="4407477" cy="375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639EAB5-92E6-4B3A-A23C-E1BAC9C8F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09" y="2477680"/>
            <a:ext cx="2333069" cy="15608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A927FD-867C-4BB6-8328-BFF8F8F9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419" y="2571750"/>
            <a:ext cx="2365930" cy="15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9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A759D-70A9-4FE6-AC51-06EA2550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Teoría del Color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366472F-EC6D-4715-8A2E-8C9B61755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027" y="1286490"/>
            <a:ext cx="5143945" cy="322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0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F80C0-F3FB-4EB4-9E83-B8E9B2CD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Teoría del Color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6BAC6B-356D-44AA-AD46-6B492C23E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587" y="894094"/>
            <a:ext cx="1176770" cy="1182899"/>
          </a:xfrm>
          <a:prstGeom prst="rect">
            <a:avLst/>
          </a:prstGeom>
        </p:spPr>
      </p:pic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9FBCA7C6-4B48-4EDA-9448-5494E1CC4D8E}"/>
              </a:ext>
            </a:extLst>
          </p:cNvPr>
          <p:cNvSpPr/>
          <p:nvPr/>
        </p:nvSpPr>
        <p:spPr>
          <a:xfrm>
            <a:off x="903144" y="1795896"/>
            <a:ext cx="1814945" cy="1551708"/>
          </a:xfrm>
          <a:prstGeom prst="flowChartProcess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100" b="1" dirty="0">
                <a:solidFill>
                  <a:srgbClr val="00B0F0"/>
                </a:solidFill>
              </a:rPr>
              <a:t>Azul</a:t>
            </a:r>
            <a:r>
              <a:rPr lang="es-CO" sz="21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Confianza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Fuerza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Éxito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8447A5-DE78-4BF7-8BA5-603A801F8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725" y="2216918"/>
            <a:ext cx="1219632" cy="11947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AA07FA-FD75-4593-8146-7072E5C0F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927" y="896814"/>
            <a:ext cx="2283835" cy="12644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3B59D75-9F9B-4794-B3F3-3FB01B331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873" y="2417487"/>
            <a:ext cx="2834544" cy="10760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A8DDB9-D67D-4AF4-B570-317765923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927" y="3573500"/>
            <a:ext cx="2486025" cy="9572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44AEE10-6B84-4051-A057-225E4283FC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3725" y="3514217"/>
            <a:ext cx="1219631" cy="120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4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B1136-53BD-46B6-B12E-5EB1DFEE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Teoría del Color 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A660B36-8B59-4EC4-82E5-F8442E5A5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4766" y="3664925"/>
            <a:ext cx="1150624" cy="1028217"/>
          </a:xfrm>
          <a:prstGeom prst="rect">
            <a:avLst/>
          </a:prstGeom>
        </p:spPr>
      </p:pic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36CF0DE2-CE1E-47B3-A669-AAFEF22C2853}"/>
              </a:ext>
            </a:extLst>
          </p:cNvPr>
          <p:cNvSpPr/>
          <p:nvPr/>
        </p:nvSpPr>
        <p:spPr>
          <a:xfrm>
            <a:off x="816709" y="1795896"/>
            <a:ext cx="1814945" cy="1551708"/>
          </a:xfrm>
          <a:prstGeom prst="flowChartProcess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100" b="1" dirty="0">
                <a:solidFill>
                  <a:srgbClr val="00B050"/>
                </a:solidFill>
              </a:rPr>
              <a:t>Verde</a:t>
            </a:r>
            <a:r>
              <a:rPr lang="es-CO" sz="21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Tranquilidad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Frescura </a:t>
            </a:r>
          </a:p>
          <a:p>
            <a:pPr algn="ctr"/>
            <a:r>
              <a:rPr lang="es-CO" sz="2100" dirty="0">
                <a:solidFill>
                  <a:schemeClr val="tx1"/>
                </a:solidFill>
              </a:rPr>
              <a:t>natural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0AD3966-7A90-4E80-A06C-05E963BD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71" y="908430"/>
            <a:ext cx="1419919" cy="14076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0E31FB-07F4-4651-875D-DC2D8625D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63" y="1634466"/>
            <a:ext cx="1124659" cy="12618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F354B5-7668-4149-B3EB-BA8132B53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349" y="392507"/>
            <a:ext cx="2282888" cy="119346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13AD10B-97CE-4C7F-AFF7-8E9CAD80B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98" y="2904261"/>
            <a:ext cx="1519587" cy="178888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C10534-84E4-4F2B-B5BE-5AD3DA33A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1126" y="2468756"/>
            <a:ext cx="2173879" cy="10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5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C32FC-396E-42C2-B6CE-426CA9D8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de Colores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2DE8A-59D2-450C-A683-5149216E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Elige un color para tu aplicación</a:t>
            </a:r>
          </a:p>
          <a:p>
            <a:r>
              <a:rPr lang="es-CO" dirty="0"/>
              <a:t>Piensa en un color para la barra de navegación</a:t>
            </a:r>
          </a:p>
          <a:p>
            <a:r>
              <a:rPr lang="es-CO" dirty="0"/>
              <a:t>Piensa en un color para el contenido </a:t>
            </a:r>
          </a:p>
          <a:p>
            <a:r>
              <a:rPr lang="es-CO" dirty="0"/>
              <a:t>Piensa en un color para los botones 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2CFDFF-E7DB-48C1-A80D-8A7CA5510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808" y="1238729"/>
            <a:ext cx="1851741" cy="33173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B0F63D-7CD8-4671-BCF7-6F78B33F4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49" y="2214891"/>
            <a:ext cx="1395511" cy="247730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70127C-FD7B-4FB5-8018-1911974E85B4}"/>
              </a:ext>
            </a:extLst>
          </p:cNvPr>
          <p:cNvSpPr txBox="1"/>
          <p:nvPr/>
        </p:nvSpPr>
        <p:spPr>
          <a:xfrm>
            <a:off x="2450263" y="4981917"/>
            <a:ext cx="19896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https://www.google.com/search?client=firefox-b-ab&amp;biw</a:t>
            </a:r>
          </a:p>
        </p:txBody>
      </p:sp>
    </p:spTree>
    <p:extLst>
      <p:ext uri="{BB962C8B-B14F-4D97-AF65-F5344CB8AC3E}">
        <p14:creationId xmlns:p14="http://schemas.microsoft.com/office/powerpoint/2010/main" val="284933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AE4BA-1444-4096-8B4E-629F00D4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Atributos de Colores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004972-5919-4E5F-8444-CDA1AB6A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680" y="2462511"/>
            <a:ext cx="3793331" cy="685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945EF6-3968-4E53-9752-FFCDBA0B5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111" y="3657006"/>
            <a:ext cx="3771900" cy="6643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14F5659-F1EB-4113-A16C-4A825115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967" y="1268016"/>
            <a:ext cx="3779044" cy="6858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E42335-1779-4E92-8AEC-F30174AABB7D}"/>
              </a:ext>
            </a:extLst>
          </p:cNvPr>
          <p:cNvSpPr txBox="1"/>
          <p:nvPr/>
        </p:nvSpPr>
        <p:spPr>
          <a:xfrm>
            <a:off x="1281547" y="1368542"/>
            <a:ext cx="91082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700" dirty="0" err="1"/>
              <a:t>Hue</a:t>
            </a:r>
            <a:r>
              <a:rPr lang="es-CO" sz="2700" dirty="0"/>
              <a:t>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83F311-101F-4C3D-B811-A1F79FADA756}"/>
              </a:ext>
            </a:extLst>
          </p:cNvPr>
          <p:cNvSpPr txBox="1"/>
          <p:nvPr/>
        </p:nvSpPr>
        <p:spPr>
          <a:xfrm>
            <a:off x="1122219" y="2563037"/>
            <a:ext cx="17933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700" dirty="0" err="1"/>
              <a:t>Saturation</a:t>
            </a:r>
            <a:r>
              <a:rPr lang="es-CO" sz="2700" dirty="0"/>
              <a:t> 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0EE73E-7E09-49A1-AAC7-75F041B49AFD}"/>
              </a:ext>
            </a:extLst>
          </p:cNvPr>
          <p:cNvSpPr txBox="1"/>
          <p:nvPr/>
        </p:nvSpPr>
        <p:spPr>
          <a:xfrm>
            <a:off x="1122219" y="3746816"/>
            <a:ext cx="16514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700" dirty="0" err="1"/>
              <a:t>Brightness</a:t>
            </a:r>
            <a:endParaRPr lang="es-CO" sz="27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1CBA935-2924-4B5A-B785-4C2E096CC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316" y="4208178"/>
            <a:ext cx="336393" cy="478205"/>
          </a:xfrm>
          <a:prstGeom prst="rect">
            <a:avLst/>
          </a:prstGeom>
        </p:spPr>
      </p:pic>
      <p:sp>
        <p:nvSpPr>
          <p:cNvPr id="14" name="Diagrama de flujo: proceso 13">
            <a:extLst>
              <a:ext uri="{FF2B5EF4-FFF2-40B4-BE49-F238E27FC236}">
                <a16:creationId xmlns:a16="http://schemas.microsoft.com/office/drawing/2014/main" id="{C1318810-5E25-4711-B243-56F6A9FA23DA}"/>
              </a:ext>
            </a:extLst>
          </p:cNvPr>
          <p:cNvSpPr/>
          <p:nvPr/>
        </p:nvSpPr>
        <p:spPr>
          <a:xfrm>
            <a:off x="2018907" y="4417733"/>
            <a:ext cx="5635506" cy="252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Algunos programas de diseño utilizan </a:t>
            </a:r>
            <a:r>
              <a:rPr lang="es-CO" sz="1100" b="1" dirty="0" err="1">
                <a:solidFill>
                  <a:schemeClr val="tx1"/>
                </a:solidFill>
              </a:rPr>
              <a:t>H</a:t>
            </a:r>
            <a:r>
              <a:rPr lang="es-CO" sz="1100" dirty="0" err="1">
                <a:solidFill>
                  <a:schemeClr val="tx1"/>
                </a:solidFill>
              </a:rPr>
              <a:t>ue</a:t>
            </a:r>
            <a:r>
              <a:rPr lang="es-CO" sz="1100" dirty="0">
                <a:solidFill>
                  <a:schemeClr val="tx1"/>
                </a:solidFill>
              </a:rPr>
              <a:t>, </a:t>
            </a:r>
            <a:r>
              <a:rPr lang="es-CO" sz="1100" b="1" dirty="0" err="1">
                <a:solidFill>
                  <a:schemeClr val="tx1"/>
                </a:solidFill>
              </a:rPr>
              <a:t>S</a:t>
            </a:r>
            <a:r>
              <a:rPr lang="es-CO" sz="1100" dirty="0" err="1">
                <a:solidFill>
                  <a:schemeClr val="tx1"/>
                </a:solidFill>
              </a:rPr>
              <a:t>aturation</a:t>
            </a:r>
            <a:r>
              <a:rPr lang="es-CO" sz="1100" dirty="0">
                <a:solidFill>
                  <a:schemeClr val="tx1"/>
                </a:solidFill>
              </a:rPr>
              <a:t> y </a:t>
            </a:r>
            <a:r>
              <a:rPr lang="es-CO" sz="1100" b="1" dirty="0" err="1">
                <a:solidFill>
                  <a:schemeClr val="tx1"/>
                </a:solidFill>
              </a:rPr>
              <a:t>L</a:t>
            </a:r>
            <a:r>
              <a:rPr lang="es-CO" sz="1100" dirty="0" err="1">
                <a:solidFill>
                  <a:schemeClr val="tx1"/>
                </a:solidFill>
              </a:rPr>
              <a:t>ightness</a:t>
            </a:r>
            <a:r>
              <a:rPr lang="es-CO" sz="1100" dirty="0">
                <a:solidFill>
                  <a:schemeClr val="tx1"/>
                </a:solidFill>
              </a:rPr>
              <a:t> y lo representan como </a:t>
            </a:r>
            <a:r>
              <a:rPr lang="es-CO" sz="1400" b="1" dirty="0">
                <a:solidFill>
                  <a:schemeClr val="tx1"/>
                </a:solidFill>
              </a:rPr>
              <a:t>HSL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FB295F5-05EF-4EED-937A-B021F84F00F3}"/>
              </a:ext>
            </a:extLst>
          </p:cNvPr>
          <p:cNvSpPr txBox="1"/>
          <p:nvPr/>
        </p:nvSpPr>
        <p:spPr>
          <a:xfrm>
            <a:off x="777364" y="5084169"/>
            <a:ext cx="23326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https://www.google.com/search?client=firefox-b-ab&amp;biw=1536&amp;bih</a:t>
            </a:r>
          </a:p>
        </p:txBody>
      </p:sp>
    </p:spTree>
    <p:extLst>
      <p:ext uri="{BB962C8B-B14F-4D97-AF65-F5344CB8AC3E}">
        <p14:creationId xmlns:p14="http://schemas.microsoft.com/office/powerpoint/2010/main" val="300775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79FA9-B895-42FA-94A8-FB4E1CED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Atributos de 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88AA260-54A1-4CA9-A14E-76C613F4B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628" y="1261928"/>
            <a:ext cx="3121819" cy="31361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B6F035-224E-4CD9-ADA2-485AB303D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842" y="1261928"/>
            <a:ext cx="849089" cy="34090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9D8150D-4712-4238-95F2-DEA4E97C8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10" y="1229911"/>
            <a:ext cx="849089" cy="344104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0D5D490-0258-4A14-9351-6ABF4AF57166}"/>
              </a:ext>
            </a:extLst>
          </p:cNvPr>
          <p:cNvSpPr txBox="1"/>
          <p:nvPr/>
        </p:nvSpPr>
        <p:spPr>
          <a:xfrm>
            <a:off x="2008948" y="4511025"/>
            <a:ext cx="14542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https://www.google.com/search?client=</a:t>
            </a:r>
          </a:p>
        </p:txBody>
      </p:sp>
    </p:spTree>
    <p:extLst>
      <p:ext uri="{BB962C8B-B14F-4D97-AF65-F5344CB8AC3E}">
        <p14:creationId xmlns:p14="http://schemas.microsoft.com/office/powerpoint/2010/main" val="2712129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016AB-E6E9-4E98-BE46-97DF4C8A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de 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D453C92-011D-4DB8-83FD-BE3A80DCD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707" y="1291521"/>
            <a:ext cx="6328586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66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3CEA2-A530-434B-9E48-4489DBF2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de 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F8E1A62-8D11-4D6C-9B9F-86F785A37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260" y="1359843"/>
            <a:ext cx="6597481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2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1E3BC-2DA5-4837-BE90-4FAA78D9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de 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2F24951-E0A1-4028-BA52-C67F25B96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88" y="2052510"/>
            <a:ext cx="4195895" cy="2030717"/>
          </a:xfrm>
          <a:prstGeom prst="rect">
            <a:avLst/>
          </a:prstGeom>
        </p:spPr>
      </p:pic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36107630-683B-4202-B084-6A9EC280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9" y="2052510"/>
            <a:ext cx="4034120" cy="206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4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6BF58-E4A2-4E4C-B0E8-DA2D0964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de Colores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6F57CB0-0FAF-4F54-98F0-864764491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97" y="2097309"/>
            <a:ext cx="4369358" cy="2209832"/>
          </a:xfrm>
          <a:prstGeom prst="rect">
            <a:avLst/>
          </a:prstGeom>
        </p:spPr>
      </p:pic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2BE003D0-C309-4462-BACA-6CE78768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346" y="2097309"/>
            <a:ext cx="4232564" cy="220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8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8227F85-B977-4CD4-8B25-FC0DD9F04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842" y="435212"/>
            <a:ext cx="3366030" cy="40679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BC8521-57BF-4BA3-A481-854C2EBE0F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2428"/>
          <a:stretch/>
        </p:blipFill>
        <p:spPr>
          <a:xfrm>
            <a:off x="4572000" y="949306"/>
            <a:ext cx="4126130" cy="275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6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8227F85-B977-4CD4-8B25-FC0DD9F04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842" y="435212"/>
            <a:ext cx="3366030" cy="40679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BC8521-57BF-4BA3-A481-854C2EBE0F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406" b="24734"/>
          <a:stretch/>
        </p:blipFill>
        <p:spPr>
          <a:xfrm>
            <a:off x="4572000" y="1047135"/>
            <a:ext cx="4223474" cy="283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25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8227F85-B977-4CD4-8B25-FC0DD9F04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842" y="435212"/>
            <a:ext cx="3366030" cy="40679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BC8521-57BF-4BA3-A481-854C2EBE0F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330" b="-834"/>
          <a:stretch/>
        </p:blipFill>
        <p:spPr>
          <a:xfrm>
            <a:off x="4572000" y="1615532"/>
            <a:ext cx="4223474" cy="191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58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F017A5C3-96CF-3A1C-13D5-DA38382F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750" y="3033342"/>
            <a:ext cx="2816521" cy="15842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EFA50C-549E-4654-B8F2-B32214F2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Herramienta de Colores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AB9DED9-0227-4F9A-8F14-9F9AAF252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  <a:p>
            <a:pPr marL="0" indent="0">
              <a:buNone/>
            </a:pPr>
            <a:r>
              <a:rPr lang="es-CO" dirty="0"/>
              <a:t> 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11" name="Imagen 10">
            <a:hlinkClick r:id="rId4"/>
            <a:extLst>
              <a:ext uri="{FF2B5EF4-FFF2-40B4-BE49-F238E27FC236}">
                <a16:creationId xmlns:a16="http://schemas.microsoft.com/office/drawing/2014/main" id="{E3C7A12F-CCB7-41DB-935E-CB390652D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348" y="971984"/>
            <a:ext cx="2086917" cy="181550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1285A00-6C09-49D3-80A7-42607B2E4A4D}"/>
              </a:ext>
            </a:extLst>
          </p:cNvPr>
          <p:cNvSpPr txBox="1"/>
          <p:nvPr/>
        </p:nvSpPr>
        <p:spPr>
          <a:xfrm>
            <a:off x="6244423" y="2793628"/>
            <a:ext cx="18117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https://www.google.com/search?q=paletton&amp;client</a:t>
            </a:r>
          </a:p>
        </p:txBody>
      </p:sp>
      <p:pic>
        <p:nvPicPr>
          <p:cNvPr id="13" name="Imagen 12">
            <a:hlinkClick r:id="rId6"/>
            <a:extLst>
              <a:ext uri="{FF2B5EF4-FFF2-40B4-BE49-F238E27FC236}">
                <a16:creationId xmlns:a16="http://schemas.microsoft.com/office/drawing/2014/main" id="{6B76F3EF-30EB-42D7-B03F-BCC6C715D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6" y="1182346"/>
            <a:ext cx="2623088" cy="98420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81747D9-61F2-420D-B156-0998B649C17B}"/>
              </a:ext>
            </a:extLst>
          </p:cNvPr>
          <p:cNvSpPr txBox="1"/>
          <p:nvPr/>
        </p:nvSpPr>
        <p:spPr>
          <a:xfrm>
            <a:off x="874478" y="2166706"/>
            <a:ext cx="19383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" dirty="0"/>
              <a:t>https://www.google.com/search?q=adobe+color&amp;client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39D82EA-7ABD-4EE4-B27E-95BA9765FAE8}"/>
              </a:ext>
            </a:extLst>
          </p:cNvPr>
          <p:cNvSpPr txBox="1"/>
          <p:nvPr/>
        </p:nvSpPr>
        <p:spPr>
          <a:xfrm>
            <a:off x="5974762" y="4481849"/>
            <a:ext cx="175560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https://pinetools.com/es/obtener-colores-imagen</a:t>
            </a:r>
          </a:p>
        </p:txBody>
      </p:sp>
      <p:pic>
        <p:nvPicPr>
          <p:cNvPr id="17" name="Imagen 16">
            <a:hlinkClick r:id="rId8"/>
            <a:extLst>
              <a:ext uri="{FF2B5EF4-FFF2-40B4-BE49-F238E27FC236}">
                <a16:creationId xmlns:a16="http://schemas.microsoft.com/office/drawing/2014/main" id="{81DAE6B3-A04B-4F0B-A24F-DEDBEB7B3E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386" y="2787492"/>
            <a:ext cx="2816522" cy="173616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43E9BDE-8871-444F-A4FD-334999D7B698}"/>
              </a:ext>
            </a:extLst>
          </p:cNvPr>
          <p:cNvSpPr txBox="1"/>
          <p:nvPr/>
        </p:nvSpPr>
        <p:spPr>
          <a:xfrm>
            <a:off x="1040319" y="4483091"/>
            <a:ext cx="294503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https://www.google.com/search?client=firefox-b-ab&amp;biw=1536&amp;bih=750&amp;tbm=isch&amp;sa</a:t>
            </a:r>
          </a:p>
        </p:txBody>
      </p:sp>
    </p:spTree>
    <p:extLst>
      <p:ext uri="{BB962C8B-B14F-4D97-AF65-F5344CB8AC3E}">
        <p14:creationId xmlns:p14="http://schemas.microsoft.com/office/powerpoint/2010/main" val="104571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3E64C-585A-471A-83FD-84AEDD9A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Contraste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76D4E0-1CF6-4AA8-A2A0-5D8144894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36" y="1881233"/>
            <a:ext cx="8365465" cy="16657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6225FD-8307-42B4-88CD-0BC0EAD5E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143" y="4269658"/>
            <a:ext cx="293086" cy="4166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C6F6190-51AC-42C5-85D4-666E94B5D25E}"/>
              </a:ext>
            </a:extLst>
          </p:cNvPr>
          <p:cNvSpPr txBox="1"/>
          <p:nvPr/>
        </p:nvSpPr>
        <p:spPr>
          <a:xfrm>
            <a:off x="1918229" y="4382440"/>
            <a:ext cx="493827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350" dirty="0"/>
              <a:t>Un mayor contraste te ayuda a tener mejor legibilidad en los textos </a:t>
            </a:r>
          </a:p>
        </p:txBody>
      </p:sp>
    </p:spTree>
    <p:extLst>
      <p:ext uri="{BB962C8B-B14F-4D97-AF65-F5344CB8AC3E}">
        <p14:creationId xmlns:p14="http://schemas.microsoft.com/office/powerpoint/2010/main" val="252508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2E495-5D70-4B2F-A8D3-ECC21709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Contraste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75A798C-2106-49DA-B201-7B5221869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25" y="1141509"/>
            <a:ext cx="4279385" cy="22313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787AAE8-BE2F-4773-9A2C-D94D214C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675" y="2362496"/>
            <a:ext cx="4343400" cy="227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97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8922D-96FB-4760-AE8B-85A680B2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Contraste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ECD1973-8143-4D25-AA0D-B3409FBDE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83" y="1114371"/>
            <a:ext cx="4058939" cy="23051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E1BB83-A46F-4C3C-8447-B157BDC82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369" y="2052083"/>
            <a:ext cx="4798868" cy="25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0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0C0C8-8B82-4466-BBEB-86630A085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0999"/>
            <a:ext cx="7886700" cy="994172"/>
          </a:xfrm>
        </p:spPr>
        <p:txBody>
          <a:bodyPr/>
          <a:lstStyle/>
          <a:p>
            <a:r>
              <a:rPr lang="es-CO" dirty="0"/>
              <a:t>Herramientas de Contraste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36F7C-8B16-469B-8CCA-F84D6F66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59" y="752691"/>
            <a:ext cx="7886700" cy="3263504"/>
          </a:xfrm>
        </p:spPr>
        <p:txBody>
          <a:bodyPr/>
          <a:lstStyle/>
          <a:p>
            <a:r>
              <a:rPr lang="es-CO" dirty="0"/>
              <a:t>Lineamientos W3 (Web Content </a:t>
            </a:r>
            <a:r>
              <a:rPr lang="es-CO" dirty="0" err="1"/>
              <a:t>Accessibility</a:t>
            </a:r>
            <a:r>
              <a:rPr lang="es-CO" dirty="0"/>
              <a:t> </a:t>
            </a:r>
            <a:r>
              <a:rPr lang="es-CO" dirty="0" err="1"/>
              <a:t>Guidelines</a:t>
            </a:r>
            <a:r>
              <a:rPr lang="es-CO" dirty="0"/>
              <a:t>)</a:t>
            </a:r>
          </a:p>
          <a:p>
            <a:endParaRPr lang="es-CO" dirty="0"/>
          </a:p>
        </p:txBody>
      </p:sp>
      <p:pic>
        <p:nvPicPr>
          <p:cNvPr id="4" name="Imagen 3">
            <a:hlinkClick r:id="rId2"/>
            <a:extLst>
              <a:ext uri="{FF2B5EF4-FFF2-40B4-BE49-F238E27FC236}">
                <a16:creationId xmlns:a16="http://schemas.microsoft.com/office/drawing/2014/main" id="{B1122629-1186-4F57-B732-EFE28E95A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230" y="1205389"/>
            <a:ext cx="4619540" cy="349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26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842A9-D8CE-4FC1-9A39-77E1DD25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Consejo…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09168A5-4A57-48BB-B217-CD19928C7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725" y="1357376"/>
            <a:ext cx="5847896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11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CC804-7358-49F1-B23F-7604DC83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Pero…que son los pixeles?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B447E-A785-445F-A2A7-F43BB8E50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Sirve para denominar a la resolución de una imagen, indicando </a:t>
            </a:r>
            <a:r>
              <a:rPr lang="es-CO" b="1" dirty="0"/>
              <a:t>cuántos píxeles hay en una pulgada</a:t>
            </a:r>
            <a:br>
              <a:rPr lang="es-CO" dirty="0"/>
            </a:br>
            <a:br>
              <a:rPr lang="es-CO" dirty="0"/>
            </a:br>
            <a:br>
              <a:rPr lang="es-CO" dirty="0"/>
            </a:br>
            <a:endParaRPr lang="es-CO" dirty="0"/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9EDF94-09EC-4182-B7F6-668F8DFDA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52" y="2066242"/>
            <a:ext cx="7010688" cy="260162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2176307-3CDA-4DAB-B104-C764D1D978A4}"/>
              </a:ext>
            </a:extLst>
          </p:cNvPr>
          <p:cNvSpPr txBox="1"/>
          <p:nvPr/>
        </p:nvSpPr>
        <p:spPr>
          <a:xfrm>
            <a:off x="2979174" y="4583860"/>
            <a:ext cx="3135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dirty="0"/>
              <a:t>https://www.profesionalreview.com/2016/07/16/los-pixeles-pulgada/</a:t>
            </a:r>
          </a:p>
        </p:txBody>
      </p:sp>
    </p:spTree>
    <p:extLst>
      <p:ext uri="{BB962C8B-B14F-4D97-AF65-F5344CB8AC3E}">
        <p14:creationId xmlns:p14="http://schemas.microsoft.com/office/powerpoint/2010/main" val="1517041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F81F9-E657-43F4-A76E-118FDE49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Las Distancias También Cuentan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EB3E84-5611-41DE-8781-D18BD3A3E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1800" dirty="0"/>
              <a:t>A pesar de que la calidad de la imagen dependerá del conjunto de puntos (o sea, del píxel entero), la distancia entre cada fuente de luz, conocida como “</a:t>
            </a:r>
            <a:r>
              <a:rPr lang="es-CO" sz="1800" b="1" dirty="0" err="1"/>
              <a:t>dot</a:t>
            </a:r>
            <a:r>
              <a:rPr lang="es-CO" sz="1800" b="1" dirty="0"/>
              <a:t> pitch</a:t>
            </a:r>
            <a:r>
              <a:rPr lang="es-CO" sz="1800" dirty="0"/>
              <a:t>”, también tiene su parte de responsabilidad en la formación de las imágenes.</a:t>
            </a:r>
            <a:br>
              <a:rPr lang="es-CO" sz="1800" dirty="0"/>
            </a:br>
            <a:br>
              <a:rPr lang="es-CO" sz="1800" dirty="0"/>
            </a:br>
            <a:endParaRPr lang="es-CO" sz="1800" dirty="0"/>
          </a:p>
          <a:p>
            <a:pPr algn="just"/>
            <a:endParaRPr lang="es-CO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63A028-C3D7-401F-BEF9-F3773B31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80" y="2248092"/>
            <a:ext cx="7267575" cy="23907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316D199-8545-4BE1-A335-26E61A1708A6}"/>
              </a:ext>
            </a:extLst>
          </p:cNvPr>
          <p:cNvSpPr txBox="1"/>
          <p:nvPr/>
        </p:nvSpPr>
        <p:spPr>
          <a:xfrm>
            <a:off x="2979174" y="4583860"/>
            <a:ext cx="3135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dirty="0"/>
              <a:t>https://www.profesionalreview.com/2016/07/16/los-pixeles-pulgada/</a:t>
            </a:r>
          </a:p>
        </p:txBody>
      </p:sp>
    </p:spTree>
    <p:extLst>
      <p:ext uri="{BB962C8B-B14F-4D97-AF65-F5344CB8AC3E}">
        <p14:creationId xmlns:p14="http://schemas.microsoft.com/office/powerpoint/2010/main" val="2523498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E6385-EB2B-46A0-877A-AF70B99A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 Tamaño Importa!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03263-42DC-4EEC-921D-FF1B124E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076135"/>
            <a:ext cx="8229600" cy="3394472"/>
          </a:xfrm>
        </p:spPr>
        <p:txBody>
          <a:bodyPr>
            <a:normAutofit/>
          </a:bodyPr>
          <a:lstStyle/>
          <a:p>
            <a:pPr algn="just"/>
            <a:r>
              <a:rPr lang="es-CO" sz="1800" dirty="0"/>
              <a:t>Vale la pena recordar que la resolución no es lo mismo que el tamaño físico de la imagen. Es posible tener una imagen de altísima resolución, incluso </a:t>
            </a:r>
            <a:r>
              <a:rPr lang="es-CO" sz="1800" dirty="0" err="1"/>
              <a:t>gigapíxeles</a:t>
            </a:r>
            <a:r>
              <a:rPr lang="es-CO" sz="1800" dirty="0"/>
              <a:t>, que cuando aparece en una TV o impresa ocupe sólo centímetros, así como también es posible obtener imágenes con una resolución más baja y muchos metros cuadrados de superficie, como una valla o una pantalla de cine.</a:t>
            </a:r>
            <a:br>
              <a:rPr lang="es-CO" sz="1800" dirty="0"/>
            </a:br>
            <a:br>
              <a:rPr lang="es-CO" sz="1800" dirty="0"/>
            </a:br>
            <a:endParaRPr lang="es-CO" sz="1800" dirty="0"/>
          </a:p>
          <a:p>
            <a:pPr algn="just"/>
            <a:endParaRPr lang="es-CO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541BC4-AA4A-4BC6-97F2-849D1683F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72" y="2557002"/>
            <a:ext cx="5382855" cy="213458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E0A8FA-B186-47A4-B1FE-64AF6378E5BD}"/>
              </a:ext>
            </a:extLst>
          </p:cNvPr>
          <p:cNvSpPr txBox="1"/>
          <p:nvPr/>
        </p:nvSpPr>
        <p:spPr>
          <a:xfrm>
            <a:off x="2979174" y="4583860"/>
            <a:ext cx="3135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dirty="0"/>
              <a:t>https://www.profesionalreview.com/2016/07/16/los-pixeles-pulgada/</a:t>
            </a:r>
          </a:p>
        </p:txBody>
      </p:sp>
    </p:spTree>
    <p:extLst>
      <p:ext uri="{BB962C8B-B14F-4D97-AF65-F5344CB8AC3E}">
        <p14:creationId xmlns:p14="http://schemas.microsoft.com/office/powerpoint/2010/main" val="1290690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AF1CA-4B33-EB9B-8C2F-CDFB17B9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 para imágenes </a:t>
            </a:r>
            <a:endParaRPr lang="es-CO" dirty="0"/>
          </a:p>
        </p:txBody>
      </p:sp>
      <p:pic>
        <p:nvPicPr>
          <p:cNvPr id="7" name="Imagen 6" descr="Imagen que contiene Gráfico circular&#10;&#10;Descripción generada automáticamente">
            <a:hlinkClick r:id="rId2"/>
            <a:extLst>
              <a:ext uri="{FF2B5EF4-FFF2-40B4-BE49-F238E27FC236}">
                <a16:creationId xmlns:a16="http://schemas.microsoft.com/office/drawing/2014/main" id="{2F2EC9C4-6B34-58B9-7AED-D62177B3F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28" y="1625600"/>
            <a:ext cx="4131146" cy="2173287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hlinkClick r:id="rId4"/>
            <a:extLst>
              <a:ext uri="{FF2B5EF4-FFF2-40B4-BE49-F238E27FC236}">
                <a16:creationId xmlns:a16="http://schemas.microsoft.com/office/drawing/2014/main" id="{B30E040E-FD4C-E83B-0CFE-6F91E4BE3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006" y="1731168"/>
            <a:ext cx="28575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5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367A5-62E7-4617-9501-C0B0D755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Tipografía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4E38DF1-112E-48A2-B9E5-592978EBC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267" y="973048"/>
            <a:ext cx="6773466" cy="36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88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4EF3A-593D-47A4-BCA0-2193664F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7684"/>
            <a:ext cx="7886700" cy="994172"/>
          </a:xfrm>
        </p:spPr>
        <p:txBody>
          <a:bodyPr/>
          <a:lstStyle/>
          <a:p>
            <a:r>
              <a:rPr lang="es-CO" dirty="0"/>
              <a:t>Tipografía </a:t>
            </a:r>
            <a:r>
              <a:rPr lang="es-CO" b="1" dirty="0"/>
              <a:t>Serif y Sans-Serif 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A1BF675-1190-4DCF-BD88-C2A99D55D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38" y="1154446"/>
            <a:ext cx="4361837" cy="20729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3B3E476-E15D-45F4-A1FF-0151D161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840" y="2498007"/>
            <a:ext cx="4566822" cy="209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7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04D58-129D-44FE-BEE9-61891A30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Tipografía </a:t>
            </a:r>
            <a:r>
              <a:rPr lang="es-CO" b="1" dirty="0"/>
              <a:t>Script</a:t>
            </a:r>
            <a:r>
              <a:rPr lang="es-CO" dirty="0"/>
              <a:t> y </a:t>
            </a:r>
            <a:r>
              <a:rPr lang="es-CO" b="1" dirty="0"/>
              <a:t>Decorativo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CB63637-B6C3-4FBE-BE67-0988AB614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268017"/>
            <a:ext cx="4294909" cy="22923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DD1AC1-7D42-4F90-B8D6-E7CC032B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40" y="2191481"/>
            <a:ext cx="4616161" cy="248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6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0232E-2DB4-41FB-9367-AD61070C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Lo Más Recomendable…</a:t>
            </a:r>
            <a:r>
              <a:rPr lang="es-CO" b="1" dirty="0"/>
              <a:t>Serif</a:t>
            </a:r>
            <a:r>
              <a:rPr lang="es-CO" dirty="0"/>
              <a:t> y </a:t>
            </a:r>
            <a:r>
              <a:rPr lang="es-CO" b="1" dirty="0"/>
              <a:t>Sans-Serif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9F4ECB3-809B-4042-AB5B-4F9AEBA9F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303" y="2408746"/>
            <a:ext cx="4169442" cy="22175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B8C3C1-CFB0-4DD4-93AE-AE56F5C4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371097"/>
            <a:ext cx="4441904" cy="226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94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7967D-8DBF-47E4-8924-ECE4458A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Pesos de Tipografía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CD80F37-FFFC-4D0B-A682-82E46384B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43" y="1369219"/>
            <a:ext cx="6175314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528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0E6A0-DC25-4515-BDF3-9A91D0BD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Lo Utiliza Google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CAF42FC-53A8-404D-BAC8-33ED1A34D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125" y="1123295"/>
            <a:ext cx="7201750" cy="343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14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46C2-FB5A-4FB1-8F70-950D4B3D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Tipografía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6B6AB9A-A931-429D-9361-2EB8543E6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787" y="1268951"/>
            <a:ext cx="6756427" cy="32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68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8C97E-5FFB-4040-93EF-2084F07B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CO" dirty="0"/>
              <a:t>Psicología de la Tipografía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C0BE72-7045-4216-9A57-E72ACE71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66" y="1371817"/>
            <a:ext cx="3039454" cy="29009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9E8C43-7CBC-47A8-89CB-B5A55A5A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829" y="205979"/>
            <a:ext cx="3039454" cy="29052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125420A-24D8-4684-AB18-AFDA21AAB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38" y="3133027"/>
            <a:ext cx="3265910" cy="15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00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31BFEC55-A9BF-499B-A556-EE3EE605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316" y="715458"/>
            <a:ext cx="5673369" cy="3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5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28A68-573C-4DE2-B72D-E1FD4F3B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Tipografía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BD99488-EA04-4F59-A4F9-9A3E5A72B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792" y="1063229"/>
            <a:ext cx="7446416" cy="34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86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9A79E-F088-4A1F-9340-31E1551B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Tipografía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781BF18-3C7C-44D1-8264-7C24FB973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359" y="1420091"/>
            <a:ext cx="8411282" cy="29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17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D6E91-23B6-4E3C-B709-D6226587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Tamaño Base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ED1765F-CD64-4A9D-A7FF-B58B91D98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2929" y="1128998"/>
            <a:ext cx="7118142" cy="3500438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95940F9D-0AF7-4E26-A2E1-00E0ABACE1B5}"/>
              </a:ext>
            </a:extLst>
          </p:cNvPr>
          <p:cNvGrpSpPr/>
          <p:nvPr/>
        </p:nvGrpSpPr>
        <p:grpSpPr>
          <a:xfrm>
            <a:off x="6494877" y="4089301"/>
            <a:ext cx="2649123" cy="583781"/>
            <a:chOff x="7793241" y="5787812"/>
            <a:chExt cx="4297160" cy="973206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604D89-F9F1-4A76-93EA-AF2F5D393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02061" y="5787812"/>
              <a:ext cx="3688340" cy="905521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92F9C23-D446-4F37-BB73-3D0649FD2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93241" y="5787812"/>
              <a:ext cx="608820" cy="9732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124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0B2F3-3D26-469E-AA11-AB2BED04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Definición de Tamaños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2AB19ED-0AEA-4B87-8157-780690117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604" y="1063229"/>
            <a:ext cx="7120792" cy="3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54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E70D8-24D3-4C97-82FB-B8F7BD05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917"/>
            <a:ext cx="7886700" cy="994172"/>
          </a:xfrm>
        </p:spPr>
        <p:txBody>
          <a:bodyPr/>
          <a:lstStyle/>
          <a:p>
            <a:r>
              <a:rPr lang="es-CO" dirty="0"/>
              <a:t>Golden Ratio </a:t>
            </a:r>
            <a:r>
              <a:rPr lang="es-CO" dirty="0" err="1"/>
              <a:t>Typography</a:t>
            </a:r>
            <a:r>
              <a:rPr lang="es-CO" dirty="0"/>
              <a:t> </a:t>
            </a:r>
            <a:r>
              <a:rPr lang="es-CO" dirty="0" err="1"/>
              <a:t>Calculator</a:t>
            </a:r>
            <a:endParaRPr lang="es-CO" dirty="0"/>
          </a:p>
        </p:txBody>
      </p:sp>
      <p:pic>
        <p:nvPicPr>
          <p:cNvPr id="4" name="Imagen 3">
            <a:hlinkClick r:id="rId2"/>
            <a:extLst>
              <a:ext uri="{FF2B5EF4-FFF2-40B4-BE49-F238E27FC236}">
                <a16:creationId xmlns:a16="http://schemas.microsoft.com/office/drawing/2014/main" id="{C0B0B7E1-5267-447B-8842-C3EC30B4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3" y="1261089"/>
            <a:ext cx="7741619" cy="31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29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4DCB1-BDE8-4F21-AB7B-733AB5A3F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00" y="396746"/>
            <a:ext cx="5331000" cy="40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836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9E311-E188-4CAF-BDD6-A4EBEA44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94172"/>
          </a:xfrm>
        </p:spPr>
        <p:txBody>
          <a:bodyPr/>
          <a:lstStyle/>
          <a:p>
            <a:r>
              <a:rPr lang="es-CO" dirty="0"/>
              <a:t>Espacios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8F5F641-029C-40C2-984B-8B461D55E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112" y="848009"/>
            <a:ext cx="4113881" cy="21226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22741E3-32A9-4FC0-A387-F6F20F5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10" y="3019579"/>
            <a:ext cx="3001297" cy="15698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B3C5FD-B9BC-4CBA-93DC-153723F22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37" y="3019579"/>
            <a:ext cx="2997507" cy="15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835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F964C-2E02-41DA-908E-0C5FFA84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Espacios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556F456-CBBB-419B-890E-5B49C7B20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16" y="1063229"/>
            <a:ext cx="4978238" cy="26612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3FAF124-8A0B-4309-B7FF-F224A645D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685" y="2635458"/>
            <a:ext cx="3551513" cy="20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78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F792F-39C9-4BAE-B920-F38465E3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F9DEF04-57EE-4A00-B7E6-0AE7AAF11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193" y="897864"/>
            <a:ext cx="6431614" cy="36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029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A3AAC-3AC5-4C9C-8205-591EEFE5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5B6769F-92BB-42EF-8847-2B028C93C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00" y="994173"/>
            <a:ext cx="4605504" cy="24575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C737CE-EEEA-45D4-BBF8-31061775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036" y="2374293"/>
            <a:ext cx="4311764" cy="22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987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F11D2-F241-4E65-A46D-198FF97D4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26F9904-27F4-471F-9614-8EFB186C6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74" y="1163781"/>
            <a:ext cx="4453627" cy="238828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1EF9950-71FF-43E9-8D9A-5D62C9D74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19" y="2428116"/>
            <a:ext cx="4458211" cy="224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00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75E8F-A4B5-48DD-850E-935A8456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99B73BB-5885-4036-8119-A377E980E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15" y="1188711"/>
            <a:ext cx="4374331" cy="23393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E817C5-8579-4FB1-A535-1BB41CF5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642" y="2280270"/>
            <a:ext cx="4358744" cy="23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349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0BB48-DBCD-4909-BF0F-A5124E30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92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6752BCC-EAC2-4C2D-8329-484A581FC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65" y="1073843"/>
            <a:ext cx="4428863" cy="23415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7DE2877-B498-4C5C-B135-AD9B4BF0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273" y="2239611"/>
            <a:ext cx="4428863" cy="235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74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9A14A-0E9B-434E-BF66-3BF67D1C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244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BB48F28-29BB-4375-B59A-DB9EED4C2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2417782"/>
            <a:ext cx="4525560" cy="211942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BA324A6-F54C-48EF-9255-1060753EC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358071"/>
            <a:ext cx="4357410" cy="21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64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7C108-EA4D-4352-BE7B-674E7153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92"/>
            <a:ext cx="7886700" cy="994172"/>
          </a:xfrm>
        </p:spPr>
        <p:txBody>
          <a:bodyPr/>
          <a:lstStyle/>
          <a:p>
            <a:r>
              <a:rPr lang="es-CO" dirty="0"/>
              <a:t>Espacios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DE9C451-ACCB-4ADA-A6CC-D9CC5A918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99" y="1053191"/>
            <a:ext cx="4461091" cy="22454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26E1020-39C4-48E8-B202-727187646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12" y="2325234"/>
            <a:ext cx="4461091" cy="22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02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10 Rectángulo"/>
          <p:cNvSpPr/>
          <p:nvPr/>
        </p:nvSpPr>
        <p:spPr>
          <a:xfrm>
            <a:off x="0" y="2300126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yriad Pro" pitchFamily="34" charset="0"/>
                <a:ea typeface="Arial Unicode MS" pitchFamily="34" charset="-128"/>
                <a:cs typeface="Arial Unicode MS" pitchFamily="34" charset="-128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20041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</TotalTime>
  <Words>669</Words>
  <Application>Microsoft Office PowerPoint</Application>
  <PresentationFormat>Presentación en pantalla (16:9)</PresentationFormat>
  <Paragraphs>102</Paragraphs>
  <Slides>57</Slides>
  <Notes>2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1" baseType="lpstr">
      <vt:lpstr>Arial</vt:lpstr>
      <vt:lpstr>Calibri</vt:lpstr>
      <vt:lpstr>Myriad Pro</vt:lpstr>
      <vt:lpstr>Tema de Office</vt:lpstr>
      <vt:lpstr>Presentación de PowerPoint</vt:lpstr>
      <vt:lpstr>Contenido </vt:lpstr>
      <vt:lpstr>Diseño para Programadores </vt:lpstr>
      <vt:lpstr>Diseño para Programadores </vt:lpstr>
      <vt:lpstr>Colores </vt:lpstr>
      <vt:lpstr>Que color elegir ?</vt:lpstr>
      <vt:lpstr>Teoría del Color </vt:lpstr>
      <vt:lpstr>Presentación de PowerPoint</vt:lpstr>
      <vt:lpstr>Teoría del Color </vt:lpstr>
      <vt:lpstr>Teoría del Color </vt:lpstr>
      <vt:lpstr>Teoría del Color </vt:lpstr>
      <vt:lpstr>Teoría del Color </vt:lpstr>
      <vt:lpstr>Esquema de Colores </vt:lpstr>
      <vt:lpstr>Atributos de Colores </vt:lpstr>
      <vt:lpstr>Atributos de Colores </vt:lpstr>
      <vt:lpstr>Esquema de Colores </vt:lpstr>
      <vt:lpstr>Esquema de Colores </vt:lpstr>
      <vt:lpstr>Esquema de Colores </vt:lpstr>
      <vt:lpstr>Esquema de Colores </vt:lpstr>
      <vt:lpstr>Presentación de PowerPoint</vt:lpstr>
      <vt:lpstr>Presentación de PowerPoint</vt:lpstr>
      <vt:lpstr>Presentación de PowerPoint</vt:lpstr>
      <vt:lpstr>Herramienta de Colores </vt:lpstr>
      <vt:lpstr>Contraste </vt:lpstr>
      <vt:lpstr>Contraste </vt:lpstr>
      <vt:lpstr>Contraste </vt:lpstr>
      <vt:lpstr>Herramientas de Contraste </vt:lpstr>
      <vt:lpstr>Consejo…</vt:lpstr>
      <vt:lpstr>Pero…que son los pixeles?</vt:lpstr>
      <vt:lpstr>Las Distancias También Cuentan </vt:lpstr>
      <vt:lpstr>El Tamaño Importa!</vt:lpstr>
      <vt:lpstr>Herramienta para imágenes </vt:lpstr>
      <vt:lpstr>Tipografía </vt:lpstr>
      <vt:lpstr>Tipografía Serif y Sans-Serif  </vt:lpstr>
      <vt:lpstr>Tipografía Script y Decorativo </vt:lpstr>
      <vt:lpstr>Lo Más Recomendable…Serif y Sans-Serif</vt:lpstr>
      <vt:lpstr>Pesos de Tipografía </vt:lpstr>
      <vt:lpstr>Lo Utiliza Google </vt:lpstr>
      <vt:lpstr>Tipografía</vt:lpstr>
      <vt:lpstr>Psicología de la Tipografía </vt:lpstr>
      <vt:lpstr>Presentación de PowerPoint</vt:lpstr>
      <vt:lpstr>Tipografía</vt:lpstr>
      <vt:lpstr>Tipografía</vt:lpstr>
      <vt:lpstr>Tamaño Base </vt:lpstr>
      <vt:lpstr>Definición de Tamaños </vt:lpstr>
      <vt:lpstr>Golden Ratio Typography Calculator</vt:lpstr>
      <vt:lpstr>Presentación de PowerPoint</vt:lpstr>
      <vt:lpstr>Espacios </vt:lpstr>
      <vt:lpstr>Espacios </vt:lpstr>
      <vt:lpstr>Espacios</vt:lpstr>
      <vt:lpstr>Espacios</vt:lpstr>
      <vt:lpstr>Espacios</vt:lpstr>
      <vt:lpstr>Espacios</vt:lpstr>
      <vt:lpstr>Espacios</vt:lpstr>
      <vt:lpstr>Espacios</vt:lpstr>
      <vt:lpstr>Espacios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</dc:creator>
  <cp:lastModifiedBy>Pedro Antonio Aya Parra</cp:lastModifiedBy>
  <cp:revision>118</cp:revision>
  <dcterms:created xsi:type="dcterms:W3CDTF">2015-09-09T19:32:10Z</dcterms:created>
  <dcterms:modified xsi:type="dcterms:W3CDTF">2023-02-10T16:20:25Z</dcterms:modified>
</cp:coreProperties>
</file>