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71" r:id="rId3"/>
    <p:sldId id="272" r:id="rId4"/>
    <p:sldId id="273" r:id="rId5"/>
    <p:sldId id="274" r:id="rId6"/>
    <p:sldId id="276" r:id="rId7"/>
    <p:sldId id="277" r:id="rId8"/>
    <p:sldId id="278" r:id="rId9"/>
    <p:sldId id="279" r:id="rId10"/>
    <p:sldId id="280" r:id="rId11"/>
    <p:sldId id="281" r:id="rId12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4"/>
      <p:bold r:id="rId15"/>
      <p:italic r:id="rId16"/>
      <p:boldItalic r:id="rId17"/>
    </p:embeddedFont>
    <p:embeddedFont>
      <p:font typeface="PT Sans Narrow" panose="020B0506020203020204" pitchFamily="3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235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7" r:id="rId6"/>
    <p:sldLayoutId id="2147483658" r:id="rId7"/>
    <p:sldLayoutId id="214748366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scienti.minciencias.gov.co/cvlac/visualizador/generarCurriculoCv.do?cod_rh=0001638326" TargetMode="External"/><Relationship Id="rId11" Type="http://schemas.openxmlformats.org/officeDocument/2006/relationships/image" Target="../media/image8.jpeg"/><Relationship Id="rId5" Type="http://schemas.openxmlformats.org/officeDocument/2006/relationships/hyperlink" Target="mailto:jefferson.sarmiento@urosario.edu.co" TargetMode="External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3650" y="2429150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dirty="0"/>
              <a:t>Informática Médica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3529494" y="4159551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indent="0" algn="ctr">
              <a:buNone/>
            </a:pPr>
            <a:r>
              <a:rPr lang="es-ES" dirty="0"/>
              <a:t>Jefferson Sarmiento Rojas PhD </a:t>
            </a:r>
            <a:r>
              <a:rPr lang="es-ES" dirty="0" err="1"/>
              <a:t>Lic</a:t>
            </a:r>
            <a:r>
              <a:rPr lang="es-ES" dirty="0"/>
              <a:t>, </a:t>
            </a:r>
            <a:r>
              <a:rPr lang="es-ES" dirty="0" err="1"/>
              <a:t>Ing</a:t>
            </a:r>
            <a:r>
              <a:rPr lang="es-ES" dirty="0"/>
              <a:t>, </a:t>
            </a:r>
            <a:r>
              <a:rPr lang="es-ES" dirty="0" err="1"/>
              <a:t>MEng</a:t>
            </a:r>
            <a:endParaRPr lang="es-E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A0321-5FCE-647E-2EA6-1CD693019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2346FB0-DDC3-3DA0-0242-A21ABF6DC692}"/>
              </a:ext>
            </a:extLst>
          </p:cNvPr>
          <p:cNvSpPr/>
          <p:nvPr/>
        </p:nvSpPr>
        <p:spPr>
          <a:xfrm>
            <a:off x="825853" y="80714"/>
            <a:ext cx="3460082" cy="8039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50"/>
          </a:p>
        </p:txBody>
      </p:sp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9C20503A-329C-BD0D-8528-D9E2EA542E7F}"/>
              </a:ext>
            </a:extLst>
          </p:cNvPr>
          <p:cNvSpPr txBox="1">
            <a:spLocks/>
          </p:cNvSpPr>
          <p:nvPr/>
        </p:nvSpPr>
        <p:spPr>
          <a:xfrm>
            <a:off x="5150441" y="4798841"/>
            <a:ext cx="4621292" cy="1714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1800" dirty="0"/>
              <a:t>jefferson.sarmiento@urosario.edu.co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0529A11-128D-FA97-E244-0C5F8FFDC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594" y="95309"/>
            <a:ext cx="691449" cy="77811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4E0DC20-08BF-7D53-A897-A35894756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503" y="95308"/>
            <a:ext cx="680391" cy="77811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F35DA38-BFAA-D918-E46F-167ACE2D6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2828" y="95308"/>
            <a:ext cx="682722" cy="778116"/>
          </a:xfrm>
          <a:prstGeom prst="rect">
            <a:avLst/>
          </a:prstGeom>
        </p:spPr>
      </p:pic>
      <p:sp>
        <p:nvSpPr>
          <p:cNvPr id="5" name="CuadroTexto 1">
            <a:extLst>
              <a:ext uri="{FF2B5EF4-FFF2-40B4-BE49-F238E27FC236}">
                <a16:creationId xmlns:a16="http://schemas.microsoft.com/office/drawing/2014/main" id="{3410E144-EE27-9B19-2E9E-9CAD733E666B}"/>
              </a:ext>
            </a:extLst>
          </p:cNvPr>
          <p:cNvSpPr txBox="1"/>
          <p:nvPr/>
        </p:nvSpPr>
        <p:spPr>
          <a:xfrm>
            <a:off x="372158" y="848397"/>
            <a:ext cx="7648248" cy="4374274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s-CO" sz="1200" b="1" dirty="0">
                <a:hlinkClick r:id="rId5"/>
              </a:rPr>
              <a:t>jefferson.sarmiento@urosario.edu.co</a:t>
            </a:r>
            <a:r>
              <a:rPr lang="es-CO" sz="1200" b="1" dirty="0"/>
              <a:t> </a:t>
            </a:r>
            <a:endParaRPr lang="es-CO" sz="1200" b="1" dirty="0">
              <a:ea typeface="Calibri"/>
              <a:cs typeface="Calibri"/>
            </a:endParaRPr>
          </a:p>
          <a:p>
            <a:r>
              <a:rPr lang="es-CO" sz="1200" b="1" dirty="0">
                <a:hlinkClick r:id="rId6"/>
              </a:rPr>
              <a:t>CVLAC</a:t>
            </a:r>
            <a:endParaRPr lang="es-CO" sz="1500" b="1" dirty="0">
              <a:ea typeface="Calibri" panose="020F0502020204030204"/>
              <a:cs typeface="Calibri" panose="020F0502020204030204"/>
            </a:endParaRPr>
          </a:p>
          <a:p>
            <a:r>
              <a:rPr lang="es-CO" sz="1500" b="1" dirty="0">
                <a:solidFill>
                  <a:schemeClr val="bg2"/>
                </a:solidFill>
              </a:rPr>
              <a:t>Formación</a:t>
            </a:r>
          </a:p>
          <a:p>
            <a:pPr marL="285274" indent="-285274">
              <a:buFont typeface="Arial" panose="020B0604020202020204" pitchFamily="34" charset="0"/>
              <a:buChar char="•"/>
            </a:pPr>
            <a:r>
              <a:rPr lang="es-CO" sz="1500" b="1" dirty="0">
                <a:solidFill>
                  <a:schemeClr val="bg2"/>
                </a:solidFill>
              </a:rPr>
              <a:t> Licenciado en Electrónica:</a:t>
            </a:r>
            <a:r>
              <a:rPr lang="es-CO" sz="1500" dirty="0">
                <a:solidFill>
                  <a:schemeClr val="bg2"/>
                </a:solidFill>
              </a:rPr>
              <a:t> </a:t>
            </a:r>
            <a:r>
              <a:rPr lang="es-CO" sz="15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Diseño e implementación de </a:t>
            </a:r>
          </a:p>
          <a:p>
            <a:r>
              <a:rPr lang="es-CO" sz="15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    un controlador </a:t>
            </a:r>
            <a:r>
              <a:rPr lang="es-CO" sz="15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Fuzzy</a:t>
            </a:r>
            <a:r>
              <a:rPr lang="es-CO" sz="15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 para un vehículo UAV (</a:t>
            </a:r>
            <a:r>
              <a:rPr lang="es-CO" sz="1500" dirty="0" err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Quadrotor</a:t>
            </a:r>
            <a:r>
              <a:rPr lang="es-CO" sz="15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).</a:t>
            </a:r>
            <a:endParaRPr lang="es-CO" sz="1200" dirty="0">
              <a:solidFill>
                <a:schemeClr val="bg2"/>
              </a:solidFill>
              <a:ea typeface="Calibri" panose="020F0502020204030204"/>
              <a:cs typeface="Calibri" panose="020F0502020204030204"/>
            </a:endParaRPr>
          </a:p>
          <a:p>
            <a:pPr marL="285274" indent="-285274">
              <a:buFont typeface="Arial" panose="020B0604020202020204" pitchFamily="34" charset="0"/>
              <a:buChar char="•"/>
            </a:pPr>
            <a:r>
              <a:rPr lang="es-CO" sz="1500" b="1" dirty="0">
                <a:solidFill>
                  <a:schemeClr val="bg2"/>
                </a:solidFill>
                <a:ea typeface="Calibri"/>
                <a:cs typeface="Calibri"/>
              </a:rPr>
              <a:t> Ingeniero Electrónico</a:t>
            </a:r>
            <a:r>
              <a:rPr lang="es-CO" sz="1500" dirty="0">
                <a:solidFill>
                  <a:schemeClr val="bg2"/>
                </a:solidFill>
                <a:ea typeface="Calibri"/>
                <a:cs typeface="Calibri"/>
              </a:rPr>
              <a:t>:</a:t>
            </a:r>
            <a:r>
              <a:rPr lang="es-CO" sz="1500" dirty="0">
                <a:solidFill>
                  <a:schemeClr val="bg2"/>
                </a:solidFill>
                <a:ea typeface="+mn-lt"/>
                <a:cs typeface="+mn-lt"/>
              </a:rPr>
              <a:t> Sistema </a:t>
            </a:r>
            <a:r>
              <a:rPr lang="es-CO" sz="1500" dirty="0" err="1">
                <a:solidFill>
                  <a:schemeClr val="bg2"/>
                </a:solidFill>
                <a:ea typeface="+mn-lt"/>
                <a:cs typeface="+mn-lt"/>
              </a:rPr>
              <a:t>IoMT</a:t>
            </a:r>
            <a:r>
              <a:rPr lang="es-CO" sz="1500" dirty="0">
                <a:solidFill>
                  <a:schemeClr val="bg2"/>
                </a:solidFill>
                <a:ea typeface="+mn-lt"/>
                <a:cs typeface="+mn-lt"/>
              </a:rPr>
              <a:t> para el Monitoreo </a:t>
            </a:r>
          </a:p>
          <a:p>
            <a:r>
              <a:rPr lang="es-CO" sz="1500" dirty="0">
                <a:solidFill>
                  <a:schemeClr val="bg2"/>
                </a:solidFill>
                <a:ea typeface="+mn-lt"/>
                <a:cs typeface="+mn-lt"/>
              </a:rPr>
              <a:t>        y Trazabilidad de Medicamentos y Vacunas en Bogotá</a:t>
            </a:r>
            <a:endParaRPr lang="es-CO" sz="1200" dirty="0">
              <a:solidFill>
                <a:schemeClr val="bg2"/>
              </a:solidFill>
              <a:ea typeface="Calibri" panose="020F0502020204030204"/>
              <a:cs typeface="Calibri" panose="020F0502020204030204"/>
            </a:endParaRPr>
          </a:p>
          <a:p>
            <a:pPr marL="285274" indent="-285274">
              <a:buFont typeface="Arial" panose="020B0604020202020204" pitchFamily="34" charset="0"/>
              <a:buChar char="•"/>
            </a:pPr>
            <a:r>
              <a:rPr lang="es-CO" sz="1500" b="1" dirty="0">
                <a:solidFill>
                  <a:schemeClr val="bg2"/>
                </a:solidFill>
              </a:rPr>
              <a:t>Magíster en Ingeniería Electrónica:</a:t>
            </a:r>
            <a:r>
              <a:rPr lang="es-CO" sz="1500" b="1" dirty="0">
                <a:solidFill>
                  <a:schemeClr val="bg2"/>
                </a:solidFill>
                <a:ea typeface="+mn-lt"/>
                <a:cs typeface="+mn-lt"/>
              </a:rPr>
              <a:t> </a:t>
            </a:r>
            <a:r>
              <a:rPr lang="es-CO" sz="1500" dirty="0">
                <a:solidFill>
                  <a:schemeClr val="bg2"/>
                </a:solidFill>
                <a:ea typeface="+mn-lt"/>
                <a:cs typeface="+mn-lt"/>
              </a:rPr>
              <a:t>Diseño De Un Controlador</a:t>
            </a:r>
            <a:endParaRPr lang="es-CO" sz="1500" b="1" dirty="0">
              <a:solidFill>
                <a:schemeClr val="bg2"/>
              </a:solidFill>
              <a:ea typeface="+mn-lt"/>
              <a:cs typeface="+mn-lt"/>
            </a:endParaRPr>
          </a:p>
          <a:p>
            <a:r>
              <a:rPr lang="es-CO" sz="1500" dirty="0">
                <a:solidFill>
                  <a:schemeClr val="bg2"/>
                </a:solidFill>
                <a:ea typeface="+mn-lt"/>
                <a:cs typeface="+mn-lt"/>
              </a:rPr>
              <a:t>   Difuso En Un Vehículo Aéreo No Tripulado Tipo </a:t>
            </a:r>
            <a:r>
              <a:rPr lang="es-CO" sz="1500" dirty="0" err="1">
                <a:solidFill>
                  <a:schemeClr val="bg2"/>
                </a:solidFill>
                <a:ea typeface="+mn-lt"/>
                <a:cs typeface="+mn-lt"/>
              </a:rPr>
              <a:t>Quadrotor</a:t>
            </a:r>
            <a:r>
              <a:rPr lang="es-CO" sz="1500" dirty="0">
                <a:solidFill>
                  <a:schemeClr val="bg2"/>
                </a:solidFill>
                <a:ea typeface="+mn-lt"/>
                <a:cs typeface="+mn-lt"/>
              </a:rPr>
              <a:t> Basado En </a:t>
            </a:r>
            <a:r>
              <a:rPr lang="es-CO" sz="1500" dirty="0" err="1">
                <a:solidFill>
                  <a:schemeClr val="bg2"/>
                </a:solidFill>
                <a:ea typeface="+mn-lt"/>
                <a:cs typeface="+mn-lt"/>
              </a:rPr>
              <a:t>LMIs</a:t>
            </a:r>
            <a:endParaRPr lang="es-CO" sz="1500" b="1" dirty="0">
              <a:solidFill>
                <a:schemeClr val="bg2"/>
              </a:solidFill>
              <a:ea typeface="Calibri"/>
              <a:cs typeface="Calibri"/>
            </a:endParaRPr>
          </a:p>
          <a:p>
            <a:pPr marL="285274" indent="-285274">
              <a:buFont typeface="Arial" panose="020B0604020202020204" pitchFamily="34" charset="0"/>
              <a:buChar char="•"/>
            </a:pPr>
            <a:r>
              <a:rPr lang="es-CO" sz="1500" dirty="0">
                <a:solidFill>
                  <a:schemeClr val="bg2"/>
                </a:solidFill>
                <a:ea typeface="Calibri"/>
                <a:cs typeface="Calibri"/>
              </a:rPr>
              <a:t> </a:t>
            </a:r>
            <a:r>
              <a:rPr lang="es-CO" sz="1500" b="1" dirty="0">
                <a:solidFill>
                  <a:schemeClr val="bg2"/>
                </a:solidFill>
                <a:ea typeface="+mn-lt"/>
                <a:cs typeface="+mn-lt"/>
              </a:rPr>
              <a:t>Especialización en Gestión de Proyectos: </a:t>
            </a:r>
            <a:r>
              <a:rPr lang="es-CO" sz="1500" dirty="0">
                <a:solidFill>
                  <a:schemeClr val="bg2"/>
                </a:solidFill>
                <a:ea typeface="+mn-lt"/>
                <a:cs typeface="+mn-lt"/>
              </a:rPr>
              <a:t>Sistema </a:t>
            </a:r>
            <a:r>
              <a:rPr lang="es-CO" sz="1500" dirty="0" err="1">
                <a:solidFill>
                  <a:schemeClr val="bg2"/>
                </a:solidFill>
                <a:ea typeface="+mn-lt"/>
                <a:cs typeface="+mn-lt"/>
              </a:rPr>
              <a:t>IoMT</a:t>
            </a:r>
            <a:r>
              <a:rPr lang="es-CO" sz="1500" dirty="0">
                <a:solidFill>
                  <a:schemeClr val="bg2"/>
                </a:solidFill>
                <a:ea typeface="+mn-lt"/>
                <a:cs typeface="+mn-lt"/>
              </a:rPr>
              <a:t> para el Monitoreo </a:t>
            </a:r>
            <a:endParaRPr lang="en-US" sz="1500" dirty="0">
              <a:solidFill>
                <a:schemeClr val="bg2"/>
              </a:solidFill>
              <a:ea typeface="+mn-lt"/>
              <a:cs typeface="+mn-lt"/>
            </a:endParaRPr>
          </a:p>
          <a:p>
            <a:r>
              <a:rPr lang="es-CO" sz="1500" dirty="0">
                <a:solidFill>
                  <a:schemeClr val="bg2"/>
                </a:solidFill>
                <a:ea typeface="+mn-lt"/>
                <a:cs typeface="+mn-lt"/>
              </a:rPr>
              <a:t>   y Trazabilidad de Medicamentos y Vacunas en Bogotá</a:t>
            </a:r>
            <a:endParaRPr lang="es-CO" sz="1200" dirty="0">
              <a:solidFill>
                <a:schemeClr val="bg2"/>
              </a:solidFill>
              <a:ea typeface="Calibri" panose="020F0502020204030204"/>
              <a:cs typeface="Calibri" panose="020F0502020204030204"/>
            </a:endParaRPr>
          </a:p>
          <a:p>
            <a:pPr marL="257175" indent="-257175">
              <a:buFont typeface="Arial"/>
              <a:buChar char="•"/>
            </a:pPr>
            <a:r>
              <a:rPr lang="es-CO" sz="1500" b="1" dirty="0">
                <a:solidFill>
                  <a:schemeClr val="bg2"/>
                </a:solidFill>
                <a:ea typeface="Calibri"/>
                <a:cs typeface="Calibri"/>
              </a:rPr>
              <a:t>Doctorado en Ingeniería (C)</a:t>
            </a:r>
            <a:r>
              <a:rPr lang="es-CO" sz="1500" dirty="0">
                <a:solidFill>
                  <a:schemeClr val="bg2"/>
                </a:solidFill>
                <a:ea typeface="Calibri"/>
                <a:cs typeface="Calibri"/>
              </a:rPr>
              <a:t>: 	</a:t>
            </a:r>
            <a:endParaRPr lang="es-CO" sz="1500" dirty="0">
              <a:solidFill>
                <a:schemeClr val="bg2"/>
              </a:solidFill>
              <a:ea typeface="+mn-lt"/>
              <a:cs typeface="+mn-lt"/>
            </a:endParaRPr>
          </a:p>
          <a:p>
            <a:r>
              <a:rPr lang="es-CO" sz="1500" b="1" dirty="0">
                <a:solidFill>
                  <a:schemeClr val="bg2"/>
                </a:solidFill>
              </a:rPr>
              <a:t>Líneas de interés:</a:t>
            </a:r>
          </a:p>
          <a:p>
            <a:pPr marL="285274" indent="-285274">
              <a:buFont typeface="Arial,Sans-Serif"/>
              <a:buChar char="•"/>
            </a:pPr>
            <a:r>
              <a:rPr lang="es-CO" sz="1500" i="1" dirty="0" err="1">
                <a:solidFill>
                  <a:schemeClr val="bg2"/>
                </a:solidFill>
                <a:ea typeface="Calibri"/>
                <a:cs typeface="Calibri"/>
              </a:rPr>
              <a:t>Tiny</a:t>
            </a:r>
            <a:r>
              <a:rPr lang="es-CO" sz="1500" i="1" dirty="0">
                <a:solidFill>
                  <a:schemeClr val="bg2"/>
                </a:solidFill>
                <a:ea typeface="Calibri"/>
                <a:cs typeface="Calibri"/>
              </a:rPr>
              <a:t> machine </a:t>
            </a:r>
            <a:r>
              <a:rPr lang="es-CO" sz="1500" i="1" dirty="0" err="1">
                <a:solidFill>
                  <a:schemeClr val="bg2"/>
                </a:solidFill>
                <a:ea typeface="Calibri"/>
                <a:cs typeface="Calibri"/>
              </a:rPr>
              <a:t>Learning</a:t>
            </a:r>
            <a:endParaRPr lang="en-US" sz="1500" dirty="0">
              <a:solidFill>
                <a:schemeClr val="bg2"/>
              </a:solidFill>
              <a:ea typeface="Calibri"/>
              <a:cs typeface="Calibri"/>
            </a:endParaRPr>
          </a:p>
          <a:p>
            <a:pPr marL="285274" indent="-285274">
              <a:buFont typeface="Arial,Sans-Serif"/>
              <a:buChar char="•"/>
            </a:pPr>
            <a:r>
              <a:rPr lang="es-CO" sz="1500" i="1" dirty="0">
                <a:solidFill>
                  <a:schemeClr val="bg2"/>
                </a:solidFill>
              </a:rPr>
              <a:t>Sistemas Embebidos</a:t>
            </a:r>
            <a:endParaRPr lang="es-CO" sz="1500" i="1" dirty="0">
              <a:solidFill>
                <a:schemeClr val="bg2"/>
              </a:solidFill>
              <a:ea typeface="Calibri"/>
              <a:cs typeface="Calibri"/>
            </a:endParaRPr>
          </a:p>
          <a:p>
            <a:pPr marL="285274" indent="-285274">
              <a:buFont typeface="Arial"/>
              <a:buChar char="•"/>
            </a:pPr>
            <a:r>
              <a:rPr lang="es-CO" sz="1500" dirty="0">
                <a:solidFill>
                  <a:schemeClr val="bg2"/>
                </a:solidFill>
              </a:rPr>
              <a:t>Automatización y control robusto.</a:t>
            </a:r>
            <a:endParaRPr lang="es-CO" sz="1500" dirty="0">
              <a:solidFill>
                <a:schemeClr val="bg2"/>
              </a:solidFill>
              <a:ea typeface="Calibri" panose="020F0502020204030204"/>
              <a:cs typeface="Calibri" panose="020F0502020204030204"/>
            </a:endParaRPr>
          </a:p>
          <a:p>
            <a:pPr marL="285274" indent="-285274">
              <a:buFont typeface="Arial"/>
              <a:buChar char="•"/>
            </a:pPr>
            <a:r>
              <a:rPr lang="es-CO" sz="1500" dirty="0">
                <a:solidFill>
                  <a:schemeClr val="bg2"/>
                </a:solidFill>
              </a:rPr>
              <a:t>Internet de las cosas.</a:t>
            </a:r>
            <a:endParaRPr lang="es-CO" sz="1500" dirty="0">
              <a:solidFill>
                <a:schemeClr val="bg2"/>
              </a:solidFill>
              <a:ea typeface="Calibri" panose="020F0502020204030204"/>
              <a:cs typeface="Calibri" panose="020F0502020204030204"/>
            </a:endParaRPr>
          </a:p>
          <a:p>
            <a:pPr marL="285274" indent="-285274">
              <a:buFont typeface="Arial"/>
              <a:buChar char="•"/>
            </a:pPr>
            <a:r>
              <a:rPr lang="es-CO" sz="1500" dirty="0">
                <a:solidFill>
                  <a:schemeClr val="bg2"/>
                </a:solidFill>
                <a:ea typeface="Calibri" panose="020F0502020204030204"/>
                <a:cs typeface="Calibri" panose="020F0502020204030204"/>
              </a:rPr>
              <a:t>Desarrollo de software</a:t>
            </a:r>
          </a:p>
          <a:p>
            <a:pPr marL="285274" indent="-285274">
              <a:buFont typeface="Arial"/>
              <a:buChar char="•"/>
            </a:pPr>
            <a:endParaRPr lang="es-CO" sz="1575" i="1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AB37783-6017-16DE-9DFE-F1FFCBE52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78" y="80713"/>
            <a:ext cx="1087153" cy="108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36180C1-56D8-A533-E8A0-1F04A91E8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560" y="3949791"/>
            <a:ext cx="809471" cy="108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tos">
            <a:extLst>
              <a:ext uri="{FF2B5EF4-FFF2-40B4-BE49-F238E27FC236}">
                <a16:creationId xmlns:a16="http://schemas.microsoft.com/office/drawing/2014/main" id="{5DA39C21-3DC3-357D-1457-24524ED5C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282" y="973647"/>
            <a:ext cx="1715808" cy="133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para Universidad Pedagógica Nacional logo">
            <a:extLst>
              <a:ext uri="{FF2B5EF4-FFF2-40B4-BE49-F238E27FC236}">
                <a16:creationId xmlns:a16="http://schemas.microsoft.com/office/drawing/2014/main" id="{B2108312-87B6-2BD8-91A9-175533396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299" y="2344568"/>
            <a:ext cx="1148299" cy="83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62D1174C-EFB2-8DE2-11C9-D0149AC96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6497" y="3627661"/>
            <a:ext cx="1321594" cy="882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376C673B-7B0F-6DB5-0B6B-07B978FFB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8256" y="1123630"/>
            <a:ext cx="1414463" cy="207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BFA25A3-F99C-9885-5D09-E9CF0CAFB5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75901" y="244702"/>
            <a:ext cx="597340" cy="60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256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4475500-256E-4C41-5460-FAF9861509F1}"/>
              </a:ext>
            </a:extLst>
          </p:cNvPr>
          <p:cNvSpPr/>
          <p:nvPr/>
        </p:nvSpPr>
        <p:spPr>
          <a:xfrm>
            <a:off x="2209815" y="1455880"/>
            <a:ext cx="472437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Presentación </a:t>
            </a:r>
          </a:p>
          <a:p>
            <a:pPr algn="ctr"/>
            <a:r>
              <a:rPr lang="es-E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Estudiantes</a:t>
            </a:r>
          </a:p>
        </p:txBody>
      </p:sp>
    </p:spTree>
    <p:extLst>
      <p:ext uri="{BB962C8B-B14F-4D97-AF65-F5344CB8AC3E}">
        <p14:creationId xmlns:p14="http://schemas.microsoft.com/office/powerpoint/2010/main" val="1489718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1A8B425-4223-223D-E433-CD31B07C9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494" y="714452"/>
            <a:ext cx="6102737" cy="4068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7611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6CC3366-8B80-8146-25D1-B691087A4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672" y="457974"/>
            <a:ext cx="5991225" cy="399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796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DF078B-8321-0CFA-DA36-758A6819A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260" y="91325"/>
            <a:ext cx="8520600" cy="707400"/>
          </a:xfrm>
        </p:spPr>
        <p:txBody>
          <a:bodyPr>
            <a:normAutofit fontScale="90000"/>
          </a:bodyPr>
          <a:lstStyle/>
          <a:p>
            <a:r>
              <a:rPr lang="es-419" dirty="0"/>
              <a:t>Jerarquía del conocimiento: Dato, Información, Conocimiento y Sabiduría (DIKW).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9F969377-1719-FFB8-310D-585B61AEE4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419"/>
          </a:p>
        </p:txBody>
      </p:sp>
      <p:pic>
        <p:nvPicPr>
          <p:cNvPr id="8" name="Imagen 7" descr="Diagrama&#10;&#10;El contenido generado por IA puede ser incorrecto.">
            <a:extLst>
              <a:ext uri="{FF2B5EF4-FFF2-40B4-BE49-F238E27FC236}">
                <a16:creationId xmlns:a16="http://schemas.microsoft.com/office/drawing/2014/main" id="{ED1273E5-D511-43BC-44F3-D8789AF37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260" y="1487160"/>
            <a:ext cx="4969479" cy="283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87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21A534-4F35-D839-17AB-EA51126A5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419" dirty="0"/>
              <a:t>Flujos de trabajo clínicos y administrativos</a:t>
            </a:r>
          </a:p>
        </p:txBody>
      </p:sp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626A7C92-2915-6DCE-D71D-2132A6B63B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307" r="2087"/>
          <a:stretch>
            <a:fillRect/>
          </a:stretch>
        </p:blipFill>
        <p:spPr>
          <a:xfrm>
            <a:off x="1239531" y="1539240"/>
            <a:ext cx="6075669" cy="288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339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1CE1A-4842-4E13-899B-6D72FB341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419" dirty="0"/>
              <a:t>Del registro en papel a la Salud 4.0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502FB44F-0E20-8324-037F-502AE32DE4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419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29A169BB-CB87-9C8C-4329-FBDF1CFC24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419"/>
          </a:p>
        </p:txBody>
      </p:sp>
      <p:pic>
        <p:nvPicPr>
          <p:cNvPr id="8" name="Imagen 7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DCD9C880-B1EA-3F4F-A96A-7A98E639E5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71" r="1787"/>
          <a:stretch>
            <a:fillRect/>
          </a:stretch>
        </p:blipFill>
        <p:spPr>
          <a:xfrm>
            <a:off x="749617" y="1225970"/>
            <a:ext cx="7072774" cy="3472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503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37D70-E9DE-C6CC-5FB6-5075BB9FA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Actividad: Programando el </a:t>
            </a:r>
            <a:r>
              <a:rPr lang="es-ES" dirty="0" err="1"/>
              <a:t>Triaje</a:t>
            </a:r>
            <a:r>
              <a:rPr lang="es-ES" dirty="0"/>
              <a:t>, El Ciclo DIKW </a:t>
            </a:r>
            <a:endParaRPr lang="es-419" dirty="0"/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55176848-A99E-D37A-3BB1-205C5ECFB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5" y="1752599"/>
            <a:ext cx="3326850" cy="189766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CE7746E-7B3E-4F43-1D7B-4775219E27BF}"/>
              </a:ext>
            </a:extLst>
          </p:cNvPr>
          <p:cNvSpPr txBox="1"/>
          <p:nvPr/>
        </p:nvSpPr>
        <p:spPr>
          <a:xfrm>
            <a:off x="3642906" y="2224380"/>
            <a:ext cx="513135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dirty="0"/>
              <a:t>Problema: Imagina que existe  un dispositivo </a:t>
            </a:r>
            <a:r>
              <a:rPr lang="es-ES" dirty="0" err="1"/>
              <a:t>IoT</a:t>
            </a:r>
            <a:r>
              <a:rPr lang="es-ES" dirty="0"/>
              <a:t> (como un reloj inteligente) que mide la temperatura de pacientes en una sala de espera. Y Debes decidir automáticamente qué hacer con cada uno.</a:t>
            </a:r>
          </a:p>
        </p:txBody>
      </p:sp>
    </p:spTree>
    <p:extLst>
      <p:ext uri="{BB962C8B-B14F-4D97-AF65-F5344CB8AC3E}">
        <p14:creationId xmlns:p14="http://schemas.microsoft.com/office/powerpoint/2010/main" val="601759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FF4A5-D2B3-E761-ABC5-AF56F5BAC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70B0D9-1B34-4CE0-B93B-564F93004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Actividad: Programando el </a:t>
            </a:r>
            <a:r>
              <a:rPr lang="es-ES" dirty="0" err="1"/>
              <a:t>Triaje</a:t>
            </a:r>
            <a:r>
              <a:rPr lang="es-ES" dirty="0"/>
              <a:t>, El Ciclo DIKW </a:t>
            </a:r>
            <a:endParaRPr lang="es-419" dirty="0"/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87F3A844-841B-5767-0DA4-D8D4BE0D7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4" y="1773381"/>
            <a:ext cx="3326850" cy="189766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23305C4-1130-FADD-7586-05EEEDE6DE79}"/>
              </a:ext>
            </a:extLst>
          </p:cNvPr>
          <p:cNvSpPr txBox="1"/>
          <p:nvPr/>
        </p:nvSpPr>
        <p:spPr>
          <a:xfrm>
            <a:off x="3416904" y="1152425"/>
            <a:ext cx="5186769" cy="3546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dirty="0"/>
              <a:t>Dato (</a:t>
            </a:r>
            <a:r>
              <a:rPr lang="es-419" dirty="0" err="1"/>
              <a:t>temperaturas_sensor</a:t>
            </a:r>
            <a:r>
              <a:rPr lang="es-419" dirty="0"/>
              <a:t>): "Miren la lista de números [36.5, 39.2...]. Si yo solo les doy eso, no saben si es temperatura, precio del dólar o latidos por minuto. Eso es el Dato."</a:t>
            </a:r>
          </a:p>
          <a:p>
            <a:endParaRPr lang="es-419" dirty="0"/>
          </a:p>
          <a:p>
            <a:r>
              <a:rPr lang="es-419" dirty="0"/>
              <a:t>Información (</a:t>
            </a:r>
            <a:r>
              <a:rPr lang="es-419" dirty="0" err="1"/>
              <a:t>mensaje_info</a:t>
            </a:r>
            <a:r>
              <a:rPr lang="es-419" dirty="0"/>
              <a:t>): "Cuando agregamos '°C', el dato gana contexto. Ahora sabemos qué estamos midiendo."</a:t>
            </a:r>
          </a:p>
          <a:p>
            <a:endParaRPr lang="es-419" dirty="0"/>
          </a:p>
          <a:p>
            <a:r>
              <a:rPr lang="es-419" dirty="0"/>
              <a:t>Conocimiento (</a:t>
            </a:r>
            <a:r>
              <a:rPr lang="es-419" dirty="0" err="1"/>
              <a:t>if</a:t>
            </a:r>
            <a:r>
              <a:rPr lang="es-419" dirty="0"/>
              <a:t>/</a:t>
            </a:r>
            <a:r>
              <a:rPr lang="es-419" dirty="0" err="1"/>
              <a:t>else</a:t>
            </a:r>
            <a:r>
              <a:rPr lang="es-419" dirty="0"/>
              <a:t>): "Aquí entra la medicina. El computador no sabe qué es fiebre. Nosotros, como expertos, le enseñamos las reglas (&gt; 37.5). El </a:t>
            </a:r>
            <a:r>
              <a:rPr lang="es-419" dirty="0" err="1"/>
              <a:t>if</a:t>
            </a:r>
            <a:r>
              <a:rPr lang="es-419" dirty="0"/>
              <a:t> representa el conocimiento médico codificado."</a:t>
            </a:r>
          </a:p>
          <a:p>
            <a:endParaRPr lang="es-419" dirty="0"/>
          </a:p>
          <a:p>
            <a:r>
              <a:rPr lang="es-419" dirty="0"/>
              <a:t>Sabiduría (</a:t>
            </a:r>
            <a:r>
              <a:rPr lang="es-419" dirty="0" err="1"/>
              <a:t>accion</a:t>
            </a:r>
            <a:r>
              <a:rPr lang="es-419" dirty="0"/>
              <a:t>): "El sistema no solo dice 'tiene fiebre', sino que sugiere qué hacer ('Administrar antipirético'). La sabiduría es la aplicación práctica del conocimiento para resolver un problema</a:t>
            </a:r>
          </a:p>
        </p:txBody>
      </p:sp>
    </p:spTree>
    <p:extLst>
      <p:ext uri="{BB962C8B-B14F-4D97-AF65-F5344CB8AC3E}">
        <p14:creationId xmlns:p14="http://schemas.microsoft.com/office/powerpoint/2010/main" val="179907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34B0D-B329-F86D-B157-87533CCBE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98BE1-62A2-6253-377F-E6EDF0864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Reto: Programando el </a:t>
            </a:r>
            <a:r>
              <a:rPr lang="es-ES" dirty="0" err="1"/>
              <a:t>Triaje</a:t>
            </a:r>
            <a:r>
              <a:rPr lang="es-ES" dirty="0"/>
              <a:t>, El Ciclo DIKW </a:t>
            </a:r>
            <a:endParaRPr lang="es-419" dirty="0"/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7BF0F632-2F60-403D-019A-12BC256E0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54" y="1773381"/>
            <a:ext cx="3326850" cy="189766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BCE8720-0248-1A2E-51AF-C80FF340B02C}"/>
              </a:ext>
            </a:extLst>
          </p:cNvPr>
          <p:cNvSpPr txBox="1"/>
          <p:nvPr/>
        </p:nvSpPr>
        <p:spPr>
          <a:xfrm>
            <a:off x="3506958" y="2136097"/>
            <a:ext cx="51867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modifiquen el código para agregar una segunda variable, como Saturación de Oxígeno (SpO2). Y describa el ciclo. 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313090999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395</Words>
  <Application>Microsoft Office PowerPoint</Application>
  <PresentationFormat>Presentación en pantalla (16:9)</PresentationFormat>
  <Paragraphs>38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Arial,Sans-Serif</vt:lpstr>
      <vt:lpstr>PT Sans Narrow</vt:lpstr>
      <vt:lpstr>Open Sans</vt:lpstr>
      <vt:lpstr>Calibri</vt:lpstr>
      <vt:lpstr>Arial</vt:lpstr>
      <vt:lpstr>Tropic</vt:lpstr>
      <vt:lpstr>Informática Médica</vt:lpstr>
      <vt:lpstr>Presentación de PowerPoint</vt:lpstr>
      <vt:lpstr>Presentación de PowerPoint</vt:lpstr>
      <vt:lpstr>Presentación de PowerPoint</vt:lpstr>
      <vt:lpstr>Presentación de PowerPoint</vt:lpstr>
      <vt:lpstr>Jerarquía del conocimiento: Dato, Información, Conocimiento y Sabiduría (DIKW).</vt:lpstr>
      <vt:lpstr>Flujos de trabajo clínicos y administrativos</vt:lpstr>
      <vt:lpstr>Del registro en papel a la Salud 4.0</vt:lpstr>
      <vt:lpstr>Actividad: Programando el Triaje, El Ciclo DIKW </vt:lpstr>
      <vt:lpstr>Actividad: Programando el Triaje, El Ciclo DIKW </vt:lpstr>
      <vt:lpstr>Reto: Programando el Triaje, El Ciclo DIKW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Proceso para la planeación y ejecución de aplicaciones digitales en salud</dc:title>
  <dc:creator>pedro antonio aya parra</dc:creator>
  <cp:lastModifiedBy>Jefferson Steven Sarmiento Rojas</cp:lastModifiedBy>
  <cp:revision>20</cp:revision>
  <dcterms:modified xsi:type="dcterms:W3CDTF">2026-01-22T20:30:30Z</dcterms:modified>
</cp:coreProperties>
</file>