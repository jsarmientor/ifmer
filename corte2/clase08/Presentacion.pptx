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346" r:id="rId2"/>
    <p:sldId id="268" r:id="rId3"/>
    <p:sldId id="269" r:id="rId4"/>
    <p:sldId id="270" r:id="rId5"/>
    <p:sldId id="271" r:id="rId6"/>
    <p:sldId id="263" r:id="rId7"/>
    <p:sldId id="360" r:id="rId8"/>
  </p:sldIdLst>
  <p:sldSz cx="9144000" cy="5143500" type="screen16x9"/>
  <p:notesSz cx="6858000" cy="91440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12C8C85-51F0-491E-9774-3900AFEF0FD7}" styleName="Estilo claro 2 - Acento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474F80-D398-4D51-AF58-9EFCE8C9A125}" type="datetimeFigureOut">
              <a:rPr lang="es-CO" smtClean="0"/>
              <a:t>15/09/2026</a:t>
            </a:fld>
            <a:endParaRPr lang="es-C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DB6B05-1A55-4E8E-B2B3-B41DC85D2AA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37111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6" name="Google Shape;20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NG BIOMEDICA PPPT-04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" y="0"/>
            <a:ext cx="9135879" cy="51435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288158"/>
            <a:ext cx="7772400" cy="635629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s-ES_tradnl" dirty="0"/>
              <a:t>Clic para editar título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046741"/>
            <a:ext cx="6400800" cy="781193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dirty="0"/>
              <a:t>Haga clic para modificar el estilo de subtítulo del patrón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58738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8C307-FA79-424F-9DCB-12E8299DCD2C}" type="datetimeFigureOut">
              <a:rPr lang="es-ES" smtClean="0"/>
              <a:t>15/09/2026</a:t>
            </a:fld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F7D37-5A5D-AC4E-8B76-1127B031D6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81202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8C307-FA79-424F-9DCB-12E8299DCD2C}" type="datetimeFigureOut">
              <a:rPr lang="es-ES" smtClean="0"/>
              <a:t>15/09/2026</a:t>
            </a:fld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F7D37-5A5D-AC4E-8B76-1127B031D6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01631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219868"/>
            <a:ext cx="4038600" cy="32932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219868"/>
            <a:ext cx="4038600" cy="32932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8C307-FA79-424F-9DCB-12E8299DCD2C}" type="datetimeFigureOut">
              <a:rPr lang="es-ES" smtClean="0"/>
              <a:t>15/09/2026</a:t>
            </a:fld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F7D37-5A5D-AC4E-8B76-1127B031D6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1750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8C307-FA79-424F-9DCB-12E8299DCD2C}" type="datetimeFigureOut">
              <a:rPr lang="es-ES" smtClean="0"/>
              <a:t>15/09/2026</a:t>
            </a:fld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F7D37-5A5D-AC4E-8B76-1127B031D6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2373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8C307-FA79-424F-9DCB-12E8299DCD2C}" type="datetimeFigureOut">
              <a:rPr lang="es-ES" smtClean="0"/>
              <a:t>15/09/2026</a:t>
            </a:fld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F7D37-5A5D-AC4E-8B76-1127B031D6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67262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8C307-FA79-424F-9DCB-12E8299DCD2C}" type="datetimeFigureOut">
              <a:rPr lang="es-ES" smtClean="0"/>
              <a:t>15/09/2026</a:t>
            </a:fld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F7D37-5A5D-AC4E-8B76-1127B031D6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98890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8C307-FA79-424F-9DCB-12E8299DCD2C}" type="datetimeFigureOut">
              <a:rPr lang="es-ES" smtClean="0"/>
              <a:t>15/09/2026</a:t>
            </a:fld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F7D37-5A5D-AC4E-8B76-1127B031D6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07646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8C307-FA79-424F-9DCB-12E8299DCD2C}" type="datetimeFigureOut">
              <a:rPr lang="es-ES" smtClean="0"/>
              <a:t>15/09/2026</a:t>
            </a:fld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F7D37-5A5D-AC4E-8B76-1127B031D6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2406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8C307-FA79-424F-9DCB-12E8299DCD2C}" type="datetimeFigureOut">
              <a:rPr lang="es-ES" smtClean="0"/>
              <a:t>15/09/2026</a:t>
            </a:fld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F7D37-5A5D-AC4E-8B76-1127B031D6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13123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8C307-FA79-424F-9DCB-12E8299DCD2C}" type="datetimeFigureOut">
              <a:rPr lang="es-ES" smtClean="0"/>
              <a:t>15/09/2026</a:t>
            </a:fld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F7D37-5A5D-AC4E-8B76-1127B031D66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73511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1542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NG BIOMEDICA PPPT-05.jpg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" y="0"/>
            <a:ext cx="9135879" cy="5143500"/>
          </a:xfrm>
          <a:prstGeom prst="rect">
            <a:avLst/>
          </a:prstGeom>
        </p:spPr>
      </p:pic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dirty="0"/>
              <a:t>Clic para editar título</a:t>
            </a:r>
            <a:endParaRPr lang="es-E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1800361" y="4712447"/>
            <a:ext cx="8402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DA88C307-FA79-424F-9DCB-12E8299DCD2C}" type="datetimeFigureOut">
              <a:rPr lang="es-ES" smtClean="0"/>
              <a:pPr/>
              <a:t>15/09/2026</a:t>
            </a:fld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78745" y="4712447"/>
            <a:ext cx="75575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7BBF7D37-5A5D-AC4E-8B76-1127B031D66C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2570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nomedbrowser.org/?perspective=full&amp;conceptId1=404684003&amp;edition=MAIN/SNOMEDCT-ES/2026-08-10&amp;release=&amp;languages=es,en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eb.sispro.gov.co/WebPublico/Consultas/ConsultarDetalleReferenciaBasica.aspx?Code=CIE10" TargetMode="Externa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hyperlink" Target="https://hl7.org/fhir/?utm_referrer=https%3A%2F%2Fwww.hl7.org%2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34D9CC-0D02-4D30-8D6B-3C377ED4F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936121"/>
            <a:ext cx="7772400" cy="635629"/>
          </a:xfrm>
        </p:spPr>
        <p:txBody>
          <a:bodyPr/>
          <a:lstStyle/>
          <a:p>
            <a:r>
              <a:rPr lang="es-419" b="1" dirty="0"/>
              <a:t>Interoperabilidad</a:t>
            </a:r>
            <a:br>
              <a:rPr lang="es-419" b="1" dirty="0"/>
            </a:br>
            <a:r>
              <a:rPr lang="es-419" b="1" dirty="0"/>
              <a:t> Estándares Clásicos y Modernos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966413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F2E16-8A03-1A62-2377-857CEEC97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9D5934-F1E4-8F5B-193C-F05B91ADB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>
                <a:effectLst/>
                <a:latin typeface="Times New Roman" panose="02020603050405020304" pitchFamily="18" charset="0"/>
              </a:rPr>
              <a:t>El problema de los "silos“ Sistemas Locales de Salud</a:t>
            </a:r>
            <a:endParaRPr lang="es-CO" dirty="0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634447C6-EBA7-832D-1905-E19786C798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419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DC68349-FBF9-14B9-09BF-C97F35B9B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481098"/>
            <a:ext cx="4259384" cy="2323301"/>
          </a:xfrm>
          <a:prstGeom prst="rect">
            <a:avLst/>
          </a:prstGeom>
        </p:spPr>
      </p:pic>
      <p:pic>
        <p:nvPicPr>
          <p:cNvPr id="9" name="Imagen 8" descr="Diagrama&#10;&#10;El contenido generado por IA puede ser incorrecto.">
            <a:extLst>
              <a:ext uri="{FF2B5EF4-FFF2-40B4-BE49-F238E27FC236}">
                <a16:creationId xmlns:a16="http://schemas.microsoft.com/office/drawing/2014/main" id="{238EC782-ABAA-9F4D-EBC7-9ED76EE615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307" r="2087"/>
          <a:stretch>
            <a:fillRect/>
          </a:stretch>
        </p:blipFill>
        <p:spPr>
          <a:xfrm>
            <a:off x="0" y="1658305"/>
            <a:ext cx="4488519" cy="213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694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8B55F-4E3F-110B-43A0-9460F97FB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E8F11E-F4CD-DEB6-AB6A-BFBF49A96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506" y="312020"/>
            <a:ext cx="4055232" cy="914100"/>
          </a:xfrm>
        </p:spPr>
        <p:txBody>
          <a:bodyPr>
            <a:normAutofit fontScale="90000"/>
          </a:bodyPr>
          <a:lstStyle/>
          <a:p>
            <a:pPr algn="ctr"/>
            <a:r>
              <a:rPr lang="es-419" dirty="0"/>
              <a:t> Estándares normativas </a:t>
            </a:r>
            <a:br>
              <a:rPr lang="es-419" dirty="0"/>
            </a:br>
            <a:r>
              <a:rPr lang="es-419" dirty="0"/>
              <a:t>Técnicas</a:t>
            </a:r>
            <a:br>
              <a:rPr lang="es-419" dirty="0"/>
            </a:br>
            <a:r>
              <a:rPr lang="es-419" dirty="0"/>
              <a:t>HL7 v2, v3  y API </a:t>
            </a:r>
            <a:endParaRPr lang="es-CO" dirty="0"/>
          </a:p>
        </p:txBody>
      </p:sp>
      <p:pic>
        <p:nvPicPr>
          <p:cNvPr id="2050" name="Picture 2" descr="FHIR vs HL7: A Detailed Guide with Practical Examples">
            <a:extLst>
              <a:ext uri="{FF2B5EF4-FFF2-40B4-BE49-F238E27FC236}">
                <a16:creationId xmlns:a16="http://schemas.microsoft.com/office/drawing/2014/main" id="{D8B70547-906A-B0E4-F2E9-1D26FADF02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3106" y="2500822"/>
            <a:ext cx="3102348" cy="1978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5EE250CC-39E5-77F1-D8BF-A04064ED1546}"/>
              </a:ext>
            </a:extLst>
          </p:cNvPr>
          <p:cNvSpPr txBox="1"/>
          <p:nvPr/>
        </p:nvSpPr>
        <p:spPr>
          <a:xfrm>
            <a:off x="458240" y="1763959"/>
            <a:ext cx="405523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HL7 v2 y v3 son estándares de interoperabilidad para el intercambio de datos sanitarios. </a:t>
            </a:r>
            <a:r>
              <a:rPr lang="es-ES" b="1" i="0" dirty="0">
                <a:effectLst/>
                <a:latin typeface="Google Sans"/>
              </a:rPr>
              <a:t>HL7 v2</a:t>
            </a:r>
            <a:r>
              <a:rPr lang="es-ES" b="0" i="0" dirty="0">
                <a:effectLst/>
                <a:latin typeface="Google Sans"/>
              </a:rPr>
              <a:t> es el más utilizado, basa sus mensajes en texto plano, flexible pero con variaciones entre implementaciones. </a:t>
            </a:r>
            <a:r>
              <a:rPr lang="es-ES" b="1" i="0" dirty="0">
                <a:effectLst/>
                <a:latin typeface="Google Sans"/>
              </a:rPr>
              <a:t>HL7 v3</a:t>
            </a:r>
            <a:r>
              <a:rPr lang="es-ES" b="0" i="0" dirty="0">
                <a:effectLst/>
                <a:latin typeface="Google Sans"/>
              </a:rPr>
              <a:t> es más robusto y estructurado (usando XML), basado en un Modelo de Información de Referencia (RIM),</a:t>
            </a:r>
            <a:endParaRPr lang="es-419" dirty="0"/>
          </a:p>
        </p:txBody>
      </p:sp>
      <p:pic>
        <p:nvPicPr>
          <p:cNvPr id="8" name="Imagen 7" descr="Escala de tiempo&#10;&#10;El contenido generado por IA puede ser incorrecto.">
            <a:extLst>
              <a:ext uri="{FF2B5EF4-FFF2-40B4-BE49-F238E27FC236}">
                <a16:creationId xmlns:a16="http://schemas.microsoft.com/office/drawing/2014/main" id="{CF87101A-0417-362A-B66E-5823C44E03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9026" y="426044"/>
            <a:ext cx="3029901" cy="2019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334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6FAC1C-76C3-25E6-DFDB-42FAD0EE7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550" y="710418"/>
            <a:ext cx="7038900" cy="914100"/>
          </a:xfrm>
        </p:spPr>
        <p:txBody>
          <a:bodyPr>
            <a:noAutofit/>
          </a:bodyPr>
          <a:lstStyle/>
          <a:p>
            <a:r>
              <a:rPr lang="es-419" sz="1600" dirty="0"/>
              <a:t>SNOMED</a:t>
            </a:r>
            <a:br>
              <a:rPr lang="es-419" sz="1600" dirty="0"/>
            </a:br>
            <a:r>
              <a:rPr lang="en-US" sz="1600" dirty="0"/>
              <a:t>Systematized Nomenclature of Medicine - Clinical Terms</a:t>
            </a:r>
            <a:endParaRPr lang="es-419" sz="1600" dirty="0"/>
          </a:p>
        </p:txBody>
      </p:sp>
      <p:pic>
        <p:nvPicPr>
          <p:cNvPr id="1026" name="Picture 2" descr="Descripción general de alto nivel de qué es SNOMED CT – KW Foundation">
            <a:extLst>
              <a:ext uri="{FF2B5EF4-FFF2-40B4-BE49-F238E27FC236}">
                <a16:creationId xmlns:a16="http://schemas.microsoft.com/office/drawing/2014/main" id="{E4F9C6A5-A4FC-93EF-C120-0AEAED391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2837" y="331254"/>
            <a:ext cx="4006142" cy="1178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E4879FD7-751B-82B0-7AC2-F0E37DF4FC52}"/>
              </a:ext>
            </a:extLst>
          </p:cNvPr>
          <p:cNvSpPr txBox="1"/>
          <p:nvPr/>
        </p:nvSpPr>
        <p:spPr>
          <a:xfrm>
            <a:off x="799461" y="3427251"/>
            <a:ext cx="719985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419" dirty="0"/>
          </a:p>
          <a:p>
            <a:r>
              <a:rPr lang="es-419" dirty="0">
                <a:hlinkClick r:id="rId3"/>
              </a:rPr>
              <a:t>https://snomedbrowser.org/?perspective=full&amp;conceptId1=404684003&amp;edition=MAIN/SNOMEDCT-ES/2026-08-10&amp;release=&amp;languages=es,en</a:t>
            </a:r>
            <a:endParaRPr lang="es-419" dirty="0"/>
          </a:p>
          <a:p>
            <a:endParaRPr lang="es-419" dirty="0"/>
          </a:p>
          <a:p>
            <a:endParaRPr lang="es-419" dirty="0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745154FE-6E69-031A-F778-195D659265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1742" y="1767015"/>
            <a:ext cx="606219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419" altLang="es-419" sz="12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Traductor Universal: Estandariza términos médicos para que diferentes sistemas de salud "hablen" el mismo idioma (Interoperabilidad).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419" altLang="es-419" sz="12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Precisión Clínica: Usa códigos únicos para conceptos, síntomas y procedimientos, evitando confusiones por sinónimos.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419" altLang="es-419" sz="12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Red Inteligente: Conecta datos de forma lógica (ej. vincula "Neumonía" con "Enfermedad Pulmonar") para organizar mejor la información.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419" altLang="es-419" sz="12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Global y Flexible: Funciona en cualquier idioma y se integra en cualquier software, rompiendo los silos de datos.</a:t>
            </a:r>
          </a:p>
        </p:txBody>
      </p:sp>
    </p:spTree>
    <p:extLst>
      <p:ext uri="{BB962C8B-B14F-4D97-AF65-F5344CB8AC3E}">
        <p14:creationId xmlns:p14="http://schemas.microsoft.com/office/powerpoint/2010/main" val="2941816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6B3771-4B39-6724-32D4-64D18FAF0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7500" y="628700"/>
            <a:ext cx="7038900" cy="914100"/>
          </a:xfrm>
        </p:spPr>
        <p:txBody>
          <a:bodyPr>
            <a:normAutofit fontScale="90000"/>
          </a:bodyPr>
          <a:lstStyle/>
          <a:p>
            <a:r>
              <a:rPr lang="es-419" dirty="0"/>
              <a:t>CIE-10(Clasificación Internacional de Enfermedades) OMS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FC93AF0-B136-6986-371E-65B7E62FC5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21921" y="3771899"/>
            <a:ext cx="7038900" cy="914100"/>
          </a:xfrm>
        </p:spPr>
        <p:txBody>
          <a:bodyPr>
            <a:normAutofit fontScale="47500" lnSpcReduction="20000"/>
          </a:bodyPr>
          <a:lstStyle/>
          <a:p>
            <a:endParaRPr lang="es-419" dirty="0">
              <a:hlinkClick r:id="" action="ppaction://noaction"/>
            </a:endParaRPr>
          </a:p>
          <a:p>
            <a:r>
              <a:rPr lang="es-419" dirty="0">
                <a:hlinkClick r:id="" action="ppaction://noaction"/>
              </a:rPr>
              <a:t>https://clinicaltables.nlm.nih.gov/api/icd10cm/v3/search?sf=code,name&amp;terms=tuberc</a:t>
            </a:r>
            <a:r>
              <a:rPr lang="es-419" dirty="0"/>
              <a:t>    </a:t>
            </a:r>
            <a:r>
              <a:rPr lang="es-419" dirty="0" err="1"/>
              <a:t>asthma</a:t>
            </a:r>
            <a:endParaRPr lang="es-419" dirty="0"/>
          </a:p>
          <a:p>
            <a:r>
              <a:rPr lang="es-419" dirty="0">
                <a:hlinkClick r:id="rId2"/>
              </a:rPr>
              <a:t>https://web.sispro.gov.co/WebPublico/Consultas/ConsultarDetalleReferenciaBasica.aspx?Code=CIE10</a:t>
            </a:r>
            <a:endParaRPr lang="es-419" dirty="0"/>
          </a:p>
          <a:p>
            <a:endParaRPr lang="es-419" dirty="0"/>
          </a:p>
          <a:p>
            <a:endParaRPr lang="es-419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4DA1008-F4B8-D1B9-A007-30E0025613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8847" y="1542800"/>
            <a:ext cx="4452136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419" altLang="es-419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Clasificación por categorías:</a:t>
            </a:r>
            <a:r>
              <a:rPr kumimoji="0" lang="es-419" altLang="es-419" sz="1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Agrupa patologías y motivos de consulta en códigos alfanuméricos específicos.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419" altLang="es-419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Enfoque estadístico:</a:t>
            </a:r>
            <a:r>
              <a:rPr kumimoji="0" lang="es-419" altLang="es-419" sz="1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Su función principal es recopilar datos sobre mortalidad y morbilidad para salud pública.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419" altLang="es-419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Estructura rígida:</a:t>
            </a:r>
            <a:r>
              <a:rPr kumimoji="0" lang="es-419" altLang="es-419" sz="1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Se basa en una lista jerárquica predefinida que facilita la auditoría y facturación médica.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419" altLang="es-419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Finalidad administrativa:</a:t>
            </a:r>
            <a:r>
              <a:rPr kumimoji="0" lang="es-419" altLang="es-419" sz="1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Permite generar reportes epidemiológicos y gestionar el reembolso de servicios de salud.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419" altLang="es-419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Estándar de reporte:</a:t>
            </a:r>
            <a:r>
              <a:rPr kumimoji="0" lang="es-419" altLang="es-419" sz="1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Es el lenguaje oficial para informar diagnósticos finales a organismos reguladores y aseguradoras</a:t>
            </a:r>
            <a:r>
              <a:rPr kumimoji="0" lang="es-419" altLang="es-419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49E8AB90-4D31-84D6-96E2-195364B5449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419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EFAE09E-D992-C9FD-2958-873CBB9EF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7568" y="1644461"/>
            <a:ext cx="3395474" cy="1854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395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"/>
          <p:cNvSpPr txBox="1"/>
          <p:nvPr/>
        </p:nvSpPr>
        <p:spPr>
          <a:xfrm>
            <a:off x="1532425" y="3725394"/>
            <a:ext cx="5516991" cy="559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 fontScale="90000" lnSpcReduction="20000"/>
          </a:bodyPr>
          <a:lstStyle/>
          <a:p>
            <a:pPr lvl="0" algn="just">
              <a:buClr>
                <a:schemeClr val="dk1"/>
              </a:buClr>
              <a:buSzPct val="100000"/>
            </a:pPr>
            <a:r>
              <a:rPr lang="es-ES" sz="1350" dirty="0"/>
              <a:t>FHIR 2014: Como un estándar de datos de atención médica con una interfaz de programación de aplicaciones (API) para representar e intercambiar registros de salud electrónicos.</a:t>
            </a:r>
            <a:endParaRPr dirty="0">
              <a:solidFill>
                <a:srgbClr val="172B7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8"/>
          <p:cNvSpPr txBox="1"/>
          <p:nvPr/>
        </p:nvSpPr>
        <p:spPr>
          <a:xfrm>
            <a:off x="1337310" y="4720590"/>
            <a:ext cx="2337435" cy="276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r>
              <a:rPr lang="en-US" sz="675" i="1">
                <a:solidFill>
                  <a:srgbClr val="F2E6CC"/>
                </a:solidFill>
                <a:latin typeface="Arial"/>
                <a:ea typeface="Arial"/>
                <a:cs typeface="Arial"/>
                <a:sym typeface="Arial"/>
              </a:rPr>
              <a:t>Facultad  Ingeniería</a:t>
            </a:r>
            <a:endParaRPr sz="675" i="1">
              <a:solidFill>
                <a:srgbClr val="F2E6CC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lang="en-US" sz="675" i="1">
                <a:solidFill>
                  <a:srgbClr val="F2E6CC"/>
                </a:solidFill>
                <a:latin typeface="Arial"/>
                <a:ea typeface="Arial"/>
                <a:cs typeface="Arial"/>
                <a:sym typeface="Arial"/>
              </a:rPr>
              <a:t>Sede Bogotá</a:t>
            </a:r>
            <a:endParaRPr sz="675" i="1">
              <a:solidFill>
                <a:srgbClr val="F2E6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15DBFA2-7939-4115-B322-BF2FEFFD1E9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400800" y="4723746"/>
            <a:ext cx="1600200" cy="273844"/>
          </a:xfrm>
        </p:spPr>
        <p:txBody>
          <a:bodyPr/>
          <a:lstStyle/>
          <a:p>
            <a:fld id="{00000000-1234-1234-1234-123412341234}" type="slidenum">
              <a:rPr lang="en-US" smtClean="0">
                <a:solidFill>
                  <a:schemeClr val="bg1">
                    <a:lumMod val="95000"/>
                  </a:schemeClr>
                </a:solidFill>
              </a:rPr>
              <a:pPr/>
              <a:t>6</a:t>
            </a:fld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9" name="Imagen 8" descr="Imagen que contiene reloj&#10;&#10;El contenido generado por IA puede ser incorrecto.">
            <a:extLst>
              <a:ext uri="{FF2B5EF4-FFF2-40B4-BE49-F238E27FC236}">
                <a16:creationId xmlns:a16="http://schemas.microsoft.com/office/drawing/2014/main" id="{8AE15E36-D07D-3674-C390-C35EDDB08B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438" y="3382366"/>
            <a:ext cx="1096328" cy="1096328"/>
          </a:xfrm>
          <a:prstGeom prst="rect">
            <a:avLst/>
          </a:prstGeom>
        </p:spPr>
      </p:pic>
      <p:sp>
        <p:nvSpPr>
          <p:cNvPr id="11" name="AutoShape 2">
            <a:extLst>
              <a:ext uri="{FF2B5EF4-FFF2-40B4-BE49-F238E27FC236}">
                <a16:creationId xmlns:a16="http://schemas.microsoft.com/office/drawing/2014/main" id="{3E39E62A-E1FF-62A7-2ECF-ACE08A5C4A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57700" y="2457450"/>
            <a:ext cx="2286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s-CO" sz="1350"/>
          </a:p>
        </p:txBody>
      </p:sp>
      <p:pic>
        <p:nvPicPr>
          <p:cNvPr id="13" name="Imagen 12" descr="Diagrama&#10;&#10;El contenido generado por IA puede ser incorrecto.">
            <a:extLst>
              <a:ext uri="{FF2B5EF4-FFF2-40B4-BE49-F238E27FC236}">
                <a16:creationId xmlns:a16="http://schemas.microsoft.com/office/drawing/2014/main" id="{C022F8C5-1153-4841-3F2D-F7DE34697B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8949" y="616417"/>
            <a:ext cx="5577502" cy="2915513"/>
          </a:xfrm>
          <a:prstGeom prst="rect">
            <a:avLst/>
          </a:prstGeom>
        </p:spPr>
      </p:pic>
      <p:sp>
        <p:nvSpPr>
          <p:cNvPr id="14" name="Google Shape;112;p4">
            <a:extLst>
              <a:ext uri="{FF2B5EF4-FFF2-40B4-BE49-F238E27FC236}">
                <a16:creationId xmlns:a16="http://schemas.microsoft.com/office/drawing/2014/main" id="{3A9E8683-7FB5-39A7-54B4-5C064DF84E7F}"/>
              </a:ext>
            </a:extLst>
          </p:cNvPr>
          <p:cNvSpPr txBox="1"/>
          <p:nvPr/>
        </p:nvSpPr>
        <p:spPr>
          <a:xfrm>
            <a:off x="1443442" y="359774"/>
            <a:ext cx="4957358" cy="296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 fontScale="90000" lnSpcReduction="10000"/>
          </a:bodyPr>
          <a:lstStyle/>
          <a:p>
            <a:pPr>
              <a:buClr>
                <a:srgbClr val="172B7E"/>
              </a:buClr>
              <a:buSzPct val="100000"/>
            </a:pPr>
            <a:r>
              <a:rPr lang="es-CO" dirty="0">
                <a:solidFill>
                  <a:srgbClr val="172B7E"/>
                </a:solidFill>
              </a:rPr>
              <a:t>Consumo de API Participación Industrial</a:t>
            </a:r>
            <a:endParaRPr lang="es-CO" dirty="0">
              <a:solidFill>
                <a:srgbClr val="172B7E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Clr>
                <a:srgbClr val="172B7E"/>
              </a:buClr>
              <a:buSzPct val="100000"/>
            </a:pPr>
            <a:endParaRPr lang="es-CO" dirty="0">
              <a:solidFill>
                <a:srgbClr val="172B7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0000ED-D9E4-9D2F-342F-A6B658560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885" y="0"/>
            <a:ext cx="8229600" cy="857250"/>
          </a:xfrm>
        </p:spPr>
        <p:txBody>
          <a:bodyPr/>
          <a:lstStyle/>
          <a:p>
            <a:r>
              <a:rPr lang="es-ES" dirty="0"/>
              <a:t>	Recurso</a:t>
            </a:r>
            <a:endParaRPr lang="es-419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969B1C-FF81-D903-E451-51D6E1585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885" y="791078"/>
            <a:ext cx="8229600" cy="3394472"/>
          </a:xfrm>
        </p:spPr>
        <p:txBody>
          <a:bodyPr/>
          <a:lstStyle/>
          <a:p>
            <a:r>
              <a:rPr lang="es-419" sz="1000" dirty="0">
                <a:hlinkClick r:id="rId2"/>
              </a:rPr>
              <a:t>https://hl7.org/fhir/?utm_referrer=https%3A%2F%2Fwww.hl7.org%2F</a:t>
            </a:r>
            <a:endParaRPr lang="es-419" sz="1000" dirty="0"/>
          </a:p>
          <a:p>
            <a:endParaRPr lang="es-419" sz="1000" dirty="0"/>
          </a:p>
          <a:p>
            <a:endParaRPr lang="es-419" sz="1000" dirty="0"/>
          </a:p>
          <a:p>
            <a:endParaRPr lang="es-419" dirty="0"/>
          </a:p>
        </p:txBody>
      </p:sp>
      <p:pic>
        <p:nvPicPr>
          <p:cNvPr id="3074" name="Picture 2" descr="Introduction to FHIR® REST API">
            <a:extLst>
              <a:ext uri="{FF2B5EF4-FFF2-40B4-BE49-F238E27FC236}">
                <a16:creationId xmlns:a16="http://schemas.microsoft.com/office/drawing/2014/main" id="{6C44FF19-665E-6005-D802-AA17A3E154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40" y="1285875"/>
            <a:ext cx="4572000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23587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1755</TotalTime>
  <Words>418</Words>
  <Application>Microsoft Office PowerPoint</Application>
  <PresentationFormat>Presentación en pantalla (16:9)</PresentationFormat>
  <Paragraphs>28</Paragraphs>
  <Slides>7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Calibri</vt:lpstr>
      <vt:lpstr>Google Sans</vt:lpstr>
      <vt:lpstr>Times New Roman</vt:lpstr>
      <vt:lpstr>Tema de Office</vt:lpstr>
      <vt:lpstr>Interoperabilidad  Estándares Clásicos y Modernos</vt:lpstr>
      <vt:lpstr>El problema de los "silos“ Sistemas Locales de Salud</vt:lpstr>
      <vt:lpstr> Estándares normativas  Técnicas HL7 v2, v3  y API </vt:lpstr>
      <vt:lpstr>SNOMED Systematized Nomenclature of Medicine - Clinical Terms</vt:lpstr>
      <vt:lpstr>CIE-10(Clasificación Internacional de Enfermedades) OMS</vt:lpstr>
      <vt:lpstr>Presentación de PowerPoint</vt:lpstr>
      <vt:lpstr> Recurso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CAMILO</dc:creator>
  <cp:lastModifiedBy>Jefferson Steven Sarmiento Rojas</cp:lastModifiedBy>
  <cp:revision>120</cp:revision>
  <dcterms:created xsi:type="dcterms:W3CDTF">2015-09-09T19:32:10Z</dcterms:created>
  <dcterms:modified xsi:type="dcterms:W3CDTF">2026-09-16T01:12:30Z</dcterms:modified>
</cp:coreProperties>
</file>