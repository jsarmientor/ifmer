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 Modernos: HL7 FHIR y APIs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silos de datos a un lenguaje común para la interoperabilidad en salud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— 2026-II — Corte 2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Biomédica / Informática Médica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Jefferson Sarmiento Rojas — Universidad del Rosario, EMCS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 esta clase, usted podrá…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13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sistemas de salud no se entienden entre sí, y por qué el intercambio punto a punto no escala.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331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2313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 recurso FHIR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"recurso", cómo se estructura y por qué Patient es el punto de partida clásico.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45537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recurso Patient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sus elementos, tipos de dato y cardinalidades en JSON.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42976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4572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45537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API REST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GET y POST contra un servidor FHIR público de práctica (HAPI FHIR).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SILOS DE DATOS A FHIR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idioma para todos los sistemas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07 vimos sistemas que guardan la información en su propio formato. FHIR (Fast Healthcare Interoperability Resources) reemplaza las interfaces a la medida por recursos, un protocolo (HTTP/REST) y un formato (JSON/XML) comunes.</a:t>
            </a:r>
            <a:endParaRPr lang="en-US" sz="1400" dirty="0"/>
          </a:p>
        </p:txBody>
      </p:sp>
      <p:pic>
        <p:nvPicPr>
          <p:cNvPr id="7" name="Image 0" descr="img/diagrama1_si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596" y="2514600"/>
            <a:ext cx="7223760" cy="38526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08080">
                <a:alpha val="1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recurso?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recurso es la unidad básica de información en FHIR: un paquete de datos con una estructura definida (qué campos tiene, de qué tipo, cuáles son obligatorios) y un significado clínico claro.
</a:t>
            </a:r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idea que una clase en programación orientada a objetos — solo que la "clase" ya viene definida por HL7: no la inventamos, la reutilizamos.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2F7F7"/>
          </a:solidFill>
          <a:ln w="12700">
            <a:solidFill>
              <a:srgbClr val="E2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288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18288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paciente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450592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4505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Practitioner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45059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profesional de salud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072384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2F7F7"/>
          </a:solidFill>
          <a:ln w="12700">
            <a:solidFill>
              <a:srgbClr val="E2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0723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0723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medición u observación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694176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69417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69417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diagnóstico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315968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2F7F7"/>
          </a:solidFill>
          <a:ln w="12700">
            <a:solidFill>
              <a:srgbClr val="E2E9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315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3159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clínico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PATIENT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clásico de FHIR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es casi siempre el primer recurso que se estudia: casi todo lo demás en un sistema de salud gira alrededor de un paciente.</a:t>
            </a:r>
            <a:endParaRPr lang="en-US" sz="1400" dirty="0"/>
          </a:p>
        </p:txBody>
      </p:sp>
      <p:pic>
        <p:nvPicPr>
          <p:cNvPr id="7" name="Image 0" descr="img/diagrama2_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259" y="2331720"/>
            <a:ext cx="6740434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paciente, en JSON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709160"/>
          </a:xfrm>
          <a:prstGeom prst="roundRect">
            <a:avLst>
              <a:gd name="adj" fmla="val 1165"/>
            </a:avLst>
          </a:prstGeom>
          <a:solidFill>
            <a:srgbClr val="06373D"/>
          </a:solidFill>
          <a:ln w="12700">
            <a:solidFill>
              <a:srgbClr val="0E4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5989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"resourceType": "Patient",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"e0cd7fb6-b2cb-4767-86c2-300c924134de",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"identifier": [{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"use": "official",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"system": "https://fhir.minsalud.gov.co/rda/NamingSystem/RNEC",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"1020304050"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[{ "use": "official", "family": "Gómez Rivas",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"given": ["Laura", "Camila"] }],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"gender": "female",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"birthDate": "1995-06-12",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"telecom": [{ "system": "phone", "value": "+573001112233",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"use": "mobile" }]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79392" cy="4709160"/>
          </a:xfrm>
          <a:prstGeom prst="roundRect">
            <a:avLst>
              <a:gd name="adj" fmla="val 1709"/>
            </a:avLst>
          </a:prstGeom>
          <a:solidFill>
            <a:srgbClr val="0B454C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2240280"/>
            <a:ext cx="3703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sexo administrativo (male | female | other | unknown) — no es lo mismo que sexo biológico o identidad de género.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guardar varios documentos del mismo paciente (cédula, historia clínica…) sin confundirlos: cada uno lleva su propio system.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recurso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representarse en JSON o XML — el contenido es el mismo, solo cambia la sintaxis.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ACCEDE A UN RECURSO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API REST de FHIR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define una API REST estándar: cualquier servidor FHIR responde a las mismas operaciones, sin importar qué software use por dentro.</a:t>
            </a:r>
            <a:endParaRPr lang="en-US" sz="1400" dirty="0"/>
          </a:p>
        </p:txBody>
      </p:sp>
      <p:pic>
        <p:nvPicPr>
          <p:cNvPr id="7" name="Image 0" descr="img/diagrama3_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331720"/>
            <a:ext cx="7498080" cy="3998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ACCEDE A UN RECURSO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verbos, cuatro operaciones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HTTP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EJEMPLO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96896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9689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4688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/Patient/123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(Read) un paciente por su 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11064240" cy="658368"/>
          </a:xfrm>
          <a:prstGeom prst="rect">
            <a:avLst/>
          </a:prstGeom>
          <a:solidFill>
            <a:srgbClr val="F2F7F7"/>
          </a:solidFill>
          <a:ln w="9525">
            <a:solidFill>
              <a:srgbClr val="E2E9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55264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552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1272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/Patient?family=Gómez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12724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(Search) pacientes por un criterio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9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913632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91363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378561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78561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(Create) un paciente nuevo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43984"/>
            <a:ext cx="11064240" cy="658368"/>
          </a:xfrm>
          <a:prstGeom prst="rect">
            <a:avLst/>
          </a:prstGeom>
          <a:solidFill>
            <a:srgbClr val="F2F7F7"/>
          </a:solidFill>
          <a:ln w="9525">
            <a:solidFill>
              <a:srgbClr val="E2E9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57200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C77A0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45720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4439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/Patient/123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444398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(Update) un paciente existente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0235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9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2303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B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23036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51023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/Patient/123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5102352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(Delete) un paciente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EN COLOMBIA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interoperabilidad ya es política pública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IHCE (Interoperabilidad de la Historia Clínica Electrónica) es una estrategia del Ministerio de Salud y Protección Social (Minsalud) que integra los datos clínicos de cada paciente en un sistema nacional único y seguro, disponible para cualquier prestador del país.
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 la atención en cualquier IPS del país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confidencialidad de la información clínica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del sistema de salud colombiano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783080"/>
            <a:ext cx="4553712" cy="804672"/>
          </a:xfrm>
          <a:prstGeom prst="roundRect">
            <a:avLst>
              <a:gd name="adj" fmla="val 7955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8562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2015 de 2020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213055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historia clínica electrónica interoperable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2715768"/>
            <a:ext cx="4553712" cy="804672"/>
          </a:xfrm>
          <a:prstGeom prst="roundRect">
            <a:avLst>
              <a:gd name="adj" fmla="val 7955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27889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866 de 2021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306324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catálogos y terminologías clínicas obligatorias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3648456"/>
            <a:ext cx="4553712" cy="804672"/>
          </a:xfrm>
          <a:prstGeom prst="roundRect">
            <a:avLst>
              <a:gd name="adj" fmla="val 7955"/>
            </a:avLst>
          </a:prstGeom>
          <a:solidFill>
            <a:srgbClr val="E7F6F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37216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1888 de 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399592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 el RDA — obligatorio desde el 15 de abril de 2026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portal IHCE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Normatividad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800600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4800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4800600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4800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68112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681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Informativa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5468112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54681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Apoyo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5468112"/>
            <a:ext cx="361188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54681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Ayuda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4286"/>
            </a:avLst>
          </a:prstGeom>
          <a:solidFill>
            <a:srgbClr val="E7F6F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minsalud.gov.co/ihce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EN COLOMBIA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RDA: los mismos recursos que ya conoces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Resumen Digital de Atención (RDA) es el documento clínico que arma cada IPS y que cualquier otra puede consultar — el núcleo operativo de la IHCE. Está construido, literalmente, en HL7 FHIR R4.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734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081528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de origen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34747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 extrae los datos de la atención (ETL)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72384" y="3172968"/>
            <a:ext cx="329184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60604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E7F6F2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734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081528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FHIR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47872" y="34747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document → Composition + Patient + Observation…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07024" y="3172968"/>
            <a:ext cx="329184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60604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734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3081528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Nacional FHIR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82512" y="34747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valida los recursos estandarizados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41664" y="3172968"/>
            <a:ext cx="329184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260604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9217152" y="2734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17152" y="3081528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RDA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17152" y="34747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$consultar-resumen-longitudinal — historia de ≥12 meses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Terminologías obligatorias:  </a:t>
            </a:r>
            <a:pPr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CIE-10/11 (diagnósticos)  ·  CUPS (procedimientos)  ·  IUM (medicamentos)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454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95604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las próximas clases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vamos a construir: un Bundle tipo document con un Composition que referencia varias Observation — el mismo patrón del RDA real, en miniatura.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4286"/>
            </a:avLst>
          </a:prstGeom>
          <a:solidFill>
            <a:srgbClr val="E7F6F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minsalud.gov.co/ihce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Consumir un servidor FHIR público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Repetimos la lógica de la Clase 07 (APIs de SNOMED CT y CIE-10 desde VBA), ahora contra un servidor FHIR real y gratuito.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700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pacientes (GET)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en el navegador: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http://hapi.fhir.org/baseR4/Patient?_count=5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6700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paciente (GET)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2186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un id del resultado anterior y pegarlo en: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3566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http://hapi.fhir.org/baseR4/Patient/&lt;id&gt;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360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paciente (POST)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184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Postman, crear una petición POST con el JSON de la diapositiva 6 como body: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application/fhir+json  →  Send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4434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46360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46520" y="5184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responde 201 Created con un nuevo id.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55321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cambió en la respuesta frente a lo que se envió? (pista: meta e id)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Médica (IFMER) 2026-II · Corte 2 · Clase 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3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recurso a un documento clínico completo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Veremos Observation (mediciones como signos vitales) y Bundle (cómo empaquetar varios recursos en un solo envío) — la base para construir un documento clínico completo.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881360" cy="0"/>
          </a:xfrm>
          <a:prstGeom prst="line">
            <a:avLst/>
          </a:prstGeom>
          <a:noFill/>
          <a:ln w="12700">
            <a:solidFill>
              <a:srgbClr val="0E4C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lecturas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de esta clase (documento Word — Clase08-Guia-FHIR.docx)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oficial del recurso Patient: hl7.org/fhir/R4/patient.html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práctica: HAPI FHIR Demo — http://hapi.fhir.org/baseR4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IHCE y el RDA en Colombia (Minsalud): minsalud.gov.co/ihce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A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docente — Informática Médica (IFMER), Universidad del Rosario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08 - Estandares Modernos: HL7 FHIR y APIs</dc:title>
  <dc:subject>PptxGenJS Presentation</dc:subject>
  <dc:creator>Jefferson Sarmiento Rojas</dc:creator>
  <cp:lastModifiedBy>Jefferson Sarmiento Rojas</cp:lastModifiedBy>
  <cp:revision>1</cp:revision>
  <dcterms:created xsi:type="dcterms:W3CDTF">2026-09-16T00:40:49Z</dcterms:created>
  <dcterms:modified xsi:type="dcterms:W3CDTF">2026-09-16T00:40:49Z</dcterms:modified>
</cp:coreProperties>
</file>